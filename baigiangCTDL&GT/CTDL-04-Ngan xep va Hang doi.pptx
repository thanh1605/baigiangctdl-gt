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38"/>
  </p:notesMasterIdLst>
  <p:handoutMasterIdLst>
    <p:handoutMasterId r:id="rId39"/>
  </p:handoutMasterIdLst>
  <p:sldIdLst>
    <p:sldId id="256" r:id="rId2"/>
    <p:sldId id="287" r:id="rId3"/>
    <p:sldId id="275" r:id="rId4"/>
    <p:sldId id="288" r:id="rId5"/>
    <p:sldId id="289" r:id="rId6"/>
    <p:sldId id="290" r:id="rId7"/>
    <p:sldId id="291" r:id="rId8"/>
    <p:sldId id="320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314" r:id="rId31"/>
    <p:sldId id="315" r:id="rId32"/>
    <p:sldId id="316" r:id="rId33"/>
    <p:sldId id="317" r:id="rId34"/>
    <p:sldId id="318" r:id="rId35"/>
    <p:sldId id="319" r:id="rId36"/>
    <p:sldId id="321" r:id="rId37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1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DF94A-06C8-486C-B069-5EC310FC209D}" type="datetimeFigureOut">
              <a:rPr lang="en-US" smtClean="0"/>
              <a:t>26-Apr-22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58FB2E-03BE-42AC-975E-A3D12804E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937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B0F34-4596-48C7-A5AC-D6437FE99C00}" type="datetimeFigureOut">
              <a:rPr lang="en-US" smtClean="0"/>
              <a:t>26-Apr-22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8DAD11-487F-4BD6-A030-DB934F35AC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67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>
                <a:latin typeface="Calibri" panose="020F05020202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00233-1F36-49BE-A312-7269F52E7A94}" type="datetime1">
              <a:rPr lang="en-US" smtClean="0"/>
              <a:t>26-Apr-22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latin typeface="Calibri" panose="020F05020202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66700" indent="-266700">
              <a:buClrTx/>
              <a:buSzPct val="100000"/>
              <a:buFont typeface="Arial" panose="020B0604020202020204" pitchFamily="34" charset="0"/>
              <a:buChar char="•"/>
              <a:defRPr sz="3200">
                <a:latin typeface="Calibri" panose="020F0502020204030204" pitchFamily="34" charset="0"/>
              </a:defRPr>
            </a:lvl1pPr>
            <a:lvl2pPr marL="625475" indent="-350838">
              <a:buClrTx/>
              <a:buSzPct val="100000"/>
              <a:buFont typeface="Arial" panose="020B0604020202020204" pitchFamily="34" charset="0"/>
              <a:buChar char="−"/>
              <a:defRPr sz="3200">
                <a:latin typeface="Calibri" panose="020F0502020204030204" pitchFamily="34" charset="0"/>
              </a:defRPr>
            </a:lvl2pPr>
            <a:lvl3pPr marL="809625" indent="-261938">
              <a:buClrTx/>
              <a:defRPr sz="3200">
                <a:latin typeface="Calibri" panose="020F0502020204030204" pitchFamily="34" charset="0"/>
              </a:defRPr>
            </a:lvl3pPr>
            <a:lvl4pPr>
              <a:defRPr sz="3200">
                <a:latin typeface="Calibri" panose="020F0502020204030204" pitchFamily="34" charset="0"/>
              </a:defRPr>
            </a:lvl4pPr>
            <a:lvl5pPr>
              <a:defRPr sz="32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DA1BE-4771-47D8-93F9-224D892BA94F}" type="datetime1">
              <a:rPr lang="en-US" smtClean="0"/>
              <a:t>26-Apr-22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sz="16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99E512B-1003-47C1-A1C1-7B7D3ED316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18EF-7C7A-4683-867E-3B9FE7BE3419}" type="datetime1">
              <a:rPr lang="en-US" smtClean="0"/>
              <a:t>26-Apr-22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8C0C4-9A37-408F-B0E4-711AAAC9411B}" type="datetime1">
              <a:rPr lang="en-US" smtClean="0"/>
              <a:t>26-Apr-22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49F5C-4D88-4F30-B3EB-62D97960D6C2}" type="datetime1">
              <a:rPr lang="en-US" smtClean="0"/>
              <a:t>26-Apr-22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32856"/>
            <a:ext cx="8229600" cy="990600"/>
          </a:xfrm>
        </p:spPr>
        <p:txBody>
          <a:bodyPr>
            <a:normAutofit/>
          </a:bodyPr>
          <a:lstStyle>
            <a:lvl1pPr algn="ctr">
              <a:defRPr sz="480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385E-C550-4416-96B9-46BD76F02480}" type="datetime1">
              <a:rPr lang="en-US" smtClean="0"/>
              <a:t>26-Apr-22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sz="16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99E512B-1003-47C1-A1C1-7B7D3ED316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D42E-0506-43BD-BA13-B53D494EDB72}" type="datetime1">
              <a:rPr lang="en-US" smtClean="0"/>
              <a:t>26-Apr-22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0A63-767C-4E2B-8752-3746224DB4B7}" type="datetime1">
              <a:rPr lang="en-US" smtClean="0"/>
              <a:t>26-Apr-22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E9EEE-2795-4853-94C1-677D9EC26EBC}" type="datetime1">
              <a:rPr lang="en-US" smtClean="0"/>
              <a:t>26-Apr-22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ABD-EB57-41AF-A27A-9F2B789EB207}" type="datetime1">
              <a:rPr lang="en-US" smtClean="0"/>
              <a:t>26-Apr-22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48C1-4D02-4A05-890A-DBCE173B522A}" type="datetime1">
              <a:rPr lang="en-US" smtClean="0"/>
              <a:t>26-Apr-22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44AEDA3-8938-4C23-A3D1-A64C2E6767AE}" type="datetime1">
              <a:rPr lang="en-US" smtClean="0"/>
              <a:t>26-Apr-22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E99E512B-1003-47C1-A1C1-7B7D3ED3161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2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4704"/>
            <a:ext cx="7848600" cy="2534121"/>
          </a:xfrm>
        </p:spPr>
        <p:txBody>
          <a:bodyPr/>
          <a:lstStyle/>
          <a:p>
            <a:pPr>
              <a:spcBef>
                <a:spcPts val="3000"/>
              </a:spcBef>
              <a:spcAft>
                <a:spcPts val="3000"/>
              </a:spcAft>
            </a:pPr>
            <a:r>
              <a:rPr lang="en-US" cap="none" smtClean="0"/>
              <a:t>Ngăn xếp và Hàng đợi</a:t>
            </a:r>
            <a:br>
              <a:rPr lang="en-US" cap="none" smtClean="0"/>
            </a:br>
            <a:r>
              <a:rPr lang="en-US" cap="none" smtClean="0"/>
              <a:t>(Stacks and Queues)</a:t>
            </a:r>
            <a:endParaRPr lang="en-US" sz="6600" b="0" cap="none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649216"/>
            <a:ext cx="6910536" cy="237207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2800" b="1">
                <a:solidFill>
                  <a:srgbClr val="7030A0"/>
                </a:solidFill>
              </a:rPr>
              <a:t>Bài giảng môn Cấu trúc dữ liệu và giải thuật</a:t>
            </a:r>
          </a:p>
          <a:p>
            <a:pPr>
              <a:spcBef>
                <a:spcPts val="0"/>
              </a:spcBef>
            </a:pPr>
            <a:r>
              <a:rPr lang="en-US" sz="2800"/>
              <a:t>Khoa Công nghệ thông tin</a:t>
            </a:r>
          </a:p>
          <a:p>
            <a:pPr>
              <a:spcBef>
                <a:spcPts val="0"/>
              </a:spcBef>
            </a:pPr>
            <a:r>
              <a:rPr lang="en-US" sz="2800"/>
              <a:t>Trường Đại học Thủy Lợi</a:t>
            </a:r>
          </a:p>
        </p:txBody>
      </p:sp>
    </p:spTree>
    <p:extLst>
      <p:ext uri="{BB962C8B-B14F-4D97-AF65-F5344CB8AC3E}">
        <p14:creationId xmlns:p14="http://schemas.microsoft.com/office/powerpoint/2010/main" val="4157656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Nội dung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mtClean="0"/>
              <a:t>Ngăn xếp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US" smtClean="0"/>
              <a:t>Hàng đợi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05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1. Ngăn xếp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72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Ngăn xếp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Autofit/>
          </a:bodyPr>
          <a:lstStyle/>
          <a:p>
            <a:r>
              <a:rPr lang="en-US" sz="2300" smtClean="0"/>
              <a:t>Một danh sách các phần tử theo kiểu </a:t>
            </a:r>
            <a:r>
              <a:rPr lang="en-US" sz="2300" b="1" smtClean="0"/>
              <a:t>vào sau ra trước</a:t>
            </a:r>
            <a:r>
              <a:rPr lang="en-US" sz="2300" smtClean="0"/>
              <a:t>:</a:t>
            </a:r>
          </a:p>
          <a:p>
            <a:pPr marL="0" indent="0">
              <a:buNone/>
            </a:pPr>
            <a:r>
              <a:rPr lang="en-US" sz="2300" smtClean="0"/>
              <a:t>	</a:t>
            </a:r>
            <a:r>
              <a:rPr lang="en-US" sz="2300" b="1" smtClean="0"/>
              <a:t>LIFO</a:t>
            </a:r>
            <a:r>
              <a:rPr lang="en-US" sz="2300" smtClean="0"/>
              <a:t> (Last In First Out)</a:t>
            </a:r>
            <a:endParaRPr lang="en-US" sz="2300"/>
          </a:p>
          <a:p>
            <a:r>
              <a:rPr lang="en-US" sz="2300" smtClean="0"/>
              <a:t>Ba thao tác chính, xảy ra ở đỉnh ngăn xếp và chỉ mất thời gian O(1):</a:t>
            </a:r>
          </a:p>
          <a:p>
            <a:pPr lvl="1"/>
            <a:r>
              <a:rPr lang="en-US" sz="2300" b="1" smtClean="0"/>
              <a:t>push</a:t>
            </a:r>
            <a:r>
              <a:rPr lang="en-US" sz="2300" smtClean="0"/>
              <a:t>: Thêm phần tử.</a:t>
            </a:r>
          </a:p>
          <a:p>
            <a:pPr lvl="1"/>
            <a:r>
              <a:rPr lang="en-US" sz="2300" b="1" smtClean="0"/>
              <a:t>pop</a:t>
            </a:r>
            <a:r>
              <a:rPr lang="en-US" sz="2300" smtClean="0"/>
              <a:t>: Xóa phần tử.</a:t>
            </a:r>
          </a:p>
          <a:p>
            <a:pPr lvl="1"/>
            <a:r>
              <a:rPr lang="en-US" sz="2300" b="1" smtClean="0"/>
              <a:t>top</a:t>
            </a:r>
            <a:r>
              <a:rPr lang="en-US" sz="2300"/>
              <a:t>: </a:t>
            </a:r>
            <a:r>
              <a:rPr lang="en-US" sz="2300" smtClean="0"/>
              <a:t>Trả về phần tử.</a:t>
            </a:r>
          </a:p>
          <a:p>
            <a:pPr marL="630238" lvl="1" indent="0">
              <a:buNone/>
            </a:pPr>
            <a:r>
              <a:rPr lang="en-US" sz="2300" smtClean="0"/>
              <a:t>(</a:t>
            </a:r>
            <a:r>
              <a:rPr lang="en-US" sz="2300" i="1" smtClean="0"/>
              <a:t>pop và top có thể kết hợp</a:t>
            </a:r>
          </a:p>
          <a:p>
            <a:pPr marL="630238" lvl="1" indent="0">
              <a:buNone/>
            </a:pPr>
            <a:r>
              <a:rPr lang="en-US" sz="2300" i="1" smtClean="0"/>
              <a:t>thành một thao tác</a:t>
            </a:r>
            <a:r>
              <a:rPr lang="en-US" sz="2300" smtClean="0"/>
              <a:t>)</a:t>
            </a:r>
          </a:p>
          <a:p>
            <a:r>
              <a:rPr lang="en-US" sz="2300" smtClean="0"/>
              <a:t>Các thao tác khác:</a:t>
            </a:r>
          </a:p>
          <a:p>
            <a:pPr lvl="1"/>
            <a:r>
              <a:rPr lang="en-US" sz="2300" smtClean="0"/>
              <a:t>Lấy kích thước</a:t>
            </a:r>
          </a:p>
          <a:p>
            <a:pPr lvl="1"/>
            <a:r>
              <a:rPr lang="en-US" sz="2300" smtClean="0"/>
              <a:t>Kiểm tra rỗng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068960"/>
            <a:ext cx="4063476" cy="316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029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Cài đặt ngăn xếp – cách 1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smtClean="0"/>
              <a:t>Cài đặt bằng danh sách liên kết đơn:</a:t>
            </a:r>
          </a:p>
          <a:p>
            <a:endParaRPr lang="en-US" sz="2800"/>
          </a:p>
          <a:p>
            <a:endParaRPr lang="en-US" sz="2800" smtClean="0"/>
          </a:p>
          <a:p>
            <a:endParaRPr lang="en-US" sz="2800"/>
          </a:p>
          <a:p>
            <a:endParaRPr lang="en-US" sz="2800" smtClean="0"/>
          </a:p>
          <a:p>
            <a:r>
              <a:rPr lang="en-US" sz="2800" smtClean="0"/>
              <a:t>Cài đặt các thao tác:</a:t>
            </a:r>
          </a:p>
          <a:p>
            <a:pPr lvl="1"/>
            <a:r>
              <a:rPr lang="en-US" sz="2800" b="1" smtClean="0"/>
              <a:t>push(e)</a:t>
            </a:r>
            <a:r>
              <a:rPr lang="en-US" sz="2800" smtClean="0"/>
              <a:t>: Gọi thao tác </a:t>
            </a:r>
            <a:r>
              <a:rPr lang="en-US" sz="2800" b="1" smtClean="0"/>
              <a:t>pushFront(e)</a:t>
            </a:r>
            <a:r>
              <a:rPr lang="en-US" sz="2800" smtClean="0"/>
              <a:t> của DSLK đơn.</a:t>
            </a:r>
          </a:p>
          <a:p>
            <a:pPr lvl="1"/>
            <a:r>
              <a:rPr lang="en-US" sz="2800" b="1"/>
              <a:t>pop</a:t>
            </a:r>
            <a:r>
              <a:rPr lang="en-US" sz="2800" smtClean="0"/>
              <a:t>: Gọi thao tác </a:t>
            </a:r>
            <a:r>
              <a:rPr lang="en-US" sz="2800" b="1" smtClean="0"/>
              <a:t>popFront</a:t>
            </a:r>
            <a:r>
              <a:rPr lang="en-US" sz="2800" smtClean="0"/>
              <a:t> của DSLK đơn.</a:t>
            </a:r>
          </a:p>
          <a:p>
            <a:pPr lvl="1"/>
            <a:r>
              <a:rPr lang="en-US" sz="2800" b="1"/>
              <a:t>top</a:t>
            </a:r>
            <a:r>
              <a:rPr lang="en-US" sz="2800" smtClean="0"/>
              <a:t>: Gọi thao tác </a:t>
            </a:r>
            <a:r>
              <a:rPr lang="en-US" sz="2800" b="1" smtClean="0"/>
              <a:t>front</a:t>
            </a:r>
            <a:r>
              <a:rPr lang="en-US" sz="2800"/>
              <a:t> </a:t>
            </a:r>
            <a:r>
              <a:rPr lang="en-US" sz="2800" smtClean="0"/>
              <a:t>của DSLK đơn.</a:t>
            </a:r>
            <a:endParaRPr lang="en-US" sz="280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2204864"/>
            <a:ext cx="79629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5576" y="3560113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>
                <a:latin typeface="Calibri" panose="020F0502020204030204" pitchFamily="34" charset="0"/>
              </a:rPr>
              <a:t>head</a:t>
            </a:r>
            <a:endParaRPr lang="en-US" sz="2400">
              <a:latin typeface="Calibri" panose="020F0502020204030204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1187624" y="2919239"/>
            <a:ext cx="0" cy="64087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58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Cài đặt ngăn xếp – cách 2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sz="2800" smtClean="0"/>
              <a:t>Cài đặt bằng mảng:</a:t>
            </a:r>
          </a:p>
          <a:p>
            <a:endParaRPr lang="en-US" sz="2800"/>
          </a:p>
          <a:p>
            <a:endParaRPr lang="en-US" sz="2800" smtClean="0"/>
          </a:p>
          <a:p>
            <a:endParaRPr lang="en-US" sz="2800"/>
          </a:p>
          <a:p>
            <a:pPr marL="0" indent="0">
              <a:buNone/>
            </a:pPr>
            <a:endParaRPr lang="en-US" sz="2800" smtClean="0"/>
          </a:p>
          <a:p>
            <a:pPr>
              <a:spcBef>
                <a:spcPts val="2400"/>
              </a:spcBef>
            </a:pPr>
            <a:r>
              <a:rPr lang="en-US" sz="2800" smtClean="0"/>
              <a:t>Cài </a:t>
            </a:r>
            <a:r>
              <a:rPr lang="en-US" sz="2800"/>
              <a:t>đặt các thao tác:</a:t>
            </a:r>
          </a:p>
          <a:p>
            <a:pPr lvl="1"/>
            <a:r>
              <a:rPr lang="en-US" sz="2800" b="1" smtClean="0"/>
              <a:t>push(e)</a:t>
            </a:r>
            <a:r>
              <a:rPr lang="en-US" sz="2800" smtClean="0"/>
              <a:t>: topOfStack++, theArray[topOfStack] = e</a:t>
            </a:r>
          </a:p>
          <a:p>
            <a:pPr lvl="1"/>
            <a:r>
              <a:rPr lang="en-US" sz="2800" b="1" smtClean="0"/>
              <a:t>pop</a:t>
            </a:r>
            <a:r>
              <a:rPr lang="en-US" sz="2800" smtClean="0"/>
              <a:t>: topOfStack--</a:t>
            </a:r>
          </a:p>
          <a:p>
            <a:pPr lvl="1"/>
            <a:r>
              <a:rPr lang="en-US" sz="2800" b="1"/>
              <a:t>top</a:t>
            </a:r>
            <a:r>
              <a:rPr lang="en-US" sz="2800" smtClean="0"/>
              <a:t>: </a:t>
            </a:r>
            <a:r>
              <a:rPr lang="en-US" sz="2800" smtClean="0"/>
              <a:t>Trả về </a:t>
            </a:r>
            <a:r>
              <a:rPr lang="en-US" sz="2800"/>
              <a:t>theArray[topOfStack</a:t>
            </a:r>
            <a:r>
              <a:rPr lang="en-US" sz="2800" smtClean="0"/>
              <a:t>]</a:t>
            </a:r>
          </a:p>
        </p:txBody>
      </p:sp>
      <p:sp>
        <p:nvSpPr>
          <p:cNvPr id="4" name="Rectangle 3"/>
          <p:cNvSpPr/>
          <p:nvPr/>
        </p:nvSpPr>
        <p:spPr>
          <a:xfrm>
            <a:off x="2389984" y="2492896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mtClean="0">
                <a:solidFill>
                  <a:schemeClr val="tx1"/>
                </a:solidFill>
                <a:latin typeface="Calibri" panose="020F0502020204030204" pitchFamily="34" charset="0"/>
              </a:rPr>
              <a:t>2</a:t>
            </a:r>
            <a:endParaRPr lang="en-US" sz="24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66048" y="2492896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270304" y="2492896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46368" y="2492896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42112" y="2492896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mtClean="0">
                <a:solidFill>
                  <a:schemeClr val="tx1"/>
                </a:solidFill>
                <a:latin typeface="Calibri" panose="020F0502020204030204" pitchFamily="34" charset="0"/>
              </a:rPr>
              <a:t>3</a:t>
            </a:r>
            <a:endParaRPr lang="en-US" sz="24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22432" y="2492896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18176" y="2492896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4240" y="2492896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98496" y="2492896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3608" y="2537500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>
                <a:latin typeface="Calibri" panose="020F0502020204030204" pitchFamily="34" charset="0"/>
              </a:rPr>
              <a:t>theArray</a:t>
            </a:r>
            <a:endParaRPr lang="en-US" sz="2400">
              <a:latin typeface="Calibri" panose="020F050202020403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14120" y="3615407"/>
            <a:ext cx="2470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>
                <a:latin typeface="Calibri" panose="020F0502020204030204" pitchFamily="34" charset="0"/>
              </a:rPr>
              <a:t>topOfStack (= 3)</a:t>
            </a:r>
            <a:endParaRPr lang="en-US" sz="2400">
              <a:latin typeface="Calibri" panose="020F0502020204030204" pitchFamily="34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4406208" y="3140968"/>
            <a:ext cx="0" cy="5040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11760" y="2132856"/>
            <a:ext cx="525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mtClean="0">
                <a:latin typeface="Calibri" panose="020F0502020204030204" pitchFamily="34" charset="0"/>
                <a:cs typeface="Consolas" panose="020B0609020204030204" pitchFamily="49" charset="0"/>
              </a:rPr>
              <a:t>  0        1        2       3        4        5        6        7       8 </a:t>
            </a:r>
            <a:endParaRPr lang="en-US" sz="2000">
              <a:latin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966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Một số ứng dụng của ngăn xếp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Cân bằng thẻ (tag) trong trang HTML</a:t>
            </a:r>
          </a:p>
          <a:p>
            <a:r>
              <a:rPr lang="en-US" smtClean="0"/>
              <a:t>Định giá biểu thức hậu tố</a:t>
            </a:r>
          </a:p>
          <a:p>
            <a:r>
              <a:rPr lang="en-US" smtClean="0"/>
              <a:t>Ngăn xếp lời gọi hàm (xem trong sách)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4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Cân bằng </a:t>
            </a:r>
            <a:r>
              <a:rPr lang="en-US" smtClean="0"/>
              <a:t>thẻ </a:t>
            </a:r>
            <a:r>
              <a:rPr lang="en-US"/>
              <a:t>trong </a:t>
            </a:r>
            <a:r>
              <a:rPr lang="en-US" smtClean="0"/>
              <a:t>trang HTML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smtClean="0"/>
              <a:t>Kiểm tra hai yêu cầu sau đây: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smtClean="0"/>
              <a:t>Mỗi thẻ mở phải có thẻ đóng tương ứng:</a:t>
            </a:r>
          </a:p>
          <a:p>
            <a:pPr marL="0" indent="0">
              <a:buNone/>
            </a:pPr>
            <a:r>
              <a:rPr lang="en-US" sz="2800" smtClean="0"/>
              <a:t>	&lt;b&gt; something &lt;/b&gt;</a:t>
            </a:r>
            <a:endParaRPr lang="en-US" sz="2800"/>
          </a:p>
          <a:p>
            <a:pPr marL="457200" indent="-457200">
              <a:buFont typeface="+mj-lt"/>
              <a:buAutoNum type="arabicPeriod" startAt="2"/>
            </a:pPr>
            <a:r>
              <a:rPr lang="en-US" sz="2800" smtClean="0"/>
              <a:t>Hai cặp thẻ khác nhau có thể lồng nhau nhưng không được bắt chéo nhau:</a:t>
            </a:r>
          </a:p>
          <a:p>
            <a:pPr marL="0" indent="0">
              <a:buNone/>
            </a:pPr>
            <a:r>
              <a:rPr lang="en-US" sz="2800" smtClean="0"/>
              <a:t>	&lt;b&gt;&lt;i&gt; something &lt;/i&gt;&lt;/b&gt;	</a:t>
            </a:r>
            <a:r>
              <a:rPr lang="en-US" sz="2800" smtClean="0">
                <a:sym typeface="Symbol" panose="05050102010706020507" pitchFamily="18" charset="2"/>
              </a:rPr>
              <a:t> OK</a:t>
            </a:r>
          </a:p>
          <a:p>
            <a:pPr marL="0" indent="0">
              <a:buNone/>
            </a:pPr>
            <a:r>
              <a:rPr lang="en-US" sz="2800"/>
              <a:t>	&lt;b&gt;&lt;i&gt; something </a:t>
            </a:r>
            <a:r>
              <a:rPr lang="en-US" sz="2800" smtClean="0"/>
              <a:t>&lt;/b&gt;&lt;/i&gt;</a:t>
            </a:r>
            <a:r>
              <a:rPr lang="en-US" sz="2800"/>
              <a:t>	</a:t>
            </a:r>
            <a:r>
              <a:rPr lang="en-US" sz="2800">
                <a:sym typeface="Symbol" panose="05050102010706020507" pitchFamily="18" charset="2"/>
              </a:rPr>
              <a:t> </a:t>
            </a:r>
            <a:r>
              <a:rPr lang="en-US" sz="2800" smtClean="0">
                <a:sym typeface="Symbol" panose="05050102010706020507" pitchFamily="18" charset="2"/>
              </a:rPr>
              <a:t>Lỗi</a:t>
            </a:r>
            <a:endParaRPr lang="en-US" sz="2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56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8" y="403051"/>
            <a:ext cx="8467725" cy="641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300192" y="2348880"/>
            <a:ext cx="201622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i="1" smtClean="0">
                <a:latin typeface="Calibri" panose="020F0502020204030204" pitchFamily="34" charset="0"/>
                <a:cs typeface="Calibri" panose="020F0502020204030204" pitchFamily="34" charset="0"/>
              </a:rPr>
              <a:t>Ban đầu ngăn xếp rỗng</a:t>
            </a:r>
            <a:endParaRPr lang="en-US" sz="2400" b="1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896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431626"/>
            <a:ext cx="8505825" cy="638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10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868144" y="2348880"/>
            <a:ext cx="252028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i="1" smtClean="0">
                <a:latin typeface="Calibri" panose="020F0502020204030204" pitchFamily="34" charset="0"/>
                <a:cs typeface="Calibri" panose="020F0502020204030204" pitchFamily="34" charset="0"/>
              </a:rPr>
              <a:t>Gặp thẻ mở, thêm nó vào ngăn xếp</a:t>
            </a:r>
            <a:endParaRPr lang="en-US" sz="2400" b="1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168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8" y="404664"/>
            <a:ext cx="8467725" cy="641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11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868144" y="2348880"/>
            <a:ext cx="252028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i="1" smtClean="0">
                <a:latin typeface="Calibri" panose="020F0502020204030204" pitchFamily="34" charset="0"/>
                <a:cs typeface="Calibri" panose="020F0502020204030204" pitchFamily="34" charset="0"/>
              </a:rPr>
              <a:t>Gặp thẻ mở, thêm nó vào ngăn xếp</a:t>
            </a:r>
            <a:endParaRPr lang="en-US" sz="2400" b="1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898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404664"/>
            <a:ext cx="8448675" cy="638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868144" y="2348880"/>
            <a:ext cx="252028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i="1" smtClean="0">
                <a:latin typeface="Calibri" panose="020F0502020204030204" pitchFamily="34" charset="0"/>
                <a:cs typeface="Calibri" panose="020F0502020204030204" pitchFamily="34" charset="0"/>
              </a:rPr>
              <a:t>Gặp thẻ mở, thêm nó vào ngăn xếp</a:t>
            </a:r>
            <a:endParaRPr lang="en-US" sz="2400" b="1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879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3" y="450676"/>
            <a:ext cx="8486775" cy="636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13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868144" y="2348880"/>
            <a:ext cx="230425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i="1" smtClean="0">
                <a:latin typeface="Calibri" panose="020F0502020204030204" pitchFamily="34" charset="0"/>
                <a:cs typeface="Calibri" panose="020F0502020204030204" pitchFamily="34" charset="0"/>
              </a:rPr>
              <a:t>Gặp nội dung, không làm gì cả</a:t>
            </a:r>
            <a:endParaRPr lang="en-US" sz="2400" b="1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950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404664"/>
            <a:ext cx="8429625" cy="635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652120" y="2276872"/>
            <a:ext cx="2952328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i="1" smtClean="0">
                <a:latin typeface="Calibri" panose="020F0502020204030204" pitchFamily="34" charset="0"/>
                <a:cs typeface="Calibri" panose="020F0502020204030204" pitchFamily="34" charset="0"/>
              </a:rPr>
              <a:t>Gặp thẻ đóng, lấy một thẻ ra khỏi ngăn xếp, xem có khớp nhau không</a:t>
            </a:r>
            <a:endParaRPr lang="en-US" sz="2000" b="1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27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404664"/>
            <a:ext cx="8448675" cy="638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15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702416" y="2276872"/>
            <a:ext cx="2952328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i="1" smtClean="0">
                <a:latin typeface="Calibri" panose="020F0502020204030204" pitchFamily="34" charset="0"/>
                <a:cs typeface="Calibri" panose="020F0502020204030204" pitchFamily="34" charset="0"/>
              </a:rPr>
              <a:t>Gặp thẻ đóng, lấy một thẻ ra khỏi ngăn xếp, xem có khớp nhau không</a:t>
            </a:r>
            <a:endParaRPr lang="en-US" sz="2000" b="1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47864" y="5517232"/>
            <a:ext cx="2952328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i="1" smtClean="0">
                <a:latin typeface="Calibri" panose="020F0502020204030204" pitchFamily="34" charset="0"/>
                <a:cs typeface="Calibri" panose="020F0502020204030204" pitchFamily="34" charset="0"/>
              </a:rPr>
              <a:t>Khi đã quét hết trang HTML và ngăn xếp rỗng, trang HTML là chuẩn!</a:t>
            </a:r>
            <a:endParaRPr lang="en-US" sz="2000" b="1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126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Định giá biểu thức hậu tố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/>
          </a:bodyPr>
          <a:lstStyle/>
          <a:p>
            <a:r>
              <a:rPr lang="en-US" sz="2200" smtClean="0"/>
              <a:t>Giả sử phải định giá biểu thức trung tố sau:</a:t>
            </a: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200"/>
              <a:t>	</a:t>
            </a:r>
            <a:r>
              <a:rPr lang="en-US" sz="2200" b="1" smtClean="0">
                <a:latin typeface="Consolas" panose="020B0609020204030204" pitchFamily="49" charset="0"/>
                <a:cs typeface="Consolas" panose="020B0609020204030204" pitchFamily="49" charset="0"/>
              </a:rPr>
              <a:t>4,99 </a:t>
            </a:r>
            <a:r>
              <a:rPr lang="en-US" sz="2200" b="1">
                <a:latin typeface="Consolas" panose="020B0609020204030204" pitchFamily="49" charset="0"/>
                <a:cs typeface="Consolas" panose="020B0609020204030204" pitchFamily="49" charset="0"/>
              </a:rPr>
              <a:t>∗ </a:t>
            </a:r>
            <a:r>
              <a:rPr lang="en-US" sz="2200" b="1" smtClean="0">
                <a:latin typeface="Consolas" panose="020B0609020204030204" pitchFamily="49" charset="0"/>
                <a:cs typeface="Consolas" panose="020B0609020204030204" pitchFamily="49" charset="0"/>
              </a:rPr>
              <a:t>1,06 </a:t>
            </a:r>
            <a:r>
              <a:rPr lang="en-US" sz="2200" b="1">
                <a:latin typeface="Consolas" panose="020B0609020204030204" pitchFamily="49" charset="0"/>
                <a:cs typeface="Consolas" panose="020B0609020204030204" pitchFamily="49" charset="0"/>
              </a:rPr>
              <a:t>+ </a:t>
            </a:r>
            <a:r>
              <a:rPr lang="en-US" sz="2200" b="1" smtClean="0">
                <a:latin typeface="Consolas" panose="020B0609020204030204" pitchFamily="49" charset="0"/>
                <a:cs typeface="Consolas" panose="020B0609020204030204" pitchFamily="49" charset="0"/>
              </a:rPr>
              <a:t>5,99 </a:t>
            </a:r>
            <a:r>
              <a:rPr lang="en-US" sz="2200" b="1">
                <a:latin typeface="Consolas" panose="020B0609020204030204" pitchFamily="49" charset="0"/>
                <a:cs typeface="Consolas" panose="020B0609020204030204" pitchFamily="49" charset="0"/>
              </a:rPr>
              <a:t>+ </a:t>
            </a:r>
            <a:r>
              <a:rPr lang="en-US" sz="2200" b="1" smtClean="0">
                <a:latin typeface="Consolas" panose="020B0609020204030204" pitchFamily="49" charset="0"/>
                <a:cs typeface="Consolas" panose="020B0609020204030204" pitchFamily="49" charset="0"/>
              </a:rPr>
              <a:t>6,99 </a:t>
            </a:r>
            <a:r>
              <a:rPr lang="en-US" sz="2200" b="1">
                <a:latin typeface="Consolas" panose="020B0609020204030204" pitchFamily="49" charset="0"/>
                <a:cs typeface="Consolas" panose="020B0609020204030204" pitchFamily="49" charset="0"/>
              </a:rPr>
              <a:t>∗ </a:t>
            </a:r>
            <a:r>
              <a:rPr lang="en-US" sz="2200" b="1" smtClean="0">
                <a:latin typeface="Consolas" panose="020B0609020204030204" pitchFamily="49" charset="0"/>
                <a:cs typeface="Consolas" panose="020B0609020204030204" pitchFamily="49" charset="0"/>
              </a:rPr>
              <a:t>1,06</a:t>
            </a:r>
            <a:endParaRPr lang="en-US" sz="2200" b="1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sz="2200" smtClean="0"/>
              <a:t>Máy tính khoa học sẽ cho kết quả </a:t>
            </a:r>
            <a:r>
              <a:rPr lang="en-US" sz="2200" smtClean="0">
                <a:sym typeface="Wingdings" panose="05000000000000000000" pitchFamily="2" charset="2"/>
              </a:rPr>
              <a:t>18,69 </a:t>
            </a:r>
            <a:r>
              <a:rPr lang="en-US" sz="2200" smtClean="0">
                <a:sym typeface="Symbol"/>
              </a:rPr>
              <a:t></a:t>
            </a:r>
            <a:r>
              <a:rPr lang="en-US" sz="2200" smtClean="0">
                <a:sym typeface="Wingdings" panose="05000000000000000000" pitchFamily="2" charset="2"/>
              </a:rPr>
              <a:t> </a:t>
            </a:r>
            <a:r>
              <a:rPr lang="en-US" sz="2200">
                <a:sym typeface="Wingdings" panose="05000000000000000000" pitchFamily="2" charset="2"/>
              </a:rPr>
              <a:t>đ</a:t>
            </a:r>
            <a:r>
              <a:rPr lang="en-US" sz="2200" smtClean="0">
                <a:sym typeface="Wingdings" panose="05000000000000000000" pitchFamily="2" charset="2"/>
              </a:rPr>
              <a:t>úng.</a:t>
            </a:r>
          </a:p>
          <a:p>
            <a:pPr lvl="1"/>
            <a:r>
              <a:rPr lang="en-US" sz="2200" smtClean="0">
                <a:sym typeface="Wingdings" panose="05000000000000000000" pitchFamily="2" charset="2"/>
              </a:rPr>
              <a:t>Máy tính giản đơn (tính tuần tự từ trái sang phải) sẽ cho kết quả 19,37 </a:t>
            </a:r>
            <a:r>
              <a:rPr lang="en-US" sz="2200">
                <a:sym typeface="Symbol"/>
              </a:rPr>
              <a:t></a:t>
            </a:r>
            <a:r>
              <a:rPr lang="en-US" sz="2200" smtClean="0">
                <a:sym typeface="Wingdings" panose="05000000000000000000" pitchFamily="2" charset="2"/>
              </a:rPr>
              <a:t> sai.</a:t>
            </a:r>
          </a:p>
          <a:p>
            <a:pPr>
              <a:spcBef>
                <a:spcPts val="1200"/>
              </a:spcBef>
            </a:pPr>
            <a:r>
              <a:rPr lang="en-US" sz="2200" smtClean="0">
                <a:sym typeface="Wingdings" panose="05000000000000000000" pitchFamily="2" charset="2"/>
              </a:rPr>
              <a:t>Nếu viết lại biểu thức trên dưới dạng hậu tố (toán tử nằm sau các toán hạng của nó)</a:t>
            </a:r>
            <a:r>
              <a:rPr lang="en-US" sz="2200" b="1" smtClean="0">
                <a:solidFill>
                  <a:srgbClr val="3333CC"/>
                </a:solidFill>
                <a:sym typeface="Wingdings" panose="05000000000000000000" pitchFamily="2" charset="2"/>
              </a:rPr>
              <a:t> </a:t>
            </a:r>
            <a:r>
              <a:rPr lang="en-US" sz="2200" smtClean="0">
                <a:sym typeface="Wingdings" panose="05000000000000000000" pitchFamily="2" charset="2"/>
              </a:rPr>
              <a:t>rồi áp dụng ngăn xếp, ta chỉ cần tính tuần tự từ trái sang phải mà không cần quan tâm độ ưu tiên của các toán tử: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200" b="1" smtClean="0">
                <a:sym typeface="Wingdings" panose="05000000000000000000" pitchFamily="2" charset="2"/>
              </a:rPr>
              <a:t>	</a:t>
            </a:r>
            <a:r>
              <a:rPr lang="en-US" sz="2200" b="1" smtClean="0">
                <a:latin typeface="Consolas" panose="020B0609020204030204" pitchFamily="49" charset="0"/>
                <a:cs typeface="Consolas" panose="020B0609020204030204" pitchFamily="49" charset="0"/>
              </a:rPr>
              <a:t>4,99 </a:t>
            </a:r>
            <a:r>
              <a:rPr lang="en-US" sz="2200" b="1">
                <a:latin typeface="Consolas" panose="020B0609020204030204" pitchFamily="49" charset="0"/>
                <a:cs typeface="Consolas" panose="020B0609020204030204" pitchFamily="49" charset="0"/>
              </a:rPr>
              <a:t>1,06 ∗ 5,99 + 6,99 1,06 ∗ </a:t>
            </a:r>
            <a:r>
              <a:rPr lang="en-US" sz="2200" b="1" smtClean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endParaRPr lang="en-US" sz="2200" smtClean="0"/>
          </a:p>
          <a:p>
            <a:pPr marL="0" indent="0">
              <a:spcBef>
                <a:spcPts val="2400"/>
              </a:spcBef>
              <a:buNone/>
            </a:pPr>
            <a:r>
              <a:rPr lang="en-US" sz="2200" smtClean="0"/>
              <a:t>(</a:t>
            </a:r>
            <a:r>
              <a:rPr lang="en-US" sz="2200" i="1" smtClean="0"/>
              <a:t>Có thể dùng ngăn xếp để chuyển đổi biểu thức trung tố thành biểu thức hậu tố </a:t>
            </a:r>
            <a:r>
              <a:rPr lang="en-US" sz="2200" smtClean="0">
                <a:sym typeface="Symbol" panose="05050102010706020507" pitchFamily="18" charset="2"/>
              </a:rPr>
              <a:t></a:t>
            </a:r>
            <a:r>
              <a:rPr lang="en-US" sz="2200" i="1" smtClean="0">
                <a:sym typeface="Symbol" panose="05050102010706020507" pitchFamily="18" charset="2"/>
              </a:rPr>
              <a:t> xem thêm trong sách</a:t>
            </a:r>
            <a:r>
              <a:rPr lang="en-US" sz="2200" smtClean="0">
                <a:sym typeface="Symbol" panose="05050102010706020507" pitchFamily="18" charset="2"/>
              </a:rPr>
              <a:t>)</a:t>
            </a:r>
            <a:endParaRPr lang="en-US" sz="2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2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</a:t>
            </a:r>
            <a:r>
              <a:rPr lang="en-US" smtClean="0"/>
              <a:t>ịnh giá biểu thức hậu tố (tiếp)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smtClean="0"/>
              <a:t>Duyệt các thành phần (toán hạng/toán tử) trong biểu thức hậu tố từ trái sang phải:</a:t>
            </a:r>
          </a:p>
          <a:p>
            <a:r>
              <a:rPr lang="en-US" sz="2800" smtClean="0"/>
              <a:t>Gặp toán hạng:</a:t>
            </a:r>
          </a:p>
          <a:p>
            <a:pPr lvl="1"/>
            <a:r>
              <a:rPr lang="en-US" sz="2800"/>
              <a:t>Đ</a:t>
            </a:r>
            <a:r>
              <a:rPr lang="en-US" sz="2800" smtClean="0"/>
              <a:t>ặt nó vào ngăn xếp.</a:t>
            </a:r>
          </a:p>
          <a:p>
            <a:r>
              <a:rPr lang="en-US" sz="2800" smtClean="0"/>
              <a:t>Gặp toán tử:</a:t>
            </a:r>
            <a:endParaRPr lang="en-US" sz="2800">
              <a:sym typeface="Wingdings" panose="05000000000000000000" pitchFamily="2" charset="2"/>
            </a:endParaRPr>
          </a:p>
          <a:p>
            <a:pPr marL="685800" lvl="1" indent="-412750">
              <a:buFont typeface="+mj-lt"/>
              <a:buAutoNum type="arabicPeriod"/>
            </a:pPr>
            <a:r>
              <a:rPr lang="en-US" sz="2800" smtClean="0">
                <a:sym typeface="Wingdings" panose="05000000000000000000" pitchFamily="2" charset="2"/>
              </a:rPr>
              <a:t>Lấy hai toán hạng ra khỏi ngăn xếp và áp dụng toán tử lên hai toán hạng đó.</a:t>
            </a:r>
          </a:p>
          <a:p>
            <a:pPr marL="685800" lvl="1" indent="-412750">
              <a:buFont typeface="+mj-lt"/>
              <a:buAutoNum type="arabicPeriod"/>
            </a:pPr>
            <a:r>
              <a:rPr lang="en-US" sz="2800" smtClean="0">
                <a:sym typeface="Wingdings" panose="05000000000000000000" pitchFamily="2" charset="2"/>
              </a:rPr>
              <a:t>Đặt kết quả tính toán vào ngăn xếp.</a:t>
            </a:r>
            <a:endParaRPr lang="en-US" sz="2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66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Ví dụ định giá biểu thức hậu tố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smtClean="0"/>
              <a:t>Định giá biểu thức sau: </a:t>
            </a:r>
            <a:r>
              <a:rPr lang="en-US" sz="2800" b="1" smtClean="0"/>
              <a:t>6 </a:t>
            </a:r>
            <a:r>
              <a:rPr lang="en-US" sz="2800" b="1"/>
              <a:t>5 2 3 + 8 ∗ + 3 + ∗</a:t>
            </a:r>
          </a:p>
          <a:p>
            <a:r>
              <a:rPr lang="en-US" sz="2800" smtClean="0"/>
              <a:t>Đặt bốn toán hạng đầu tiên vào ngăn xếp.</a:t>
            </a:r>
            <a:endParaRPr lang="en-US" sz="280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100" y="2952725"/>
            <a:ext cx="3733800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84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6 </a:t>
            </a:r>
            <a:r>
              <a:rPr lang="en-US"/>
              <a:t>5 2 3 </a:t>
            </a:r>
            <a:r>
              <a:rPr lang="en-US">
                <a:solidFill>
                  <a:srgbClr val="3333CC"/>
                </a:solidFill>
              </a:rPr>
              <a:t>+</a:t>
            </a:r>
            <a:r>
              <a:rPr lang="en-US"/>
              <a:t> 8 ∗ + 3 + 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smtClean="0"/>
              <a:t>Đọc “+”, lấy 3 và 2 ra, cộng lại được 5, đặt 5 vào ngăn xếp.</a:t>
            </a:r>
            <a:endParaRPr lang="en-US" sz="280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924150"/>
            <a:ext cx="3705225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52" y="2952725"/>
            <a:ext cx="3733800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4211960" y="4090962"/>
            <a:ext cx="57606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39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6 </a:t>
            </a:r>
            <a:r>
              <a:rPr lang="en-US"/>
              <a:t>5 2 3 + </a:t>
            </a:r>
            <a:r>
              <a:rPr lang="en-US">
                <a:solidFill>
                  <a:srgbClr val="3333CC"/>
                </a:solidFill>
              </a:rPr>
              <a:t>8</a:t>
            </a:r>
            <a:r>
              <a:rPr lang="en-US"/>
              <a:t> ∗ + 3 + 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smtClean="0"/>
              <a:t>Đặt 8 vào ngăn xếp.</a:t>
            </a:r>
            <a:endParaRPr lang="en-US" sz="280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211960" y="4090962"/>
            <a:ext cx="57606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5" y="2924150"/>
            <a:ext cx="3705225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218" y="2924944"/>
            <a:ext cx="371475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1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6 </a:t>
            </a:r>
            <a:r>
              <a:rPr lang="en-US"/>
              <a:t>5 2 3 + 8 </a:t>
            </a:r>
            <a:r>
              <a:rPr lang="en-US">
                <a:solidFill>
                  <a:srgbClr val="3333CC"/>
                </a:solidFill>
              </a:rPr>
              <a:t>∗</a:t>
            </a:r>
            <a:r>
              <a:rPr lang="en-US"/>
              <a:t> + 3 + 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smtClean="0"/>
              <a:t>Đọc “</a:t>
            </a:r>
            <a:r>
              <a:rPr lang="en-US" sz="2800"/>
              <a:t>∗</a:t>
            </a:r>
            <a:r>
              <a:rPr lang="en-US" sz="2800" smtClean="0"/>
              <a:t>”, lấy 8 và 5 ra, nhân vào được 40, đặt 40 vào ngăn xếp.</a:t>
            </a:r>
            <a:endParaRPr lang="en-US" sz="280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211960" y="4090962"/>
            <a:ext cx="57606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705" y="2948390"/>
            <a:ext cx="371475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952725"/>
            <a:ext cx="370522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222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6 </a:t>
            </a:r>
            <a:r>
              <a:rPr lang="en-US"/>
              <a:t>5 2 3 + 8 ∗ </a:t>
            </a:r>
            <a:r>
              <a:rPr lang="en-US">
                <a:solidFill>
                  <a:srgbClr val="3333CC"/>
                </a:solidFill>
              </a:rPr>
              <a:t>+</a:t>
            </a:r>
            <a:r>
              <a:rPr lang="en-US"/>
              <a:t> 3 + 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smtClean="0"/>
              <a:t>Đọc “+”, lấy 40 và 5 ra, cộng lại được 45, đặt 45 vào ngăn xếp.</a:t>
            </a:r>
            <a:endParaRPr lang="en-US" sz="280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211960" y="4090962"/>
            <a:ext cx="57606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705" y="2948390"/>
            <a:ext cx="370522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996" y="2925411"/>
            <a:ext cx="3686175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58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6 </a:t>
            </a:r>
            <a:r>
              <a:rPr lang="en-US"/>
              <a:t>5 2 3 + 8 ∗ + </a:t>
            </a:r>
            <a:r>
              <a:rPr lang="en-US">
                <a:solidFill>
                  <a:srgbClr val="3333CC"/>
                </a:solidFill>
              </a:rPr>
              <a:t>3</a:t>
            </a:r>
            <a:r>
              <a:rPr lang="en-US"/>
              <a:t> + 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smtClean="0"/>
              <a:t>Đặt 3 vào ngăn xếp.</a:t>
            </a:r>
            <a:endParaRPr lang="en-US" sz="280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211960" y="4090962"/>
            <a:ext cx="57606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51" y="2938804"/>
            <a:ext cx="3686175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913688"/>
            <a:ext cx="3667125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082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6 </a:t>
            </a:r>
            <a:r>
              <a:rPr lang="en-US"/>
              <a:t>5 2 3 + 8 ∗ + 3 </a:t>
            </a:r>
            <a:r>
              <a:rPr lang="en-US">
                <a:solidFill>
                  <a:srgbClr val="3333CC"/>
                </a:solidFill>
              </a:rPr>
              <a:t>+</a:t>
            </a:r>
            <a:r>
              <a:rPr lang="en-US"/>
              <a:t> 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smtClean="0"/>
              <a:t>Đọc “+”, lấy 3 và 45 ra, cộng lại được 48, đặt 48 vào ngăn xếp.</a:t>
            </a:r>
            <a:endParaRPr lang="en-US" sz="280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211960" y="4090962"/>
            <a:ext cx="57606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924944"/>
            <a:ext cx="3667125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919754"/>
            <a:ext cx="3629025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168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6 </a:t>
            </a:r>
            <a:r>
              <a:rPr lang="en-US"/>
              <a:t>5 2 3 + 8 ∗ + 3 + </a:t>
            </a:r>
            <a:r>
              <a:rPr lang="en-US">
                <a:solidFill>
                  <a:srgbClr val="3333CC"/>
                </a:solidFill>
              </a:rPr>
              <a:t>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Autofit/>
          </a:bodyPr>
          <a:lstStyle/>
          <a:p>
            <a:r>
              <a:rPr lang="en-US" sz="2400" smtClean="0"/>
              <a:t>Đọc “</a:t>
            </a:r>
            <a:r>
              <a:rPr lang="en-US" sz="2400"/>
              <a:t>∗</a:t>
            </a:r>
            <a:r>
              <a:rPr lang="en-US" sz="2400" smtClean="0"/>
              <a:t>”, lấy 48 và 6 ra, nhân vào được 288, đặt 288 vào ngăn xếp.</a:t>
            </a:r>
          </a:p>
          <a:p>
            <a:r>
              <a:rPr lang="en-US" sz="2400" smtClean="0"/>
              <a:t>Khi đã quét hết biểu thức, giá trị duy nhất còn lại trong ngăn xếp (288) chính là giá trị tính được của </a:t>
            </a:r>
            <a:r>
              <a:rPr lang="en-US" sz="2400"/>
              <a:t>biểu </a:t>
            </a:r>
            <a:r>
              <a:rPr lang="en-US" sz="2400" smtClean="0"/>
              <a:t>thức.</a:t>
            </a:r>
          </a:p>
          <a:p>
            <a:pPr marL="0" indent="0">
              <a:spcBef>
                <a:spcPts val="3600"/>
              </a:spcBef>
              <a:buNone/>
            </a:pPr>
            <a:endParaRPr lang="en-US" sz="2400" i="1" smtClean="0">
              <a:solidFill>
                <a:srgbClr val="3333CC"/>
              </a:solidFill>
            </a:endParaRPr>
          </a:p>
          <a:p>
            <a:pPr marL="0" indent="0">
              <a:spcBef>
                <a:spcPts val="3600"/>
              </a:spcBef>
              <a:buNone/>
            </a:pPr>
            <a:endParaRPr lang="en-US" sz="2400" i="1">
              <a:solidFill>
                <a:srgbClr val="3333CC"/>
              </a:solidFill>
            </a:endParaRPr>
          </a:p>
          <a:p>
            <a:pPr marL="0" indent="0">
              <a:spcBef>
                <a:spcPts val="3600"/>
              </a:spcBef>
              <a:buNone/>
            </a:pPr>
            <a:endParaRPr lang="en-US" sz="2400" i="1" smtClean="0">
              <a:solidFill>
                <a:srgbClr val="3333CC"/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sz="2400" i="1" smtClean="0">
                <a:solidFill>
                  <a:srgbClr val="3333CC"/>
                </a:solidFill>
              </a:rPr>
              <a:t>Thời gian định giá biểu thức hậu tố là O(n), với n là số toán hạng và toán tử có trong biểu thức.</a:t>
            </a:r>
            <a:endParaRPr lang="en-US" sz="2400" i="1">
              <a:solidFill>
                <a:srgbClr val="3333CC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211960" y="4090962"/>
            <a:ext cx="57606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67" y="3284984"/>
            <a:ext cx="3629025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7336" y="3287649"/>
            <a:ext cx="3638550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72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2. Hàng đợi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708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Hàng đợi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836912"/>
          </a:xfrm>
        </p:spPr>
        <p:txBody>
          <a:bodyPr>
            <a:normAutofit/>
          </a:bodyPr>
          <a:lstStyle/>
          <a:p>
            <a:r>
              <a:rPr lang="en-US" sz="2600"/>
              <a:t>Một danh sách </a:t>
            </a:r>
            <a:r>
              <a:rPr lang="en-US" sz="2600" smtClean="0"/>
              <a:t>các phần tử theo </a:t>
            </a:r>
            <a:r>
              <a:rPr lang="en-US" sz="2600"/>
              <a:t>kiểu </a:t>
            </a:r>
            <a:r>
              <a:rPr lang="en-US" sz="2600" b="1"/>
              <a:t>vào </a:t>
            </a:r>
            <a:r>
              <a:rPr lang="en-US" sz="2600" b="1" smtClean="0"/>
              <a:t>trước </a:t>
            </a:r>
            <a:r>
              <a:rPr lang="en-US" sz="2600" b="1"/>
              <a:t>ra </a:t>
            </a:r>
            <a:r>
              <a:rPr lang="en-US" sz="2600" b="1" smtClean="0"/>
              <a:t>trước</a:t>
            </a:r>
            <a:r>
              <a:rPr lang="en-US" sz="2600" smtClean="0"/>
              <a:t>:</a:t>
            </a:r>
            <a:endParaRPr lang="en-US" sz="2600"/>
          </a:p>
          <a:p>
            <a:pPr marL="0" indent="0">
              <a:buNone/>
            </a:pPr>
            <a:r>
              <a:rPr lang="en-US" sz="2600"/>
              <a:t>	</a:t>
            </a:r>
            <a:r>
              <a:rPr lang="en-US" sz="2600" b="1" smtClean="0"/>
              <a:t>FIFO</a:t>
            </a:r>
            <a:r>
              <a:rPr lang="en-US" sz="2600" smtClean="0"/>
              <a:t> (First </a:t>
            </a:r>
            <a:r>
              <a:rPr lang="en-US" sz="2600"/>
              <a:t>In First Out)</a:t>
            </a:r>
          </a:p>
          <a:p>
            <a:r>
              <a:rPr lang="en-US" sz="2600" smtClean="0"/>
              <a:t>Hai thao tác chính, chỉ mất thời gian O(1):</a:t>
            </a:r>
            <a:endParaRPr lang="en-US" sz="2600"/>
          </a:p>
          <a:p>
            <a:pPr lvl="1"/>
            <a:r>
              <a:rPr lang="en-US" sz="2600" b="1" smtClean="0"/>
              <a:t>enqueue</a:t>
            </a:r>
            <a:r>
              <a:rPr lang="en-US" sz="2600" smtClean="0"/>
              <a:t>: Chèn phần tử vào cuối danh sách.</a:t>
            </a:r>
            <a:endParaRPr lang="en-US" sz="2600"/>
          </a:p>
          <a:p>
            <a:pPr lvl="1"/>
            <a:r>
              <a:rPr lang="en-US" sz="2600" b="1" smtClean="0"/>
              <a:t>dequeue</a:t>
            </a:r>
            <a:r>
              <a:rPr lang="en-US" sz="2600" smtClean="0"/>
              <a:t>: Xóa phần tử ở đầu danh sách.</a:t>
            </a:r>
            <a:endParaRPr lang="en-US" sz="2600"/>
          </a:p>
        </p:txBody>
      </p:sp>
      <p:sp>
        <p:nvSpPr>
          <p:cNvPr id="4" name="Rectangle 3"/>
          <p:cNvSpPr/>
          <p:nvPr/>
        </p:nvSpPr>
        <p:spPr>
          <a:xfrm>
            <a:off x="1835696" y="4581128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mtClean="0">
                <a:solidFill>
                  <a:schemeClr val="tx1"/>
                </a:solidFill>
                <a:latin typeface="Calibri" panose="020F0502020204030204" pitchFamily="34" charset="0"/>
              </a:rPr>
              <a:t>2</a:t>
            </a:r>
            <a:endParaRPr lang="en-US" sz="24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11760" y="4581128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4716016" y="4581128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mtClean="0">
                <a:solidFill>
                  <a:schemeClr val="tx1"/>
                </a:solidFill>
                <a:latin typeface="Calibri" panose="020F0502020204030204" pitchFamily="34" charset="0"/>
              </a:rPr>
              <a:t>4</a:t>
            </a:r>
            <a:endParaRPr lang="en-US" sz="24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92080" y="4581128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mtClean="0">
                <a:solidFill>
                  <a:schemeClr val="tx1"/>
                </a:solidFill>
                <a:latin typeface="Calibri" panose="020F0502020204030204" pitchFamily="34" charset="0"/>
              </a:rPr>
              <a:t>e</a:t>
            </a:r>
            <a:endParaRPr lang="en-US" sz="24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87824" y="4581128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mtClean="0">
                <a:solidFill>
                  <a:schemeClr val="tx1"/>
                </a:solidFill>
                <a:latin typeface="Calibri" panose="020F0502020204030204" pitchFamily="34" charset="0"/>
              </a:rPr>
              <a:t>3</a:t>
            </a:r>
            <a:endParaRPr lang="en-US" sz="24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63888" y="4581128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9952" y="4581128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mtClean="0">
                <a:solidFill>
                  <a:schemeClr val="tx1"/>
                </a:solidFill>
                <a:latin typeface="Calibri" panose="020F0502020204030204" pitchFamily="34" charset="0"/>
              </a:rPr>
              <a:t>7</a:t>
            </a:r>
            <a:endParaRPr lang="en-US" sz="24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5536" y="5654050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>
                <a:latin typeface="Calibri" panose="020F0502020204030204" pitchFamily="34" charset="0"/>
              </a:rPr>
              <a:t>dequeue ở đầu</a:t>
            </a:r>
            <a:endParaRPr lang="en-US" sz="2400">
              <a:latin typeface="Calibri" panose="020F0502020204030204" pitchFamily="34" charset="0"/>
            </a:endParaRPr>
          </a:p>
        </p:txBody>
      </p:sp>
      <p:cxnSp>
        <p:nvCxnSpPr>
          <p:cNvPr id="14" name="Straight Arrow Connector 13"/>
          <p:cNvCxnSpPr>
            <a:stCxn id="13" idx="0"/>
          </p:cNvCxnSpPr>
          <p:nvPr/>
        </p:nvCxnSpPr>
        <p:spPr>
          <a:xfrm flipV="1">
            <a:off x="1475656" y="5157192"/>
            <a:ext cx="288032" cy="49685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48064" y="5703639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>
                <a:latin typeface="Calibri" panose="020F0502020204030204" pitchFamily="34" charset="0"/>
              </a:rPr>
              <a:t>enqueue(e) ở cuối</a:t>
            </a:r>
            <a:endParaRPr lang="en-US" sz="2400">
              <a:latin typeface="Calibri" panose="020F0502020204030204" pitchFamily="34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5747574" y="5204084"/>
            <a:ext cx="288032" cy="5040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29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Cài đặt hàng đợi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196952"/>
          </a:xfrm>
        </p:spPr>
        <p:txBody>
          <a:bodyPr>
            <a:normAutofit/>
          </a:bodyPr>
          <a:lstStyle/>
          <a:p>
            <a:r>
              <a:rPr lang="en-US" sz="2400" smtClean="0"/>
              <a:t>Như trường hợp ngăn xếp, ta có thể dùng mảng hoặc danh sách liên kết đơn để cài đặt hàng đợi.</a:t>
            </a:r>
          </a:p>
          <a:p>
            <a:r>
              <a:rPr lang="en-US" sz="2400" smtClean="0"/>
              <a:t>Ở đây, ta chỉ xem xét cách cài đặt dùng mảng:</a:t>
            </a:r>
          </a:p>
          <a:p>
            <a:pPr lvl="1"/>
            <a:r>
              <a:rPr lang="en-US" sz="2400" b="1" smtClean="0"/>
              <a:t>theArray</a:t>
            </a:r>
            <a:r>
              <a:rPr lang="en-US" sz="2400" smtClean="0"/>
              <a:t> là mảng chứa các phần tử;</a:t>
            </a:r>
          </a:p>
          <a:p>
            <a:pPr lvl="1"/>
            <a:r>
              <a:rPr lang="en-US" sz="2400" b="1" smtClean="0"/>
              <a:t>currentSize</a:t>
            </a:r>
            <a:r>
              <a:rPr lang="en-US" sz="2400" smtClean="0"/>
              <a:t> là số phần tử hiện có trong hàng đợi;</a:t>
            </a:r>
          </a:p>
          <a:p>
            <a:pPr lvl="1"/>
            <a:r>
              <a:rPr lang="en-US" sz="2400" b="1" smtClean="0"/>
              <a:t>front</a:t>
            </a:r>
            <a:r>
              <a:rPr lang="en-US" sz="2400" smtClean="0"/>
              <a:t> và </a:t>
            </a:r>
            <a:r>
              <a:rPr lang="en-US" sz="2400" b="1" smtClean="0"/>
              <a:t>back</a:t>
            </a:r>
            <a:r>
              <a:rPr lang="en-US" sz="2400" smtClean="0"/>
              <a:t> giữ vị trí của phần tử đầu và cuối hàng đợi; vị trí nằm trong khoảng từ 0 đến chiều dài của mảng trừ đi 1.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183" y="4740289"/>
            <a:ext cx="5559177" cy="1502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058169" y="4905753"/>
            <a:ext cx="12815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smtClean="0">
                <a:latin typeface="Calibri" panose="020F0502020204030204" pitchFamily="34" charset="0"/>
              </a:rPr>
              <a:t>theArray</a:t>
            </a:r>
            <a:endParaRPr lang="en-US" sz="2200">
              <a:latin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11960" y="6207695"/>
            <a:ext cx="25202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smtClean="0">
                <a:latin typeface="Calibri" panose="020F0502020204030204" pitchFamily="34" charset="0"/>
              </a:rPr>
              <a:t>currentSize = 4</a:t>
            </a:r>
            <a:endParaRPr lang="en-US" sz="2200">
              <a:latin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457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Cài đặt hàng đợi dùng mảng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45024"/>
            <a:ext cx="8507288" cy="3096344"/>
          </a:xfrm>
        </p:spPr>
        <p:txBody>
          <a:bodyPr>
            <a:normAutofit/>
          </a:bodyPr>
          <a:lstStyle/>
          <a:p>
            <a:r>
              <a:rPr lang="en-US" sz="2300" b="1" smtClean="0"/>
              <a:t>enqueue(e)</a:t>
            </a:r>
            <a:r>
              <a:rPr lang="en-US" sz="2300" smtClean="0"/>
              <a:t>: back++, theArray[back] = </a:t>
            </a:r>
            <a:r>
              <a:rPr lang="en-US" sz="2300"/>
              <a:t>e, currentSize++</a:t>
            </a:r>
            <a:endParaRPr lang="en-US" sz="2300" smtClean="0"/>
          </a:p>
          <a:p>
            <a:r>
              <a:rPr lang="en-US" sz="2300" b="1"/>
              <a:t>dequeue</a:t>
            </a:r>
            <a:r>
              <a:rPr lang="en-US" sz="2300" smtClean="0"/>
              <a:t>: front</a:t>
            </a:r>
            <a:r>
              <a:rPr lang="en-US" sz="2300"/>
              <a:t>++, currentSize--</a:t>
            </a:r>
            <a:endParaRPr lang="en-US" sz="2300" smtClean="0"/>
          </a:p>
          <a:p>
            <a:r>
              <a:rPr lang="en-US" sz="2300" smtClean="0"/>
              <a:t>Hàng đợi này chỉ chứa được 10 phần tử </a:t>
            </a:r>
            <a:r>
              <a:rPr lang="en-US" sz="2300" smtClean="0">
                <a:sym typeface="Symbol"/>
              </a:rPr>
              <a:t></a:t>
            </a:r>
            <a:r>
              <a:rPr lang="en-US" sz="2300" smtClean="0">
                <a:sym typeface="Wingdings" panose="05000000000000000000" pitchFamily="2" charset="2"/>
              </a:rPr>
              <a:t> nhanh chóng đầy?</a:t>
            </a:r>
          </a:p>
          <a:p>
            <a:pPr lvl="1"/>
            <a:r>
              <a:rPr lang="en-US" sz="2300" smtClean="0">
                <a:sym typeface="Wingdings" panose="05000000000000000000" pitchFamily="2" charset="2"/>
              </a:rPr>
              <a:t>Trên thực tế, hàng đợi thường chỉ cần nhỏ vì dequeue </a:t>
            </a:r>
            <a:r>
              <a:rPr lang="en-US" sz="2300" smtClean="0">
                <a:sym typeface="Wingdings" panose="05000000000000000000" pitchFamily="2" charset="2"/>
              </a:rPr>
              <a:t>sẽ </a:t>
            </a:r>
            <a:r>
              <a:rPr lang="en-US" sz="2300" smtClean="0">
                <a:sym typeface="Wingdings" panose="05000000000000000000" pitchFamily="2" charset="2"/>
              </a:rPr>
              <a:t>xảy ra </a:t>
            </a:r>
            <a:r>
              <a:rPr lang="en-US" sz="2300" smtClean="0">
                <a:sym typeface="Wingdings" panose="05000000000000000000" pitchFamily="2" charset="2"/>
              </a:rPr>
              <a:t>đều đặn</a:t>
            </a:r>
            <a:r>
              <a:rPr lang="en-US" sz="2300" smtClean="0">
                <a:sym typeface="Wingdings" panose="05000000000000000000" pitchFamily="2" charset="2"/>
              </a:rPr>
              <a:t> </a:t>
            </a:r>
            <a:r>
              <a:rPr lang="en-US" sz="2300" smtClean="0">
                <a:sym typeface="Wingdings" panose="05000000000000000000" pitchFamily="2" charset="2"/>
              </a:rPr>
              <a:t>nhằm </a:t>
            </a:r>
            <a:r>
              <a:rPr lang="en-US" sz="2300" smtClean="0">
                <a:sym typeface="Wingdings" panose="05000000000000000000" pitchFamily="2" charset="2"/>
              </a:rPr>
              <a:t>lấy từng </a:t>
            </a:r>
            <a:r>
              <a:rPr lang="en-US" sz="2300" smtClean="0">
                <a:sym typeface="Wingdings" panose="05000000000000000000" pitchFamily="2" charset="2"/>
              </a:rPr>
              <a:t>phần tử </a:t>
            </a:r>
            <a:r>
              <a:rPr lang="en-US" sz="2300" smtClean="0">
                <a:sym typeface="Wingdings" panose="05000000000000000000" pitchFamily="2" charset="2"/>
              </a:rPr>
              <a:t>ra khỏi </a:t>
            </a:r>
            <a:r>
              <a:rPr lang="en-US" sz="2300" smtClean="0">
                <a:sym typeface="Wingdings" panose="05000000000000000000" pitchFamily="2" charset="2"/>
              </a:rPr>
              <a:t>hàng </a:t>
            </a:r>
            <a:r>
              <a:rPr lang="en-US" sz="2300" smtClean="0">
                <a:sym typeface="Wingdings" panose="05000000000000000000" pitchFamily="2" charset="2"/>
              </a:rPr>
              <a:t>đợi để xử lý.</a:t>
            </a:r>
            <a:endParaRPr lang="en-US" sz="2300"/>
          </a:p>
          <a:p>
            <a:r>
              <a:rPr lang="en-US" sz="2300" smtClean="0"/>
              <a:t>Dù vậy</a:t>
            </a:r>
            <a:r>
              <a:rPr lang="en-US" sz="2300" smtClean="0"/>
              <a:t>, trong ví dụ trên, </a:t>
            </a:r>
            <a:r>
              <a:rPr lang="en-US" sz="2300" smtClean="0"/>
              <a:t>sau 10 lần enqueue, back ở vị trí cuối cùng </a:t>
            </a:r>
            <a:r>
              <a:rPr lang="en-US" sz="2300" smtClean="0">
                <a:sym typeface="Symbol"/>
              </a:rPr>
              <a:t>thì sẽ</a:t>
            </a:r>
            <a:r>
              <a:rPr lang="en-US" sz="2300" smtClean="0">
                <a:sym typeface="Wingdings" panose="05000000000000000000" pitchFamily="2" charset="2"/>
              </a:rPr>
              <a:t> không thể enqueue thêm </a:t>
            </a:r>
            <a:r>
              <a:rPr lang="en-US" sz="2300">
                <a:sym typeface="Symbol"/>
              </a:rPr>
              <a:t></a:t>
            </a:r>
            <a:r>
              <a:rPr lang="en-US" sz="2300" smtClean="0">
                <a:sym typeface="Wingdings" panose="05000000000000000000" pitchFamily="2" charset="2"/>
              </a:rPr>
              <a:t> giải pháp </a:t>
            </a:r>
            <a:r>
              <a:rPr lang="en-US" sz="2300" b="1" smtClean="0">
                <a:sym typeface="Wingdings" panose="05000000000000000000" pitchFamily="2" charset="2"/>
              </a:rPr>
              <a:t>mảng vòng </a:t>
            </a:r>
            <a:r>
              <a:rPr lang="en-US" sz="2300" b="1" smtClean="0">
                <a:sym typeface="Wingdings" panose="05000000000000000000" pitchFamily="2" charset="2"/>
              </a:rPr>
              <a:t>tròn</a:t>
            </a:r>
            <a:r>
              <a:rPr lang="en-US" sz="2300" smtClean="0">
                <a:sym typeface="Wingdings" panose="05000000000000000000" pitchFamily="2" charset="2"/>
              </a:rPr>
              <a:t>!</a:t>
            </a:r>
            <a:endParaRPr lang="en-US" sz="230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175" y="1484784"/>
            <a:ext cx="5991225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99592" y="1628800"/>
            <a:ext cx="1281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>
                <a:latin typeface="Calibri" panose="020F0502020204030204" pitchFamily="34" charset="0"/>
              </a:rPr>
              <a:t>theArray</a:t>
            </a:r>
            <a:endParaRPr lang="en-US" sz="2400"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39952" y="306896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>
                <a:latin typeface="Calibri" panose="020F0502020204030204" pitchFamily="34" charset="0"/>
              </a:rPr>
              <a:t>currentSize = 4</a:t>
            </a:r>
            <a:endParaRPr lang="en-US" sz="2400">
              <a:latin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6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Mảng vòng tròn</a:t>
            </a:r>
            <a:endParaRPr 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863" y="2234481"/>
            <a:ext cx="6010275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47864" y="1772816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>
                <a:latin typeface="Calibri" panose="020F0502020204030204" pitchFamily="34" charset="0"/>
              </a:rPr>
              <a:t>Trạng thái </a:t>
            </a:r>
            <a:r>
              <a:rPr lang="en-US" sz="2400" smtClean="0">
                <a:latin typeface="Calibri" panose="020F0502020204030204" pitchFamily="34" charset="0"/>
              </a:rPr>
              <a:t>hiện tại</a:t>
            </a:r>
            <a:endParaRPr lang="en-US" sz="2400">
              <a:latin typeface="Calibri" panose="020F0502020204030204" pitchFamily="34" charset="0"/>
            </a:endParaRP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4800178"/>
            <a:ext cx="601980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491880" y="4365104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>
                <a:latin typeface="Calibri" panose="020F0502020204030204" pitchFamily="34" charset="0"/>
              </a:rPr>
              <a:t>Sau </a:t>
            </a:r>
            <a:r>
              <a:rPr lang="en-US" sz="2400" b="1" smtClean="0">
                <a:latin typeface="Calibri" panose="020F0502020204030204" pitchFamily="34" charset="0"/>
              </a:rPr>
              <a:t>enqueue(1)</a:t>
            </a:r>
            <a:endParaRPr lang="en-US" sz="2400" b="1">
              <a:latin typeface="Calibri" panose="020F050202020403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78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Mảng vòng tròn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59832" y="4365104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>
                <a:latin typeface="Calibri" panose="020F0502020204030204" pitchFamily="34" charset="0"/>
              </a:rPr>
              <a:t>Sau </a:t>
            </a:r>
            <a:r>
              <a:rPr lang="en-US" sz="2400" b="1" smtClean="0">
                <a:latin typeface="Calibri" panose="020F0502020204030204" pitchFamily="34" charset="0"/>
              </a:rPr>
              <a:t>dequeue</a:t>
            </a:r>
            <a:r>
              <a:rPr lang="en-US" sz="2400" smtClean="0">
                <a:latin typeface="Calibri" panose="020F0502020204030204" pitchFamily="34" charset="0"/>
              </a:rPr>
              <a:t> (trả về 2)</a:t>
            </a:r>
            <a:endParaRPr lang="en-US" sz="2400">
              <a:latin typeface="Calibri" panose="020F0502020204030204" pitchFamily="34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2306489"/>
            <a:ext cx="59817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419872" y="1844824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>
                <a:latin typeface="Calibri" panose="020F0502020204030204" pitchFamily="34" charset="0"/>
              </a:rPr>
              <a:t>Sau </a:t>
            </a:r>
            <a:r>
              <a:rPr lang="en-US" sz="2400" b="1" smtClean="0">
                <a:latin typeface="Calibri" panose="020F0502020204030204" pitchFamily="34" charset="0"/>
              </a:rPr>
              <a:t>enqueue(3)</a:t>
            </a:r>
            <a:endParaRPr lang="en-US" sz="2400" b="1">
              <a:latin typeface="Calibri" panose="020F0502020204030204" pitchFamily="34" charset="0"/>
            </a:endParaRP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963" y="4869160"/>
            <a:ext cx="5934075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541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Mảng vòng tròn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59832" y="4365104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>
                <a:latin typeface="Calibri" panose="020F0502020204030204" pitchFamily="34" charset="0"/>
              </a:rPr>
              <a:t>Sau </a:t>
            </a:r>
            <a:r>
              <a:rPr lang="en-US" sz="2400" b="1" smtClean="0">
                <a:latin typeface="Calibri" panose="020F0502020204030204" pitchFamily="34" charset="0"/>
              </a:rPr>
              <a:t>dequeue</a:t>
            </a:r>
            <a:r>
              <a:rPr lang="en-US" sz="2400" smtClean="0">
                <a:latin typeface="Calibri" panose="020F0502020204030204" pitchFamily="34" charset="0"/>
              </a:rPr>
              <a:t> (trả về 1)</a:t>
            </a:r>
            <a:endParaRPr lang="en-US" sz="2400">
              <a:latin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31840" y="1844824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>
                <a:latin typeface="Calibri" panose="020F0502020204030204" pitchFamily="34" charset="0"/>
              </a:rPr>
              <a:t>Sau </a:t>
            </a:r>
            <a:r>
              <a:rPr lang="en-US" sz="2400" b="1" smtClean="0">
                <a:latin typeface="Calibri" panose="020F0502020204030204" pitchFamily="34" charset="0"/>
              </a:rPr>
              <a:t>dequeue </a:t>
            </a:r>
            <a:r>
              <a:rPr lang="en-US" sz="2400" smtClean="0">
                <a:latin typeface="Calibri" panose="020F0502020204030204" pitchFamily="34" charset="0"/>
              </a:rPr>
              <a:t>(trả về 4)</a:t>
            </a:r>
            <a:endParaRPr lang="en-US" sz="2400">
              <a:latin typeface="Calibri" panose="020F0502020204030204" pitchFamily="34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2276872"/>
            <a:ext cx="590550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8" y="4797152"/>
            <a:ext cx="5915025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185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Mảng vòng tròn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437112"/>
            <a:ext cx="8229600" cy="2039888"/>
          </a:xfrm>
        </p:spPr>
        <p:txBody>
          <a:bodyPr>
            <a:normAutofit/>
          </a:bodyPr>
          <a:lstStyle/>
          <a:p>
            <a:pPr marL="228600" indent="0">
              <a:buNone/>
            </a:pPr>
            <a:r>
              <a:rPr lang="en-US" sz="2800" smtClean="0"/>
              <a:t>Chú ý: Vì front có thể nằm trước hoặc sau back, nên không thể biết khi nào </a:t>
            </a:r>
            <a:r>
              <a:rPr lang="en-US" sz="2800" b="1" i="1" smtClean="0"/>
              <a:t>hàng đợi rỗng</a:t>
            </a:r>
            <a:r>
              <a:rPr lang="en-US" sz="2800" smtClean="0"/>
              <a:t> nếu chỉ căn cứ vào front và back </a:t>
            </a:r>
            <a:r>
              <a:rPr lang="en-US" sz="2800" smtClean="0">
                <a:sym typeface="Symbol" panose="05050102010706020507" pitchFamily="18" charset="2"/>
              </a:rPr>
              <a:t> phải kiểm tra currentSize!</a:t>
            </a:r>
            <a:endParaRPr lang="en-US" sz="280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438" y="2348880"/>
            <a:ext cx="5953125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131840" y="1844824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>
                <a:latin typeface="Calibri" panose="020F0502020204030204" pitchFamily="34" charset="0"/>
              </a:rPr>
              <a:t>Sau </a:t>
            </a:r>
            <a:r>
              <a:rPr lang="en-US" sz="2400" b="1" smtClean="0">
                <a:latin typeface="Calibri" panose="020F0502020204030204" pitchFamily="34" charset="0"/>
              </a:rPr>
              <a:t>dequeue </a:t>
            </a:r>
            <a:r>
              <a:rPr lang="en-US" sz="2400" smtClean="0">
                <a:latin typeface="Calibri" panose="020F0502020204030204" pitchFamily="34" charset="0"/>
              </a:rPr>
              <a:t>(trả về 3)</a:t>
            </a:r>
            <a:endParaRPr lang="en-US" sz="2400">
              <a:latin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9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Một số ứng dụng của hàng đợi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smtClean="0"/>
              <a:t>Xếp các tác vụ in ấn vào hàng đợi khi chúng được gửi tới cùng một máy in.</a:t>
            </a:r>
          </a:p>
          <a:p>
            <a:pPr lvl="1"/>
            <a:r>
              <a:rPr lang="en-US" sz="2800" smtClean="0"/>
              <a:t>Trên thực tế, ta có thể hủy một tác vụ in nằm giữa hàng đợi </a:t>
            </a:r>
            <a:r>
              <a:rPr lang="en-US" sz="2800" smtClean="0">
                <a:sym typeface="Symbol" panose="05050102010706020507" pitchFamily="18" charset="2"/>
              </a:rPr>
              <a:t> không phải hàng đợi đúng nghĩa!</a:t>
            </a:r>
            <a:endParaRPr lang="en-US" sz="2800" smtClean="0"/>
          </a:p>
          <a:p>
            <a:r>
              <a:rPr lang="en-US" sz="2800" smtClean="0"/>
              <a:t>Xếp các cuộc gọi tới tổng đài chăm sóc khách hàng vào hàng đợi khi tất cả các nhân viên tổng đài đều đang </a:t>
            </a:r>
            <a:r>
              <a:rPr lang="en-US" sz="2800" smtClean="0"/>
              <a:t>bận.</a:t>
            </a:r>
            <a:endParaRPr lang="en-US" sz="2800" smtClean="0"/>
          </a:p>
          <a:p>
            <a:r>
              <a:rPr lang="en-US" sz="2800" smtClean="0"/>
              <a:t>Xếp các gói tin gửi từ nguồn tới đích (trong mạng máy tính) vào hàng đợi (ở đích) để chờ xử lý.</a:t>
            </a:r>
            <a:endParaRPr lang="en-US" sz="2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24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mtClean="0"/>
              <a:t>Bài tập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smtClean="0"/>
              <a:t>1. </a:t>
            </a:r>
            <a:r>
              <a:rPr lang="en-US" sz="2600" smtClean="0"/>
              <a:t>Nêu cách thực hiện các thao tác lấy kích thước và kiểm tra rỗng của ngăn xếp trong các trường hợp sau:</a:t>
            </a:r>
          </a:p>
          <a:p>
            <a:pPr marL="914400" indent="-566738">
              <a:buAutoNum type="alphaLcParenBoth"/>
            </a:pPr>
            <a:r>
              <a:rPr lang="en-US" sz="2600" smtClean="0"/>
              <a:t>Cài đặt ngăn xếp bằng danh sách liên kết đơn.</a:t>
            </a:r>
          </a:p>
          <a:p>
            <a:pPr marL="914400" indent="-566738">
              <a:buAutoNum type="alphaLcParenBoth"/>
            </a:pPr>
            <a:r>
              <a:rPr lang="en-US" sz="2600"/>
              <a:t>Cài đặt ngăn xếp bằng </a:t>
            </a:r>
            <a:r>
              <a:rPr lang="en-US" sz="2600" smtClean="0"/>
              <a:t>mảng.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2600" b="1" smtClean="0"/>
              <a:t>2. </a:t>
            </a:r>
            <a:r>
              <a:rPr lang="en-US" sz="2600" smtClean="0"/>
              <a:t>Đề xuất cách thực hiện hai ngăn xếp dùng chung một mảng.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2600" b="1" smtClean="0"/>
              <a:t>3.</a:t>
            </a:r>
            <a:r>
              <a:rPr lang="en-US" sz="2600" smtClean="0"/>
              <a:t> Đề xuất cấu trúc dữ liệu hỗ trợ hai thao tác push và pop, như trong trường hợp ngăn xếp, nhưng hỗ trợ thêm thao tác </a:t>
            </a:r>
            <a:r>
              <a:rPr lang="en-US" sz="2600" b="1" smtClean="0"/>
              <a:t>findMin</a:t>
            </a:r>
            <a:r>
              <a:rPr lang="en-US" sz="2600" smtClean="0"/>
              <a:t> trả về phần tử nhỏ nhất trong thời gian O(1).</a:t>
            </a:r>
            <a:endParaRPr lang="en-US" sz="2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193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mtClean="0"/>
              <a:t>Bài tập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smtClean="0"/>
              <a:t>4.</a:t>
            </a:r>
            <a:r>
              <a:rPr lang="en-US" sz="2600" smtClean="0"/>
              <a:t> Xét một hàng đợi kiểu mảng vòng tròn. Hãy chỉ ra dãy thao tác enqueue và dequeue phải thực hiện để chuyển hàng đợi từ trạng thái 1 sang trạng thái 2:</a:t>
            </a:r>
          </a:p>
          <a:p>
            <a:pPr marL="0" indent="0">
              <a:buNone/>
            </a:pPr>
            <a:endParaRPr lang="en-US" sz="2600" smtClean="0"/>
          </a:p>
          <a:p>
            <a:pPr marL="0" indent="0">
              <a:buNone/>
            </a:pPr>
            <a:endParaRPr lang="en-US" sz="2600"/>
          </a:p>
          <a:p>
            <a:pPr marL="0" indent="0">
              <a:buNone/>
            </a:pPr>
            <a:endParaRPr lang="en-US" sz="2600" smtClean="0"/>
          </a:p>
          <a:p>
            <a:pPr marL="0" indent="0">
              <a:buNone/>
            </a:pPr>
            <a:endParaRPr lang="en-US" sz="2600" smtClean="0"/>
          </a:p>
          <a:p>
            <a:pPr marL="0" indent="0">
              <a:spcBef>
                <a:spcPts val="600"/>
              </a:spcBef>
              <a:buNone/>
            </a:pPr>
            <a:r>
              <a:rPr lang="en-US" sz="2600" b="1" smtClean="0"/>
              <a:t>5.</a:t>
            </a:r>
            <a:r>
              <a:rPr lang="en-US" sz="2600" smtClean="0"/>
              <a:t> </a:t>
            </a:r>
            <a:r>
              <a:rPr lang="en-US" sz="2600"/>
              <a:t>Đ</a:t>
            </a:r>
            <a:r>
              <a:rPr lang="en-US" sz="2600" smtClean="0"/>
              <a:t>ề xuất</a:t>
            </a:r>
            <a:r>
              <a:rPr lang="en-US" sz="2600" smtClean="0"/>
              <a:t> </a:t>
            </a:r>
            <a:r>
              <a:rPr lang="en-US" sz="2600"/>
              <a:t>cách thực hiện hàng đợi dùng danh sách liên kết </a:t>
            </a:r>
            <a:r>
              <a:rPr lang="en-US" sz="2600" smtClean="0"/>
              <a:t>đơn.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E512B-1003-47C1-A1C1-7B7D3ED31612}" type="slidenum">
              <a:rPr lang="en-US" smtClean="0"/>
              <a:pPr/>
              <a:t>36</a:t>
            </a:fld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1187624" y="3129136"/>
            <a:ext cx="6676288" cy="1235968"/>
            <a:chOff x="1187624" y="3129136"/>
            <a:chExt cx="6676288" cy="1235968"/>
          </a:xfrm>
        </p:grpSpPr>
        <p:sp>
          <p:nvSpPr>
            <p:cNvPr id="9" name="Rectangle 8"/>
            <p:cNvSpPr/>
            <p:nvPr/>
          </p:nvSpPr>
          <p:spPr>
            <a:xfrm>
              <a:off x="1696312" y="3129136"/>
              <a:ext cx="576064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272376" y="3129136"/>
              <a:ext cx="576064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smtClean="0">
                  <a:solidFill>
                    <a:schemeClr val="tx1"/>
                  </a:solidFill>
                  <a:latin typeface="Calibri" panose="020F0502020204030204" pitchFamily="34" charset="0"/>
                </a:rPr>
                <a:t>12</a:t>
              </a:r>
              <a:endParaRPr lang="en-US" sz="24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848440" y="3129136"/>
              <a:ext cx="576064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smtClean="0">
                  <a:solidFill>
                    <a:schemeClr val="tx1"/>
                  </a:solidFill>
                  <a:latin typeface="Calibri" panose="020F0502020204030204" pitchFamily="34" charset="0"/>
                </a:rPr>
                <a:t>35</a:t>
              </a:r>
              <a:endParaRPr lang="en-US" sz="24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424504" y="3129136"/>
              <a:ext cx="576064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144360" y="3964994"/>
              <a:ext cx="8640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smtClean="0">
                  <a:latin typeface="Calibri" panose="020F0502020204030204" pitchFamily="34" charset="0"/>
                  <a:cs typeface="Calibri" panose="020F0502020204030204" pitchFamily="34" charset="0"/>
                </a:rPr>
                <a:t>front</a:t>
              </a:r>
              <a:endParaRPr lang="en-US" sz="2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937592" y="3964994"/>
              <a:ext cx="8640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smtClean="0">
                  <a:latin typeface="Calibri" panose="020F0502020204030204" pitchFamily="34" charset="0"/>
                  <a:cs typeface="Calibri" panose="020F0502020204030204" pitchFamily="34" charset="0"/>
                </a:rPr>
                <a:t>back</a:t>
              </a:r>
              <a:endParaRPr lang="en-US" sz="2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 flipV="1">
              <a:off x="2576408" y="3705200"/>
              <a:ext cx="0" cy="3340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3129632" y="3705200"/>
              <a:ext cx="0" cy="3340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5559656" y="3129136"/>
              <a:ext cx="576064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smtClean="0">
                  <a:solidFill>
                    <a:schemeClr val="tx1"/>
                  </a:solidFill>
                  <a:latin typeface="Calibri" panose="020F0502020204030204" pitchFamily="34" charset="0"/>
                </a:rPr>
                <a:t>17</a:t>
              </a:r>
              <a:endParaRPr lang="en-US" sz="24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135720" y="3129136"/>
              <a:ext cx="576064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smtClean="0">
                  <a:solidFill>
                    <a:schemeClr val="tx1"/>
                  </a:solidFill>
                  <a:latin typeface="Calibri" panose="020F0502020204030204" pitchFamily="34" charset="0"/>
                </a:rPr>
                <a:t>18</a:t>
              </a:r>
              <a:endParaRPr lang="en-US" sz="24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711784" y="3129136"/>
              <a:ext cx="576064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smtClean="0">
                  <a:solidFill>
                    <a:schemeClr val="tx1"/>
                  </a:solidFill>
                  <a:latin typeface="Calibri" panose="020F0502020204030204" pitchFamily="34" charset="0"/>
                </a:rPr>
                <a:t>35</a:t>
              </a:r>
              <a:endParaRPr lang="en-US" sz="24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287848" y="3129136"/>
              <a:ext cx="576064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smtClean="0">
                  <a:solidFill>
                    <a:schemeClr val="tx1"/>
                  </a:solidFill>
                  <a:latin typeface="Calibri" panose="020F0502020204030204" pitchFamily="34" charset="0"/>
                </a:rPr>
                <a:t>26</a:t>
              </a:r>
              <a:endParaRPr lang="en-US" sz="24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736872" y="3964994"/>
              <a:ext cx="8640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smtClean="0">
                  <a:latin typeface="Calibri" panose="020F0502020204030204" pitchFamily="34" charset="0"/>
                  <a:cs typeface="Calibri" panose="020F0502020204030204" pitchFamily="34" charset="0"/>
                </a:rPr>
                <a:t>front</a:t>
              </a:r>
              <a:endParaRPr lang="en-US" sz="2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016792" y="3964994"/>
              <a:ext cx="8640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smtClean="0">
                  <a:latin typeface="Calibri" panose="020F0502020204030204" pitchFamily="34" charset="0"/>
                  <a:cs typeface="Calibri" panose="020F0502020204030204" pitchFamily="34" charset="0"/>
                </a:rPr>
                <a:t>back</a:t>
              </a:r>
              <a:endParaRPr lang="en-US" sz="2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 flipV="1">
              <a:off x="7024904" y="3705200"/>
              <a:ext cx="0" cy="3340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V="1">
              <a:off x="6424856" y="3705200"/>
              <a:ext cx="0" cy="3340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1187624" y="3213172"/>
              <a:ext cx="6480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smtClean="0">
                  <a:latin typeface="Calibri" panose="020F0502020204030204" pitchFamily="34" charset="0"/>
                  <a:cs typeface="Calibri" panose="020F0502020204030204" pitchFamily="34" charset="0"/>
                </a:rPr>
                <a:t>(1)</a:t>
              </a:r>
              <a:endParaRPr lang="en-US" sz="20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032141" y="3213172"/>
              <a:ext cx="6480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smtClean="0">
                  <a:latin typeface="Calibri" panose="020F0502020204030204" pitchFamily="34" charset="0"/>
                  <a:cs typeface="Calibri" panose="020F0502020204030204" pitchFamily="34" charset="0"/>
                </a:rPr>
                <a:t>(2)</a:t>
              </a:r>
              <a:endParaRPr lang="en-US" sz="20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04051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7615</TotalTime>
  <Words>1590</Words>
  <Application>Microsoft Office PowerPoint</Application>
  <PresentationFormat>On-screen Show (4:3)</PresentationFormat>
  <Paragraphs>213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Consolas</vt:lpstr>
      <vt:lpstr>Symbol</vt:lpstr>
      <vt:lpstr>Wingdings</vt:lpstr>
      <vt:lpstr>Clarity</vt:lpstr>
      <vt:lpstr>Ngăn xếp và Hàng đợi (Stacks and Queues)</vt:lpstr>
      <vt:lpstr>Nội dung</vt:lpstr>
      <vt:lpstr>1. Ngăn xếp</vt:lpstr>
      <vt:lpstr>Ngăn xếp</vt:lpstr>
      <vt:lpstr>Cài đặt ngăn xếp – cách 1</vt:lpstr>
      <vt:lpstr>Cài đặt ngăn xếp – cách 2</vt:lpstr>
      <vt:lpstr>Một số ứng dụng của ngăn xếp</vt:lpstr>
      <vt:lpstr>Cân bằng thẻ trong trang HTML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Định giá biểu thức hậu tố</vt:lpstr>
      <vt:lpstr>Định giá biểu thức hậu tố (tiếp)</vt:lpstr>
      <vt:lpstr>Ví dụ định giá biểu thức hậu tố</vt:lpstr>
      <vt:lpstr>6 5 2 3 + 8 ∗ + 3 + ∗</vt:lpstr>
      <vt:lpstr>6 5 2 3 + 8 ∗ + 3 + ∗</vt:lpstr>
      <vt:lpstr>6 5 2 3 + 8 ∗ + 3 + ∗</vt:lpstr>
      <vt:lpstr>6 5 2 3 + 8 ∗ + 3 + ∗</vt:lpstr>
      <vt:lpstr>6 5 2 3 + 8 ∗ + 3 + ∗</vt:lpstr>
      <vt:lpstr>6 5 2 3 + 8 ∗ + 3 + ∗</vt:lpstr>
      <vt:lpstr>6 5 2 3 + 8 ∗ + 3 + ∗</vt:lpstr>
      <vt:lpstr>2. Hàng đợi</vt:lpstr>
      <vt:lpstr>Hàng đợi</vt:lpstr>
      <vt:lpstr>Cài đặt hàng đợi</vt:lpstr>
      <vt:lpstr>Cài đặt hàng đợi dùng mảng</vt:lpstr>
      <vt:lpstr>Mảng vòng tròn</vt:lpstr>
      <vt:lpstr>Mảng vòng tròn</vt:lpstr>
      <vt:lpstr>Mảng vòng tròn</vt:lpstr>
      <vt:lpstr>Mảng vòng tròn</vt:lpstr>
      <vt:lpstr>Một số ứng dụng của hàng đợi</vt:lpstr>
      <vt:lpstr>Bài tập</vt:lpstr>
      <vt:lpstr>Bài tập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Ngăn xếp và Hàng đợi</dc:title>
  <dc:creator>Nguyen Manh Hien</dc:creator>
  <cp:lastModifiedBy>Hien M. Nguyen</cp:lastModifiedBy>
  <cp:revision>616</cp:revision>
  <cp:lastPrinted>2014-05-05T04:59:16Z</cp:lastPrinted>
  <dcterms:created xsi:type="dcterms:W3CDTF">2013-10-15T13:29:17Z</dcterms:created>
  <dcterms:modified xsi:type="dcterms:W3CDTF">2022-04-26T10:32:51Z</dcterms:modified>
</cp:coreProperties>
</file>