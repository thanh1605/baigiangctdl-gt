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2" r:id="rId1"/>
  </p:sldMasterIdLst>
  <p:notesMasterIdLst>
    <p:notesMasterId r:id="rId34"/>
  </p:notesMasterIdLst>
  <p:handoutMasterIdLst>
    <p:handoutMasterId r:id="rId35"/>
  </p:handoutMasterIdLst>
  <p:sldIdLst>
    <p:sldId id="256" r:id="rId2"/>
    <p:sldId id="287" r:id="rId3"/>
    <p:sldId id="275" r:id="rId4"/>
    <p:sldId id="273" r:id="rId5"/>
    <p:sldId id="288" r:id="rId6"/>
    <p:sldId id="289" r:id="rId7"/>
    <p:sldId id="290" r:id="rId8"/>
    <p:sldId id="291" r:id="rId9"/>
    <p:sldId id="293" r:id="rId10"/>
    <p:sldId id="295" r:id="rId11"/>
    <p:sldId id="294" r:id="rId12"/>
    <p:sldId id="296" r:id="rId13"/>
    <p:sldId id="297" r:id="rId14"/>
    <p:sldId id="298" r:id="rId15"/>
    <p:sldId id="299" r:id="rId16"/>
    <p:sldId id="300" r:id="rId17"/>
    <p:sldId id="301" r:id="rId18"/>
    <p:sldId id="302" r:id="rId19"/>
    <p:sldId id="308" r:id="rId20"/>
    <p:sldId id="309" r:id="rId21"/>
    <p:sldId id="304" r:id="rId22"/>
    <p:sldId id="305" r:id="rId23"/>
    <p:sldId id="306" r:id="rId24"/>
    <p:sldId id="307" r:id="rId25"/>
    <p:sldId id="310" r:id="rId26"/>
    <p:sldId id="311" r:id="rId27"/>
    <p:sldId id="312" r:id="rId28"/>
    <p:sldId id="314" r:id="rId29"/>
    <p:sldId id="315" r:id="rId30"/>
    <p:sldId id="316" r:id="rId31"/>
    <p:sldId id="317" r:id="rId32"/>
    <p:sldId id="318" r:id="rId33"/>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105" d="100"/>
          <a:sy n="105" d="100"/>
        </p:scale>
        <p:origin x="1716"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712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29761" y="0"/>
            <a:ext cx="2929837" cy="497126"/>
          </a:xfrm>
          <a:prstGeom prst="rect">
            <a:avLst/>
          </a:prstGeom>
        </p:spPr>
        <p:txBody>
          <a:bodyPr vert="horz" lIns="91440" tIns="45720" rIns="91440" bIns="45720" rtlCol="0"/>
          <a:lstStyle>
            <a:lvl1pPr algn="r">
              <a:defRPr sz="1200"/>
            </a:lvl1pPr>
          </a:lstStyle>
          <a:p>
            <a:fld id="{F00DF94A-06C8-486C-B069-5EC310FC209D}" type="datetimeFigureOut">
              <a:rPr lang="en-US" smtClean="0"/>
              <a:t>22-Apr-22</a:t>
            </a:fld>
            <a:endParaRPr lang="en-US"/>
          </a:p>
        </p:txBody>
      </p:sp>
      <p:sp>
        <p:nvSpPr>
          <p:cNvPr id="4" name="Footer Placeholder 3"/>
          <p:cNvSpPr>
            <a:spLocks noGrp="1"/>
          </p:cNvSpPr>
          <p:nvPr>
            <p:ph type="ftr" sz="quarter" idx="2"/>
          </p:nvPr>
        </p:nvSpPr>
        <p:spPr>
          <a:xfrm>
            <a:off x="0" y="9443662"/>
            <a:ext cx="2929837" cy="497126"/>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29761" y="9443662"/>
            <a:ext cx="2929837" cy="497126"/>
          </a:xfrm>
          <a:prstGeom prst="rect">
            <a:avLst/>
          </a:prstGeom>
        </p:spPr>
        <p:txBody>
          <a:bodyPr vert="horz" lIns="91440" tIns="45720" rIns="91440" bIns="45720" rtlCol="0" anchor="b"/>
          <a:lstStyle>
            <a:lvl1pPr algn="r">
              <a:defRPr sz="1200"/>
            </a:lvl1pPr>
          </a:lstStyle>
          <a:p>
            <a:fld id="{6258FB2E-03BE-42AC-975E-A3D12804EA7C}" type="slidenum">
              <a:rPr lang="en-US" smtClean="0"/>
              <a:t>‹#›</a:t>
            </a:fld>
            <a:endParaRPr lang="en-US"/>
          </a:p>
        </p:txBody>
      </p:sp>
    </p:spTree>
    <p:extLst>
      <p:ext uri="{BB962C8B-B14F-4D97-AF65-F5344CB8AC3E}">
        <p14:creationId xmlns:p14="http://schemas.microsoft.com/office/powerpoint/2010/main" val="32759373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712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29761" y="0"/>
            <a:ext cx="2929837" cy="497126"/>
          </a:xfrm>
          <a:prstGeom prst="rect">
            <a:avLst/>
          </a:prstGeom>
        </p:spPr>
        <p:txBody>
          <a:bodyPr vert="horz" lIns="91440" tIns="45720" rIns="91440" bIns="45720" rtlCol="0"/>
          <a:lstStyle>
            <a:lvl1pPr algn="r">
              <a:defRPr sz="1200"/>
            </a:lvl1pPr>
          </a:lstStyle>
          <a:p>
            <a:fld id="{2D8B0F34-4596-48C7-A5AC-D6437FE99C00}" type="datetimeFigureOut">
              <a:rPr lang="en-US" smtClean="0"/>
              <a:t>22-Apr-22</a:t>
            </a:fld>
            <a:endParaRPr lang="en-US"/>
          </a:p>
        </p:txBody>
      </p:sp>
      <p:sp>
        <p:nvSpPr>
          <p:cNvPr id="4" name="Slide Image Placeholder 3"/>
          <p:cNvSpPr>
            <a:spLocks noGrp="1" noRot="1" noChangeAspect="1"/>
          </p:cNvSpPr>
          <p:nvPr>
            <p:ph type="sldImg" idx="2"/>
          </p:nvPr>
        </p:nvSpPr>
        <p:spPr>
          <a:xfrm>
            <a:off x="896938" y="746125"/>
            <a:ext cx="4967287" cy="37274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6117" y="4722694"/>
            <a:ext cx="5408930" cy="4474131"/>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43662"/>
            <a:ext cx="2929837" cy="49712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29761" y="9443662"/>
            <a:ext cx="2929837" cy="497126"/>
          </a:xfrm>
          <a:prstGeom prst="rect">
            <a:avLst/>
          </a:prstGeom>
        </p:spPr>
        <p:txBody>
          <a:bodyPr vert="horz" lIns="91440" tIns="45720" rIns="91440" bIns="45720" rtlCol="0" anchor="b"/>
          <a:lstStyle>
            <a:lvl1pPr algn="r">
              <a:defRPr sz="1200"/>
            </a:lvl1pPr>
          </a:lstStyle>
          <a:p>
            <a:fld id="{EB8DAD11-487F-4BD6-A030-DB934F35AC75}" type="slidenum">
              <a:rPr lang="en-US" smtClean="0"/>
              <a:t>‹#›</a:t>
            </a:fld>
            <a:endParaRPr lang="en-US"/>
          </a:p>
        </p:txBody>
      </p:sp>
    </p:spTree>
    <p:extLst>
      <p:ext uri="{BB962C8B-B14F-4D97-AF65-F5344CB8AC3E}">
        <p14:creationId xmlns:p14="http://schemas.microsoft.com/office/powerpoint/2010/main" val="635867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atin typeface="Calibri" panose="020F0502020204030204" pitchFamily="34" charset="0"/>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normAutofit/>
          </a:bodyPr>
          <a:lstStyle>
            <a:lvl1pPr marL="0" indent="0" algn="l">
              <a:buNone/>
              <a:defRPr sz="3200">
                <a:solidFill>
                  <a:schemeClr val="tx1"/>
                </a:solidFill>
                <a:latin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9956587-B2AE-4DEC-9408-7FD5483CE0EE}" type="datetime1">
              <a:rPr lang="en-US" smtClean="0"/>
              <a:t>22-Apr-22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9E512B-1003-47C1-A1C1-7B7D3ED31612}" type="slidenum">
              <a:rPr lang="en-US" smtClean="0"/>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800">
                <a:latin typeface="Calibri" panose="020F0502020204030204" pitchFamily="34" charset="0"/>
              </a:defRPr>
            </a:lvl1pPr>
          </a:lstStyle>
          <a:p>
            <a:r>
              <a:rPr lang="en-US" smtClean="0"/>
              <a:t>Click to edit Master title style</a:t>
            </a:r>
            <a:endParaRPr lang="en-US"/>
          </a:p>
        </p:txBody>
      </p:sp>
      <p:sp>
        <p:nvSpPr>
          <p:cNvPr id="3" name="Content Placeholder 2"/>
          <p:cNvSpPr>
            <a:spLocks noGrp="1"/>
          </p:cNvSpPr>
          <p:nvPr>
            <p:ph idx="1"/>
          </p:nvPr>
        </p:nvSpPr>
        <p:spPr/>
        <p:txBody>
          <a:bodyPr>
            <a:normAutofit/>
          </a:bodyPr>
          <a:lstStyle>
            <a:lvl1pPr marL="266700" indent="-266700">
              <a:buClrTx/>
              <a:buSzPct val="100000"/>
              <a:buFont typeface="Arial" panose="020B0604020202020204" pitchFamily="34" charset="0"/>
              <a:buChar char="•"/>
              <a:defRPr sz="3200">
                <a:latin typeface="Calibri" panose="020F0502020204030204" pitchFamily="34" charset="0"/>
              </a:defRPr>
            </a:lvl1pPr>
            <a:lvl2pPr marL="625475" indent="-350838">
              <a:buClrTx/>
              <a:buSzPct val="100000"/>
              <a:buFont typeface="Arial" panose="020B0604020202020204" pitchFamily="34" charset="0"/>
              <a:buChar char="−"/>
              <a:defRPr sz="3200">
                <a:latin typeface="Calibri" panose="020F0502020204030204" pitchFamily="34" charset="0"/>
              </a:defRPr>
            </a:lvl2pPr>
            <a:lvl3pPr marL="809625" indent="-261938">
              <a:buClrTx/>
              <a:defRPr sz="3200">
                <a:latin typeface="Calibri" panose="020F0502020204030204" pitchFamily="34" charset="0"/>
              </a:defRPr>
            </a:lvl3pPr>
            <a:lvl4pPr>
              <a:defRPr sz="3200">
                <a:latin typeface="Calibri" panose="020F0502020204030204" pitchFamily="34" charset="0"/>
              </a:defRPr>
            </a:lvl4pPr>
            <a:lvl5pPr>
              <a:defRPr sz="3200">
                <a:latin typeface="Calibri" panose="020F050202020403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EA501EC-72DC-463F-84EC-3BFF7447983A}" type="datetime1">
              <a:rPr lang="en-US" smtClean="0"/>
              <a:t>22-Apr-22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lgn="r">
              <a:defRPr sz="1600" b="0">
                <a:latin typeface="Calibri" panose="020F0502020204030204" pitchFamily="34" charset="0"/>
                <a:cs typeface="Calibri" panose="020F0502020204030204" pitchFamily="34" charset="0"/>
              </a:defRPr>
            </a:lvl1pPr>
          </a:lstStyle>
          <a:p>
            <a:fld id="{E99E512B-1003-47C1-A1C1-7B7D3ED3161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BE581A2-1E49-4ED6-8E56-242FBA019230}" type="datetime1">
              <a:rPr lang="en-US" smtClean="0"/>
              <a:t>22-Apr-22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9E512B-1003-47C1-A1C1-7B7D3ED31612}" type="slidenum">
              <a:rPr lang="en-US" smtClean="0"/>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D420D37-540F-41E5-9C9A-384CF9B49A53}" type="datetime1">
              <a:rPr lang="en-US" smtClean="0"/>
              <a:t>22-Apr-22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9E512B-1003-47C1-A1C1-7B7D3ED3161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376EE0F-F3D1-42C1-B126-7110F939342F}" type="datetime1">
              <a:rPr lang="en-US" smtClean="0"/>
              <a:t>22-Apr-22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9E512B-1003-47C1-A1C1-7B7D3ED31612}" type="slidenum">
              <a:rPr lang="en-US" smtClean="0"/>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132856"/>
            <a:ext cx="8229600" cy="990600"/>
          </a:xfrm>
        </p:spPr>
        <p:txBody>
          <a:bodyPr>
            <a:normAutofit/>
          </a:bodyPr>
          <a:lstStyle>
            <a:lvl1pPr algn="ctr">
              <a:defRPr sz="4800">
                <a:solidFill>
                  <a:srgbClr val="7030A0"/>
                </a:solidFill>
                <a:latin typeface="Calibri" panose="020F0502020204030204" pitchFamily="34" charset="0"/>
                <a:cs typeface="Calibri" panose="020F0502020204030204" pitchFamily="34" charset="0"/>
              </a:defRPr>
            </a:lvl1p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008155B-047F-4102-B2BA-BAA4E8704EDC}" type="datetime1">
              <a:rPr lang="en-US" smtClean="0"/>
              <a:t>22-Apr-22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lgn="r">
              <a:defRPr sz="1600" b="0">
                <a:latin typeface="Calibri" panose="020F0502020204030204" pitchFamily="34" charset="0"/>
                <a:cs typeface="Calibri" panose="020F0502020204030204" pitchFamily="34" charset="0"/>
              </a:defRPr>
            </a:lvl1pPr>
          </a:lstStyle>
          <a:p>
            <a:fld id="{E99E512B-1003-47C1-A1C1-7B7D3ED3161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1BD8FF-F6DE-4DD3-8D0E-A7906D8D7B35}" type="datetime1">
              <a:rPr lang="en-US" smtClean="0"/>
              <a:t>22-Apr-22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99E512B-1003-47C1-A1C1-7B7D3ED3161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CE66E7D-F4DA-4C59-8037-7A0E932C2F72}" type="datetime1">
              <a:rPr lang="en-US" smtClean="0"/>
              <a:t>22-Apr-22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9E512B-1003-47C1-A1C1-7B7D3ED31612}" type="slidenum">
              <a:rPr lang="en-US" smtClean="0"/>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9C2C37F-737F-474A-A3D4-284C537EA8FB}" type="datetime1">
              <a:rPr lang="en-US" smtClean="0"/>
              <a:t>22-Apr-22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9E512B-1003-47C1-A1C1-7B7D3ED3161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85C83AC-6F6B-437A-9F75-1BFFF9C2B239}" type="datetime1">
              <a:rPr lang="en-US" smtClean="0"/>
              <a:t>22-Apr-22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9E512B-1003-47C1-A1C1-7B7D3ED3161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500D755-C278-43D0-9861-B09BB3AB5531}" type="datetime1">
              <a:rPr lang="en-US" smtClean="0"/>
              <a:t>22-Apr-22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9E512B-1003-47C1-A1C1-7B7D3ED3161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1436CB29-22CC-4E79-8894-6E4F6DACC79D}" type="datetime1">
              <a:rPr lang="en-US" smtClean="0"/>
              <a:t>22-Apr-22</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E99E512B-1003-47C1-A1C1-7B7D3ED3161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914400" rtl="0" eaLnBrk="1" latinLnBrk="0" hangingPunct="1">
        <a:spcBef>
          <a:spcPct val="0"/>
        </a:spcBef>
        <a:buNone/>
        <a:defRPr sz="4000" b="1"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8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2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28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28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64704"/>
            <a:ext cx="7848600" cy="2534121"/>
          </a:xfrm>
        </p:spPr>
        <p:txBody>
          <a:bodyPr/>
          <a:lstStyle/>
          <a:p>
            <a:pPr>
              <a:spcBef>
                <a:spcPts val="3000"/>
              </a:spcBef>
              <a:spcAft>
                <a:spcPts val="3000"/>
              </a:spcAft>
            </a:pPr>
            <a:r>
              <a:rPr lang="en-US" cap="none" smtClean="0"/>
              <a:t>Danh sách liên kết</a:t>
            </a:r>
            <a:br>
              <a:rPr lang="en-US" cap="none" smtClean="0"/>
            </a:br>
            <a:r>
              <a:rPr lang="en-US" cap="none" smtClean="0"/>
              <a:t>(Linked Lists)</a:t>
            </a:r>
            <a:endParaRPr lang="en-US" sz="6600" b="0" cap="none">
              <a:solidFill>
                <a:schemeClr val="tx1"/>
              </a:solidFill>
            </a:endParaRPr>
          </a:p>
        </p:txBody>
      </p:sp>
      <p:sp>
        <p:nvSpPr>
          <p:cNvPr id="3" name="Subtitle 2"/>
          <p:cNvSpPr>
            <a:spLocks noGrp="1"/>
          </p:cNvSpPr>
          <p:nvPr>
            <p:ph type="subTitle" idx="1"/>
          </p:nvPr>
        </p:nvSpPr>
        <p:spPr>
          <a:xfrm>
            <a:off x="685800" y="3649216"/>
            <a:ext cx="6982544" cy="2372072"/>
          </a:xfrm>
        </p:spPr>
        <p:txBody>
          <a:bodyPr>
            <a:normAutofit/>
          </a:bodyPr>
          <a:lstStyle/>
          <a:p>
            <a:pPr>
              <a:spcBef>
                <a:spcPts val="0"/>
              </a:spcBef>
            </a:pPr>
            <a:r>
              <a:rPr lang="en-US" sz="2800" b="1">
                <a:solidFill>
                  <a:srgbClr val="7030A0"/>
                </a:solidFill>
              </a:rPr>
              <a:t>Bài giảng môn Cấu trúc dữ liệu và giải thuật</a:t>
            </a:r>
          </a:p>
          <a:p>
            <a:pPr>
              <a:spcBef>
                <a:spcPts val="0"/>
              </a:spcBef>
            </a:pPr>
            <a:r>
              <a:rPr lang="en-US" sz="2800"/>
              <a:t>Khoa Công nghệ thông tin</a:t>
            </a:r>
          </a:p>
          <a:p>
            <a:pPr>
              <a:spcBef>
                <a:spcPts val="0"/>
              </a:spcBef>
            </a:pPr>
            <a:r>
              <a:rPr lang="en-US" sz="2800"/>
              <a:t>Trường Đại học Thủy Lợi</a:t>
            </a:r>
          </a:p>
        </p:txBody>
      </p:sp>
    </p:spTree>
    <p:extLst>
      <p:ext uri="{BB962C8B-B14F-4D97-AF65-F5344CB8AC3E}">
        <p14:creationId xmlns:p14="http://schemas.microsoft.com/office/powerpoint/2010/main" val="41576561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Nội dung</a:t>
            </a:r>
            <a:endParaRPr lang="en-US"/>
          </a:p>
        </p:txBody>
      </p:sp>
      <p:sp>
        <p:nvSpPr>
          <p:cNvPr id="3" name="Content Placeholder 2"/>
          <p:cNvSpPr>
            <a:spLocks noGrp="1"/>
          </p:cNvSpPr>
          <p:nvPr>
            <p:ph idx="1"/>
          </p:nvPr>
        </p:nvSpPr>
        <p:spPr/>
        <p:txBody>
          <a:bodyPr/>
          <a:lstStyle/>
          <a:p>
            <a:pPr marL="514350" indent="-514350">
              <a:buFont typeface="+mj-lt"/>
              <a:buAutoNum type="arabicPeriod"/>
            </a:pPr>
            <a:r>
              <a:rPr lang="en-US" smtClean="0"/>
              <a:t>Danh sách liên kết</a:t>
            </a:r>
          </a:p>
          <a:p>
            <a:pPr marL="514350" indent="-514350">
              <a:buFont typeface="+mj-lt"/>
              <a:buAutoNum type="arabicPeriod"/>
            </a:pPr>
            <a:r>
              <a:rPr lang="en-US" smtClean="0"/>
              <a:t>Danh sách liên kết đơn</a:t>
            </a:r>
          </a:p>
          <a:p>
            <a:pPr marL="514350" indent="-514350">
              <a:buFont typeface="+mj-lt"/>
              <a:buAutoNum type="arabicPeriod"/>
            </a:pPr>
            <a:r>
              <a:rPr lang="en-US" smtClean="0"/>
              <a:t>Danh sách liên kết đôi</a:t>
            </a:r>
          </a:p>
          <a:p>
            <a:pPr marL="514350" indent="-514350">
              <a:buFont typeface="+mj-lt"/>
              <a:buAutoNum type="arabicPeriod"/>
            </a:pPr>
            <a:r>
              <a:rPr lang="en-US" smtClean="0"/>
              <a:t>Danh sách liên kết vòng tròn</a:t>
            </a:r>
          </a:p>
        </p:txBody>
      </p:sp>
      <p:sp>
        <p:nvSpPr>
          <p:cNvPr id="4" name="Slide Number Placeholder 3"/>
          <p:cNvSpPr>
            <a:spLocks noGrp="1"/>
          </p:cNvSpPr>
          <p:nvPr>
            <p:ph type="sldNum" sz="quarter" idx="12"/>
          </p:nvPr>
        </p:nvSpPr>
        <p:spPr/>
        <p:txBody>
          <a:bodyPr/>
          <a:lstStyle/>
          <a:p>
            <a:fld id="{E99E512B-1003-47C1-A1C1-7B7D3ED31612}" type="slidenum">
              <a:rPr lang="en-US" smtClean="0"/>
              <a:t>2</a:t>
            </a:fld>
            <a:endParaRPr lang="en-US"/>
          </a:p>
        </p:txBody>
      </p:sp>
    </p:spTree>
    <p:extLst>
      <p:ext uri="{BB962C8B-B14F-4D97-AF65-F5344CB8AC3E}">
        <p14:creationId xmlns:p14="http://schemas.microsoft.com/office/powerpoint/2010/main" val="21859054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 Danh sách liên kết</a:t>
            </a:r>
            <a:endParaRPr lang="en-US"/>
          </a:p>
        </p:txBody>
      </p:sp>
      <p:sp>
        <p:nvSpPr>
          <p:cNvPr id="3" name="Slide Number Placeholder 2"/>
          <p:cNvSpPr>
            <a:spLocks noGrp="1"/>
          </p:cNvSpPr>
          <p:nvPr>
            <p:ph type="sldNum" sz="quarter" idx="12"/>
          </p:nvPr>
        </p:nvSpPr>
        <p:spPr/>
        <p:txBody>
          <a:bodyPr/>
          <a:lstStyle/>
          <a:p>
            <a:fld id="{E99E512B-1003-47C1-A1C1-7B7D3ED31612}" type="slidenum">
              <a:rPr lang="en-US" smtClean="0"/>
              <a:t>3</a:t>
            </a:fld>
            <a:endParaRPr lang="en-US"/>
          </a:p>
        </p:txBody>
      </p:sp>
    </p:spTree>
    <p:extLst>
      <p:ext uri="{BB962C8B-B14F-4D97-AF65-F5344CB8AC3E}">
        <p14:creationId xmlns:p14="http://schemas.microsoft.com/office/powerpoint/2010/main" val="11657232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Danh sách liên kết</a:t>
            </a:r>
            <a:endParaRPr lang="en-US"/>
          </a:p>
        </p:txBody>
      </p:sp>
      <p:sp>
        <p:nvSpPr>
          <p:cNvPr id="3" name="Content Placeholder 2"/>
          <p:cNvSpPr>
            <a:spLocks noGrp="1"/>
          </p:cNvSpPr>
          <p:nvPr>
            <p:ph idx="1"/>
          </p:nvPr>
        </p:nvSpPr>
        <p:spPr/>
        <p:txBody>
          <a:bodyPr>
            <a:noAutofit/>
          </a:bodyPr>
          <a:lstStyle/>
          <a:p>
            <a:r>
              <a:rPr lang="en-US" sz="2800" smtClean="0"/>
              <a:t>Là một tập nút liên kết với nhau theo trật tự tuyến tính (có trước có sau).</a:t>
            </a:r>
          </a:p>
          <a:p>
            <a:r>
              <a:rPr lang="en-US" sz="2800" smtClean="0"/>
              <a:t>Mỗi nút chứa:</a:t>
            </a:r>
          </a:p>
          <a:p>
            <a:pPr lvl="1"/>
            <a:r>
              <a:rPr lang="en-US" sz="2800" smtClean="0"/>
              <a:t>một phần tử;</a:t>
            </a:r>
          </a:p>
          <a:p>
            <a:pPr lvl="1"/>
            <a:r>
              <a:rPr lang="en-US" sz="2800" smtClean="0"/>
              <a:t>một hoặc hai liên kết tới nút lân cận.</a:t>
            </a:r>
          </a:p>
          <a:p>
            <a:r>
              <a:rPr lang="en-US" sz="2800" smtClean="0"/>
              <a:t>Các nút nằm rải rác trong bộ nhớ máy tính (trong khi các phần tử của mảng và vector nằm liên tục).</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648" y="5373216"/>
            <a:ext cx="7115752" cy="8530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lide Number Placeholder 3"/>
          <p:cNvSpPr>
            <a:spLocks noGrp="1"/>
          </p:cNvSpPr>
          <p:nvPr>
            <p:ph type="sldNum" sz="quarter" idx="12"/>
          </p:nvPr>
        </p:nvSpPr>
        <p:spPr/>
        <p:txBody>
          <a:bodyPr/>
          <a:lstStyle/>
          <a:p>
            <a:fld id="{E99E512B-1003-47C1-A1C1-7B7D3ED31612}" type="slidenum">
              <a:rPr lang="en-US" smtClean="0"/>
              <a:t>4</a:t>
            </a:fld>
            <a:endParaRPr lang="en-US"/>
          </a:p>
        </p:txBody>
      </p:sp>
    </p:spTree>
    <p:extLst>
      <p:ext uri="{BB962C8B-B14F-4D97-AF65-F5344CB8AC3E}">
        <p14:creationId xmlns:p14="http://schemas.microsoft.com/office/powerpoint/2010/main" val="37536702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Các kiểu danh sách liên kết</a:t>
            </a:r>
            <a:endParaRPr lang="en-US"/>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9190" y="2184107"/>
            <a:ext cx="6179648" cy="7408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3538428"/>
            <a:ext cx="7164195" cy="1042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0461" y="5186698"/>
            <a:ext cx="6277106" cy="1266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827584" y="1643608"/>
            <a:ext cx="5112568" cy="461665"/>
          </a:xfrm>
          <a:prstGeom prst="rect">
            <a:avLst/>
          </a:prstGeom>
          <a:noFill/>
        </p:spPr>
        <p:txBody>
          <a:bodyPr wrap="square" rtlCol="0">
            <a:spAutoFit/>
          </a:bodyPr>
          <a:lstStyle/>
          <a:p>
            <a:r>
              <a:rPr lang="en-US" sz="2400" b="1" smtClean="0">
                <a:latin typeface="Calibri" panose="020F0502020204030204" pitchFamily="34" charset="0"/>
                <a:cs typeface="Calibri" panose="020F0502020204030204" pitchFamily="34" charset="0"/>
              </a:rPr>
              <a:t>Danh sách liên kết đơn</a:t>
            </a:r>
            <a:endParaRPr lang="en-US" sz="2400" b="1">
              <a:latin typeface="Calibri" panose="020F0502020204030204" pitchFamily="34" charset="0"/>
              <a:cs typeface="Calibri" panose="020F0502020204030204" pitchFamily="34" charset="0"/>
            </a:endParaRPr>
          </a:p>
        </p:txBody>
      </p:sp>
      <p:sp>
        <p:nvSpPr>
          <p:cNvPr id="8" name="TextBox 7"/>
          <p:cNvSpPr txBox="1"/>
          <p:nvPr/>
        </p:nvSpPr>
        <p:spPr>
          <a:xfrm>
            <a:off x="827584" y="3039343"/>
            <a:ext cx="5112568" cy="461665"/>
          </a:xfrm>
          <a:prstGeom prst="rect">
            <a:avLst/>
          </a:prstGeom>
          <a:noFill/>
        </p:spPr>
        <p:txBody>
          <a:bodyPr wrap="square" rtlCol="0">
            <a:spAutoFit/>
          </a:bodyPr>
          <a:lstStyle/>
          <a:p>
            <a:r>
              <a:rPr lang="en-US" sz="2400" b="1" smtClean="0">
                <a:latin typeface="Calibri" panose="020F0502020204030204" pitchFamily="34" charset="0"/>
                <a:cs typeface="Calibri" panose="020F0502020204030204" pitchFamily="34" charset="0"/>
              </a:rPr>
              <a:t>Danh sách liên kết đôi</a:t>
            </a:r>
            <a:endParaRPr lang="en-US" sz="2400" b="1">
              <a:latin typeface="Calibri" panose="020F0502020204030204" pitchFamily="34" charset="0"/>
              <a:cs typeface="Calibri" panose="020F0502020204030204" pitchFamily="34" charset="0"/>
            </a:endParaRPr>
          </a:p>
        </p:txBody>
      </p:sp>
      <p:sp>
        <p:nvSpPr>
          <p:cNvPr id="9" name="TextBox 8"/>
          <p:cNvSpPr txBox="1"/>
          <p:nvPr/>
        </p:nvSpPr>
        <p:spPr>
          <a:xfrm>
            <a:off x="827584" y="4767535"/>
            <a:ext cx="5112568" cy="461665"/>
          </a:xfrm>
          <a:prstGeom prst="rect">
            <a:avLst/>
          </a:prstGeom>
          <a:noFill/>
        </p:spPr>
        <p:txBody>
          <a:bodyPr wrap="square" rtlCol="0">
            <a:spAutoFit/>
          </a:bodyPr>
          <a:lstStyle/>
          <a:p>
            <a:r>
              <a:rPr lang="en-US" sz="2400" b="1" smtClean="0">
                <a:latin typeface="Calibri" panose="020F0502020204030204" pitchFamily="34" charset="0"/>
                <a:cs typeface="Calibri" panose="020F0502020204030204" pitchFamily="34" charset="0"/>
              </a:rPr>
              <a:t>Danh sách liên kết vòng tròn</a:t>
            </a:r>
            <a:endParaRPr lang="en-US" sz="2400" b="1">
              <a:latin typeface="Calibri" panose="020F0502020204030204" pitchFamily="34" charset="0"/>
              <a:cs typeface="Calibri" panose="020F0502020204030204" pitchFamily="34" charset="0"/>
            </a:endParaRPr>
          </a:p>
        </p:txBody>
      </p:sp>
      <p:sp>
        <p:nvSpPr>
          <p:cNvPr id="3" name="Slide Number Placeholder 2"/>
          <p:cNvSpPr>
            <a:spLocks noGrp="1"/>
          </p:cNvSpPr>
          <p:nvPr>
            <p:ph type="sldNum" sz="quarter" idx="12"/>
          </p:nvPr>
        </p:nvSpPr>
        <p:spPr/>
        <p:txBody>
          <a:bodyPr/>
          <a:lstStyle/>
          <a:p>
            <a:fld id="{E99E512B-1003-47C1-A1C1-7B7D3ED31612}" type="slidenum">
              <a:rPr lang="en-US" smtClean="0"/>
              <a:t>5</a:t>
            </a:fld>
            <a:endParaRPr lang="en-US"/>
          </a:p>
        </p:txBody>
      </p:sp>
    </p:spTree>
    <p:extLst>
      <p:ext uri="{BB962C8B-B14F-4D97-AF65-F5344CB8AC3E}">
        <p14:creationId xmlns:p14="http://schemas.microsoft.com/office/powerpoint/2010/main" val="42116624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 Danh sách liên kết đơn</a:t>
            </a:r>
            <a:endParaRPr lang="en-US"/>
          </a:p>
        </p:txBody>
      </p:sp>
      <p:sp>
        <p:nvSpPr>
          <p:cNvPr id="3" name="Slide Number Placeholder 2"/>
          <p:cNvSpPr>
            <a:spLocks noGrp="1"/>
          </p:cNvSpPr>
          <p:nvPr>
            <p:ph type="sldNum" sz="quarter" idx="12"/>
          </p:nvPr>
        </p:nvSpPr>
        <p:spPr/>
        <p:txBody>
          <a:bodyPr/>
          <a:lstStyle/>
          <a:p>
            <a:fld id="{E99E512B-1003-47C1-A1C1-7B7D3ED31612}" type="slidenum">
              <a:rPr lang="en-US" smtClean="0"/>
              <a:t>6</a:t>
            </a:fld>
            <a:endParaRPr lang="en-US"/>
          </a:p>
        </p:txBody>
      </p:sp>
    </p:spTree>
    <p:extLst>
      <p:ext uri="{BB962C8B-B14F-4D97-AF65-F5344CB8AC3E}">
        <p14:creationId xmlns:p14="http://schemas.microsoft.com/office/powerpoint/2010/main" val="42612127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Danh sách liên kết đơn</a:t>
            </a:r>
            <a:endParaRPr lang="en-US"/>
          </a:p>
        </p:txBody>
      </p:sp>
      <p:sp>
        <p:nvSpPr>
          <p:cNvPr id="4" name="Content Placeholder 3"/>
          <p:cNvSpPr>
            <a:spLocks noGrp="1"/>
          </p:cNvSpPr>
          <p:nvPr>
            <p:ph idx="1"/>
          </p:nvPr>
        </p:nvSpPr>
        <p:spPr>
          <a:xfrm>
            <a:off x="457200" y="2636912"/>
            <a:ext cx="8229600" cy="3840088"/>
          </a:xfrm>
        </p:spPr>
        <p:txBody>
          <a:bodyPr>
            <a:normAutofit/>
          </a:bodyPr>
          <a:lstStyle/>
          <a:p>
            <a:r>
              <a:rPr lang="en-US" sz="2800" smtClean="0"/>
              <a:t>Mỗi nút chỉ có một liên kết trỏ tới nút kế tiếp.</a:t>
            </a:r>
          </a:p>
          <a:p>
            <a:pPr lvl="1"/>
            <a:r>
              <a:rPr lang="en-US" sz="2800" smtClean="0"/>
              <a:t>Riêng nút cuối cùng không có nút kế tiếp, vì vậy con trỏ của nó bằng </a:t>
            </a:r>
            <a:r>
              <a:rPr lang="en-US" sz="2400" smtClean="0">
                <a:latin typeface="Consolas" panose="020B0609020204030204" pitchFamily="49" charset="0"/>
              </a:rPr>
              <a:t>NULL</a:t>
            </a:r>
            <a:r>
              <a:rPr lang="en-US" sz="2800" smtClean="0"/>
              <a:t>.</a:t>
            </a:r>
          </a:p>
          <a:p>
            <a:r>
              <a:rPr lang="en-US" sz="2800" smtClean="0"/>
              <a:t>Các thao tác chính:</a:t>
            </a:r>
          </a:p>
          <a:p>
            <a:pPr lvl="1"/>
            <a:r>
              <a:rPr lang="en-US" sz="2800" smtClean="0"/>
              <a:t>Chèn phần tử mới vào đầu danh sách;</a:t>
            </a:r>
          </a:p>
          <a:p>
            <a:pPr lvl="1"/>
            <a:r>
              <a:rPr lang="en-US" sz="2800" smtClean="0"/>
              <a:t>Xóa phần tử đầu danh sách;</a:t>
            </a:r>
          </a:p>
          <a:p>
            <a:pPr lvl="1"/>
            <a:r>
              <a:rPr lang="en-US" sz="2800" smtClean="0"/>
              <a:t>Lấy phần tử đầu danh sách.</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9189" y="1680051"/>
            <a:ext cx="7380969" cy="8848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E99E512B-1003-47C1-A1C1-7B7D3ED31612}" type="slidenum">
              <a:rPr lang="en-US" smtClean="0"/>
              <a:t>7</a:t>
            </a:fld>
            <a:endParaRPr lang="en-US"/>
          </a:p>
        </p:txBody>
      </p:sp>
    </p:spTree>
    <p:extLst>
      <p:ext uri="{BB962C8B-B14F-4D97-AF65-F5344CB8AC3E}">
        <p14:creationId xmlns:p14="http://schemas.microsoft.com/office/powerpoint/2010/main" val="12087286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Cài đặt danh sách liên kết đơn</a:t>
            </a:r>
            <a:endParaRPr lang="en-US"/>
          </a:p>
        </p:txBody>
      </p:sp>
      <p:sp>
        <p:nvSpPr>
          <p:cNvPr id="3" name="Content Placeholder 2"/>
          <p:cNvSpPr>
            <a:spLocks noGrp="1"/>
          </p:cNvSpPr>
          <p:nvPr>
            <p:ph idx="1"/>
          </p:nvPr>
        </p:nvSpPr>
        <p:spPr/>
        <p:txBody>
          <a:bodyPr>
            <a:normAutofit/>
          </a:bodyPr>
          <a:lstStyle/>
          <a:p>
            <a:pPr marL="0" lvl="1" indent="0">
              <a:spcBef>
                <a:spcPts val="300"/>
              </a:spcBef>
              <a:buNone/>
            </a:pPr>
            <a:r>
              <a:rPr lang="en-US" sz="2000">
                <a:latin typeface="Consolas" panose="020B0609020204030204" pitchFamily="49" charset="0"/>
              </a:rPr>
              <a:t>// Khai báo kiểu phần tử</a:t>
            </a:r>
          </a:p>
          <a:p>
            <a:pPr marL="0" lvl="1" indent="0">
              <a:spcBef>
                <a:spcPts val="300"/>
              </a:spcBef>
              <a:buNone/>
            </a:pPr>
            <a:r>
              <a:rPr lang="en-US" sz="2000">
                <a:latin typeface="Consolas" panose="020B0609020204030204" pitchFamily="49" charset="0"/>
              </a:rPr>
              <a:t>typedef int T;</a:t>
            </a:r>
            <a:endParaRPr lang="en-US" altLang="en-US" sz="2000">
              <a:latin typeface="Consolas" panose="020B0609020204030204" pitchFamily="49" charset="0"/>
              <a:cs typeface="Consolas" panose="020B0609020204030204" pitchFamily="49" charset="0"/>
            </a:endParaRPr>
          </a:p>
          <a:p>
            <a:pPr marL="0" lvl="1" indent="0">
              <a:spcBef>
                <a:spcPts val="1800"/>
              </a:spcBef>
              <a:buNone/>
            </a:pPr>
            <a:r>
              <a:rPr lang="en-US" altLang="en-US" sz="2000">
                <a:latin typeface="Consolas" panose="020B0609020204030204" pitchFamily="49" charset="0"/>
                <a:cs typeface="Consolas" panose="020B0609020204030204" pitchFamily="49" charset="0"/>
              </a:rPr>
              <a:t>// Định nghĩa </a:t>
            </a:r>
            <a:r>
              <a:rPr lang="en-US" altLang="en-US" sz="2000" smtClean="0">
                <a:latin typeface="Consolas" panose="020B0609020204030204" pitchFamily="49" charset="0"/>
                <a:cs typeface="Consolas" panose="020B0609020204030204" pitchFamily="49" charset="0"/>
              </a:rPr>
              <a:t>kiểu của các nút trong danh sách</a:t>
            </a:r>
            <a:endParaRPr lang="en-US" altLang="en-US" sz="2000">
              <a:latin typeface="Consolas" panose="020B0609020204030204" pitchFamily="49" charset="0"/>
              <a:cs typeface="Consolas" panose="020B0609020204030204" pitchFamily="49" charset="0"/>
            </a:endParaRPr>
          </a:p>
          <a:p>
            <a:pPr marL="0" indent="0">
              <a:spcBef>
                <a:spcPts val="300"/>
              </a:spcBef>
              <a:buNone/>
            </a:pPr>
            <a:r>
              <a:rPr lang="en-US" altLang="en-US" sz="2000">
                <a:latin typeface="Consolas" panose="020B0609020204030204" pitchFamily="49" charset="0"/>
              </a:rPr>
              <a:t>struct Node {</a:t>
            </a:r>
          </a:p>
          <a:p>
            <a:pPr marL="0" indent="0">
              <a:spcBef>
                <a:spcPts val="300"/>
              </a:spcBef>
              <a:buNone/>
            </a:pPr>
            <a:r>
              <a:rPr lang="en-US" altLang="en-US" sz="2000">
                <a:latin typeface="Consolas" panose="020B0609020204030204" pitchFamily="49" charset="0"/>
              </a:rPr>
              <a:t>    T elem;      // Phần tử</a:t>
            </a:r>
          </a:p>
          <a:p>
            <a:pPr marL="0" indent="0">
              <a:spcBef>
                <a:spcPts val="300"/>
              </a:spcBef>
              <a:buNone/>
            </a:pPr>
            <a:r>
              <a:rPr lang="en-US" altLang="en-US" sz="2000">
                <a:latin typeface="Consolas" panose="020B0609020204030204" pitchFamily="49" charset="0"/>
              </a:rPr>
              <a:t>    Node * next; // Liên kết tới nút kế </a:t>
            </a:r>
            <a:r>
              <a:rPr lang="en-US" altLang="en-US" sz="2000" smtClean="0">
                <a:latin typeface="Consolas" panose="020B0609020204030204" pitchFamily="49" charset="0"/>
              </a:rPr>
              <a:t>tiếp</a:t>
            </a:r>
          </a:p>
          <a:p>
            <a:pPr marL="0" indent="0">
              <a:spcBef>
                <a:spcPts val="300"/>
              </a:spcBef>
              <a:buNone/>
            </a:pPr>
            <a:r>
              <a:rPr lang="en-US" altLang="en-US" sz="2000" smtClean="0">
                <a:latin typeface="Consolas" panose="020B0609020204030204" pitchFamily="49" charset="0"/>
              </a:rPr>
              <a:t>};</a:t>
            </a:r>
          </a:p>
          <a:p>
            <a:pPr marL="0" lvl="1" indent="0">
              <a:spcBef>
                <a:spcPts val="1800"/>
              </a:spcBef>
              <a:buNone/>
            </a:pPr>
            <a:r>
              <a:rPr lang="en-US" altLang="en-US" sz="2000">
                <a:latin typeface="Consolas" panose="020B0609020204030204" pitchFamily="49" charset="0"/>
                <a:cs typeface="Consolas" panose="020B0609020204030204" pitchFamily="49" charset="0"/>
              </a:rPr>
              <a:t>// Định nghĩa cấu trúc danh sách liên kết đơn</a:t>
            </a:r>
            <a:endParaRPr lang="en-US" altLang="en-US" sz="2000" smtClean="0">
              <a:latin typeface="Consolas" panose="020B0609020204030204" pitchFamily="49" charset="0"/>
            </a:endParaRPr>
          </a:p>
          <a:p>
            <a:pPr marL="0" lvl="1" indent="0">
              <a:spcBef>
                <a:spcPts val="300"/>
              </a:spcBef>
              <a:buNone/>
            </a:pPr>
            <a:r>
              <a:rPr lang="en-US" altLang="en-US" sz="2000" smtClean="0">
                <a:latin typeface="Consolas" panose="020B0609020204030204" pitchFamily="49" charset="0"/>
              </a:rPr>
              <a:t>struct List </a:t>
            </a:r>
            <a:r>
              <a:rPr lang="en-US" altLang="en-US" sz="2000">
                <a:latin typeface="Consolas" panose="020B0609020204030204" pitchFamily="49" charset="0"/>
              </a:rPr>
              <a:t>{</a:t>
            </a:r>
          </a:p>
          <a:p>
            <a:pPr marL="0" lvl="1" indent="0">
              <a:spcBef>
                <a:spcPts val="300"/>
              </a:spcBef>
              <a:buNone/>
            </a:pPr>
            <a:r>
              <a:rPr lang="en-US" altLang="en-US" sz="2000" smtClean="0">
                <a:latin typeface="Consolas" panose="020B0609020204030204" pitchFamily="49" charset="0"/>
                <a:cs typeface="Consolas" panose="020B0609020204030204" pitchFamily="49" charset="0"/>
              </a:rPr>
              <a:t>    Node </a:t>
            </a:r>
            <a:r>
              <a:rPr lang="en-US" altLang="en-US" sz="2000">
                <a:latin typeface="Consolas" panose="020B0609020204030204" pitchFamily="49" charset="0"/>
                <a:cs typeface="Consolas" panose="020B0609020204030204" pitchFamily="49" charset="0"/>
              </a:rPr>
              <a:t>* </a:t>
            </a:r>
            <a:r>
              <a:rPr lang="en-US" altLang="en-US" sz="2000" smtClean="0">
                <a:latin typeface="Consolas" panose="020B0609020204030204" pitchFamily="49" charset="0"/>
                <a:cs typeface="Consolas" panose="020B0609020204030204" pitchFamily="49" charset="0"/>
              </a:rPr>
              <a:t>head; </a:t>
            </a:r>
            <a:r>
              <a:rPr lang="en-US" altLang="en-US" sz="2000">
                <a:latin typeface="Consolas" panose="020B0609020204030204" pitchFamily="49" charset="0"/>
                <a:cs typeface="Consolas" panose="020B0609020204030204" pitchFamily="49" charset="0"/>
              </a:rPr>
              <a:t>// Con trỏ tới nút đầu danh sách</a:t>
            </a:r>
          </a:p>
          <a:p>
            <a:pPr marL="0" lvl="1" indent="0">
              <a:spcBef>
                <a:spcPts val="300"/>
              </a:spcBef>
              <a:buNone/>
            </a:pPr>
            <a:r>
              <a:rPr lang="en-US" altLang="en-US" sz="2000">
                <a:latin typeface="Consolas" panose="020B0609020204030204" pitchFamily="49" charset="0"/>
                <a:cs typeface="Consolas" panose="020B0609020204030204" pitchFamily="49" charset="0"/>
              </a:rPr>
              <a:t>};</a:t>
            </a:r>
          </a:p>
        </p:txBody>
      </p:sp>
      <p:sp>
        <p:nvSpPr>
          <p:cNvPr id="4" name="Slide Number Placeholder 3"/>
          <p:cNvSpPr>
            <a:spLocks noGrp="1"/>
          </p:cNvSpPr>
          <p:nvPr>
            <p:ph type="sldNum" sz="quarter" idx="12"/>
          </p:nvPr>
        </p:nvSpPr>
        <p:spPr/>
        <p:txBody>
          <a:bodyPr/>
          <a:lstStyle/>
          <a:p>
            <a:fld id="{E99E512B-1003-47C1-A1C1-7B7D3ED31612}" type="slidenum">
              <a:rPr lang="en-US" smtClean="0"/>
              <a:t>8</a:t>
            </a:fld>
            <a:endParaRPr lang="en-US"/>
          </a:p>
        </p:txBody>
      </p:sp>
    </p:spTree>
    <p:extLst>
      <p:ext uri="{BB962C8B-B14F-4D97-AF65-F5344CB8AC3E}">
        <p14:creationId xmlns:p14="http://schemas.microsoft.com/office/powerpoint/2010/main" val="8221083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Hàm khởi tạo và hàm hủy</a:t>
            </a:r>
            <a:endParaRPr lang="en-US"/>
          </a:p>
        </p:txBody>
      </p:sp>
      <p:sp>
        <p:nvSpPr>
          <p:cNvPr id="3" name="Content Placeholder 2"/>
          <p:cNvSpPr>
            <a:spLocks noGrp="1"/>
          </p:cNvSpPr>
          <p:nvPr>
            <p:ph idx="1"/>
          </p:nvPr>
        </p:nvSpPr>
        <p:spPr/>
        <p:txBody>
          <a:bodyPr>
            <a:normAutofit/>
          </a:bodyPr>
          <a:lstStyle/>
          <a:p>
            <a:pPr marL="0" indent="0">
              <a:buNone/>
            </a:pPr>
            <a:r>
              <a:rPr lang="en-US" altLang="en-US" sz="2200" smtClean="0">
                <a:latin typeface="Consolas" panose="020B0609020204030204" pitchFamily="49" charset="0"/>
                <a:cs typeface="Consolas" panose="020B0609020204030204" pitchFamily="49" charset="0"/>
              </a:rPr>
              <a:t>void listInit(List &amp; list) {</a:t>
            </a:r>
          </a:p>
          <a:p>
            <a:pPr marL="0" indent="0">
              <a:buNone/>
            </a:pPr>
            <a:r>
              <a:rPr lang="en-US" altLang="en-US" sz="2200">
                <a:latin typeface="Consolas" panose="020B0609020204030204" pitchFamily="49" charset="0"/>
                <a:cs typeface="Consolas" panose="020B0609020204030204" pitchFamily="49" charset="0"/>
              </a:rPr>
              <a:t> </a:t>
            </a:r>
            <a:r>
              <a:rPr lang="en-US" altLang="en-US" sz="2200" smtClean="0">
                <a:latin typeface="Consolas" panose="020B0609020204030204" pitchFamily="49" charset="0"/>
                <a:cs typeface="Consolas" panose="020B0609020204030204" pitchFamily="49" charset="0"/>
              </a:rPr>
              <a:t> list.head = NULL; // Ban đầu danh sách rỗng</a:t>
            </a:r>
          </a:p>
          <a:p>
            <a:pPr marL="0" indent="0">
              <a:buNone/>
            </a:pPr>
            <a:r>
              <a:rPr lang="en-US" altLang="en-US" sz="2200" smtClean="0">
                <a:latin typeface="Consolas" panose="020B0609020204030204" pitchFamily="49" charset="0"/>
                <a:cs typeface="Consolas" panose="020B0609020204030204" pitchFamily="49" charset="0"/>
              </a:rPr>
              <a:t>}</a:t>
            </a:r>
          </a:p>
          <a:p>
            <a:pPr marL="0" indent="0">
              <a:spcBef>
                <a:spcPts val="2400"/>
              </a:spcBef>
              <a:buNone/>
            </a:pPr>
            <a:r>
              <a:rPr lang="en-US" altLang="en-US" sz="2200" smtClean="0">
                <a:latin typeface="Consolas" panose="020B0609020204030204" pitchFamily="49" charset="0"/>
                <a:cs typeface="Consolas" panose="020B0609020204030204" pitchFamily="49" charset="0"/>
              </a:rPr>
              <a:t>// Hàm hủy dùng hàm listIsEmpty để kiểm tra danh</a:t>
            </a:r>
          </a:p>
          <a:p>
            <a:pPr marL="0" indent="0">
              <a:lnSpc>
                <a:spcPct val="110000"/>
              </a:lnSpc>
              <a:spcBef>
                <a:spcPts val="300"/>
              </a:spcBef>
              <a:buNone/>
            </a:pPr>
            <a:r>
              <a:rPr lang="en-US" altLang="en-US" sz="2200" smtClean="0">
                <a:latin typeface="Consolas" panose="020B0609020204030204" pitchFamily="49" charset="0"/>
                <a:cs typeface="Consolas" panose="020B0609020204030204" pitchFamily="49" charset="0"/>
              </a:rPr>
              <a:t>// sách rỗng, dùng hàm listPopFront để xóa phần tử</a:t>
            </a:r>
          </a:p>
          <a:p>
            <a:pPr marL="0" indent="0">
              <a:lnSpc>
                <a:spcPct val="110000"/>
              </a:lnSpc>
              <a:spcBef>
                <a:spcPts val="300"/>
              </a:spcBef>
              <a:buNone/>
            </a:pPr>
            <a:r>
              <a:rPr lang="en-US" altLang="en-US" sz="2200" smtClean="0">
                <a:latin typeface="Consolas" panose="020B0609020204030204" pitchFamily="49" charset="0"/>
                <a:cs typeface="Consolas" panose="020B0609020204030204" pitchFamily="49" charset="0"/>
              </a:rPr>
              <a:t>// đầu danh sách (hai hàm đó ta sẽ lập trình sau).</a:t>
            </a:r>
          </a:p>
          <a:p>
            <a:pPr marL="0" indent="0">
              <a:buNone/>
            </a:pPr>
            <a:r>
              <a:rPr lang="en-US" altLang="en-US" sz="2200" smtClean="0">
                <a:latin typeface="Consolas" panose="020B0609020204030204" pitchFamily="49" charset="0"/>
                <a:cs typeface="Consolas" panose="020B0609020204030204" pitchFamily="49" charset="0"/>
              </a:rPr>
              <a:t>void listDestroy(List &amp; list) </a:t>
            </a:r>
            <a:r>
              <a:rPr lang="en-US" altLang="en-US" sz="2200">
                <a:latin typeface="Consolas" panose="020B0609020204030204" pitchFamily="49" charset="0"/>
                <a:cs typeface="Consolas" panose="020B0609020204030204" pitchFamily="49" charset="0"/>
              </a:rPr>
              <a:t>{</a:t>
            </a:r>
          </a:p>
          <a:p>
            <a:pPr marL="0" indent="0">
              <a:buNone/>
            </a:pPr>
            <a:r>
              <a:rPr lang="en-US" altLang="en-US" sz="2200" smtClean="0">
                <a:latin typeface="Consolas" panose="020B0609020204030204" pitchFamily="49" charset="0"/>
                <a:cs typeface="Consolas" panose="020B0609020204030204" pitchFamily="49" charset="0"/>
              </a:rPr>
              <a:t>  while (!listIsEmpty(list))</a:t>
            </a:r>
          </a:p>
          <a:p>
            <a:pPr marL="0" indent="0">
              <a:buNone/>
            </a:pPr>
            <a:r>
              <a:rPr lang="en-US" altLang="en-US" sz="2200" smtClean="0">
                <a:latin typeface="Consolas" panose="020B0609020204030204" pitchFamily="49" charset="0"/>
                <a:cs typeface="Consolas" panose="020B0609020204030204" pitchFamily="49" charset="0"/>
              </a:rPr>
              <a:t>    listPopFront(list); // Xóa phần tử đầu tiên cho</a:t>
            </a:r>
            <a:endParaRPr lang="en-US" altLang="en-US" sz="2200">
              <a:latin typeface="Consolas" panose="020B0609020204030204" pitchFamily="49" charset="0"/>
              <a:cs typeface="Consolas" panose="020B0609020204030204" pitchFamily="49" charset="0"/>
            </a:endParaRPr>
          </a:p>
          <a:p>
            <a:pPr marL="0" indent="0">
              <a:buNone/>
            </a:pPr>
            <a:r>
              <a:rPr lang="en-US" altLang="en-US" sz="2200" smtClean="0">
                <a:latin typeface="Consolas" panose="020B0609020204030204" pitchFamily="49" charset="0"/>
                <a:cs typeface="Consolas" panose="020B0609020204030204" pitchFamily="49" charset="0"/>
              </a:rPr>
              <a:t>}                       // đến khi danh sách rỗng</a:t>
            </a:r>
          </a:p>
          <a:p>
            <a:pPr marL="0" indent="0">
              <a:buNone/>
            </a:pPr>
            <a:r>
              <a:rPr lang="en-US" altLang="en-US" sz="2200">
                <a:latin typeface="Consolas" panose="020B0609020204030204" pitchFamily="49" charset="0"/>
                <a:cs typeface="Consolas" panose="020B0609020204030204" pitchFamily="49" charset="0"/>
              </a:rPr>
              <a:t> </a:t>
            </a:r>
            <a:r>
              <a:rPr lang="en-US" altLang="en-US" sz="2200" smtClean="0">
                <a:latin typeface="Consolas" panose="020B0609020204030204" pitchFamily="49" charset="0"/>
                <a:cs typeface="Consolas" panose="020B0609020204030204" pitchFamily="49" charset="0"/>
              </a:rPr>
              <a:t>                       // thì thôi.</a:t>
            </a:r>
            <a:endParaRPr lang="en-US" altLang="en-US" sz="2200">
              <a:latin typeface="Consolas" panose="020B0609020204030204" pitchFamily="49" charset="0"/>
              <a:cs typeface="Consolas" panose="020B0609020204030204" pitchFamily="49" charset="0"/>
            </a:endParaRPr>
          </a:p>
        </p:txBody>
      </p:sp>
      <p:sp>
        <p:nvSpPr>
          <p:cNvPr id="4" name="Slide Number Placeholder 3"/>
          <p:cNvSpPr>
            <a:spLocks noGrp="1"/>
          </p:cNvSpPr>
          <p:nvPr>
            <p:ph type="sldNum" sz="quarter" idx="12"/>
          </p:nvPr>
        </p:nvSpPr>
        <p:spPr/>
        <p:txBody>
          <a:bodyPr/>
          <a:lstStyle/>
          <a:p>
            <a:fld id="{E99E512B-1003-47C1-A1C1-7B7D3ED31612}" type="slidenum">
              <a:rPr lang="en-US" smtClean="0"/>
              <a:t>9</a:t>
            </a:fld>
            <a:endParaRPr lang="en-US"/>
          </a:p>
        </p:txBody>
      </p:sp>
    </p:spTree>
    <p:extLst>
      <p:ext uri="{BB962C8B-B14F-4D97-AF65-F5344CB8AC3E}">
        <p14:creationId xmlns:p14="http://schemas.microsoft.com/office/powerpoint/2010/main" val="2846857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Các hàm khác</a:t>
            </a:r>
            <a:endParaRPr lang="en-US"/>
          </a:p>
        </p:txBody>
      </p:sp>
      <p:sp>
        <p:nvSpPr>
          <p:cNvPr id="3" name="Content Placeholder 2"/>
          <p:cNvSpPr>
            <a:spLocks noGrp="1"/>
          </p:cNvSpPr>
          <p:nvPr>
            <p:ph idx="1"/>
          </p:nvPr>
        </p:nvSpPr>
        <p:spPr>
          <a:xfrm>
            <a:off x="457200" y="1600200"/>
            <a:ext cx="8435280" cy="4876800"/>
          </a:xfrm>
        </p:spPr>
        <p:txBody>
          <a:bodyPr>
            <a:normAutofit/>
          </a:bodyPr>
          <a:lstStyle/>
          <a:p>
            <a:pPr marL="0" indent="0">
              <a:spcBef>
                <a:spcPts val="1800"/>
              </a:spcBef>
              <a:buNone/>
            </a:pPr>
            <a:r>
              <a:rPr lang="en-US" altLang="en-US" sz="2300">
                <a:latin typeface="Consolas" panose="020B0609020204030204" pitchFamily="49" charset="0"/>
                <a:cs typeface="Consolas" panose="020B0609020204030204" pitchFamily="49" charset="0"/>
              </a:rPr>
              <a:t>// Kiểm tra danh sách có rỗng hay </a:t>
            </a:r>
            <a:r>
              <a:rPr lang="en-US" altLang="en-US" sz="2300" smtClean="0">
                <a:latin typeface="Consolas" panose="020B0609020204030204" pitchFamily="49" charset="0"/>
                <a:cs typeface="Consolas" panose="020B0609020204030204" pitchFamily="49" charset="0"/>
              </a:rPr>
              <a:t>không.</a:t>
            </a:r>
            <a:endParaRPr lang="en-US" altLang="en-US" sz="2300">
              <a:latin typeface="Consolas" panose="020B0609020204030204" pitchFamily="49" charset="0"/>
              <a:cs typeface="Consolas" panose="020B0609020204030204" pitchFamily="49" charset="0"/>
            </a:endParaRPr>
          </a:p>
          <a:p>
            <a:pPr marL="0" indent="0">
              <a:buNone/>
            </a:pPr>
            <a:r>
              <a:rPr lang="en-US" altLang="en-US" sz="2300">
                <a:latin typeface="Consolas" panose="020B0609020204030204" pitchFamily="49" charset="0"/>
                <a:cs typeface="Consolas" panose="020B0609020204030204" pitchFamily="49" charset="0"/>
              </a:rPr>
              <a:t>bool </a:t>
            </a:r>
            <a:r>
              <a:rPr lang="en-US" altLang="en-US" sz="2300" smtClean="0">
                <a:latin typeface="Consolas" panose="020B0609020204030204" pitchFamily="49" charset="0"/>
                <a:cs typeface="Consolas" panose="020B0609020204030204" pitchFamily="49" charset="0"/>
              </a:rPr>
              <a:t>listIsEmpty(List </a:t>
            </a:r>
            <a:r>
              <a:rPr lang="en-US" altLang="en-US" sz="2300">
                <a:latin typeface="Consolas" panose="020B0609020204030204" pitchFamily="49" charset="0"/>
                <a:cs typeface="Consolas" panose="020B0609020204030204" pitchFamily="49" charset="0"/>
              </a:rPr>
              <a:t>&amp; list) {</a:t>
            </a:r>
          </a:p>
          <a:p>
            <a:pPr marL="0" indent="0">
              <a:buNone/>
            </a:pPr>
            <a:r>
              <a:rPr lang="en-US" altLang="en-US" sz="2300">
                <a:latin typeface="Consolas" panose="020B0609020204030204" pitchFamily="49" charset="0"/>
                <a:cs typeface="Consolas" panose="020B0609020204030204" pitchFamily="49" charset="0"/>
              </a:rPr>
              <a:t>  </a:t>
            </a:r>
            <a:r>
              <a:rPr lang="en-US" altLang="en-US" sz="2300" smtClean="0">
                <a:latin typeface="Consolas" panose="020B0609020204030204" pitchFamily="49" charset="0"/>
                <a:cs typeface="Consolas" panose="020B0609020204030204" pitchFamily="49" charset="0"/>
              </a:rPr>
              <a:t>return (list.head </a:t>
            </a:r>
            <a:r>
              <a:rPr lang="en-US" altLang="en-US" sz="2300">
                <a:latin typeface="Consolas" panose="020B0609020204030204" pitchFamily="49" charset="0"/>
                <a:cs typeface="Consolas" panose="020B0609020204030204" pitchFamily="49" charset="0"/>
              </a:rPr>
              <a:t>== NULL);</a:t>
            </a:r>
          </a:p>
          <a:p>
            <a:pPr marL="0" indent="0">
              <a:buNone/>
            </a:pPr>
            <a:r>
              <a:rPr lang="en-US" altLang="en-US" sz="2300">
                <a:latin typeface="Consolas" panose="020B0609020204030204" pitchFamily="49" charset="0"/>
                <a:cs typeface="Consolas" panose="020B0609020204030204" pitchFamily="49" charset="0"/>
              </a:rPr>
              <a:t>}</a:t>
            </a:r>
          </a:p>
          <a:p>
            <a:pPr marL="0" indent="0">
              <a:buNone/>
            </a:pPr>
            <a:endParaRPr lang="en-US" sz="2300" smtClean="0">
              <a:latin typeface="Consolas" panose="020B0609020204030204" pitchFamily="49" charset="0"/>
            </a:endParaRPr>
          </a:p>
          <a:p>
            <a:pPr marL="0" indent="0">
              <a:buNone/>
            </a:pPr>
            <a:r>
              <a:rPr lang="en-US" sz="2300" smtClean="0">
                <a:latin typeface="Consolas" panose="020B0609020204030204" pitchFamily="49" charset="0"/>
              </a:rPr>
              <a:t>// Lấy phần tử đầu danh sách (có kiểu là T).</a:t>
            </a:r>
          </a:p>
          <a:p>
            <a:pPr marL="0" indent="0">
              <a:buNone/>
            </a:pPr>
            <a:r>
              <a:rPr lang="en-US" altLang="en-US" sz="2300" smtClean="0">
                <a:latin typeface="Consolas" panose="020B0609020204030204" pitchFamily="49" charset="0"/>
                <a:cs typeface="Consolas" panose="020B0609020204030204" pitchFamily="49" charset="0"/>
              </a:rPr>
              <a:t>T listFront(List </a:t>
            </a:r>
            <a:r>
              <a:rPr lang="en-US" altLang="en-US" sz="2300">
                <a:latin typeface="Consolas" panose="020B0609020204030204" pitchFamily="49" charset="0"/>
                <a:cs typeface="Consolas" panose="020B0609020204030204" pitchFamily="49" charset="0"/>
              </a:rPr>
              <a:t>&amp; list) {</a:t>
            </a:r>
          </a:p>
          <a:p>
            <a:pPr marL="0" indent="0">
              <a:buNone/>
            </a:pPr>
            <a:r>
              <a:rPr lang="en-US" altLang="en-US" sz="2300">
                <a:latin typeface="Consolas" panose="020B0609020204030204" pitchFamily="49" charset="0"/>
                <a:cs typeface="Consolas" panose="020B0609020204030204" pitchFamily="49" charset="0"/>
              </a:rPr>
              <a:t>  </a:t>
            </a:r>
            <a:r>
              <a:rPr lang="en-US" altLang="en-US" sz="2300" smtClean="0">
                <a:latin typeface="Consolas" panose="020B0609020204030204" pitchFamily="49" charset="0"/>
                <a:cs typeface="Consolas" panose="020B0609020204030204" pitchFamily="49" charset="0"/>
              </a:rPr>
              <a:t>return list.head-&gt;elem; // head trỏ tới nút đầu;</a:t>
            </a:r>
            <a:endParaRPr lang="en-US" altLang="en-US" sz="2300">
              <a:latin typeface="Consolas" panose="020B0609020204030204" pitchFamily="49" charset="0"/>
              <a:cs typeface="Consolas" panose="020B0609020204030204" pitchFamily="49" charset="0"/>
            </a:endParaRPr>
          </a:p>
          <a:p>
            <a:pPr marL="0" indent="0">
              <a:buNone/>
            </a:pPr>
            <a:r>
              <a:rPr lang="en-US" altLang="en-US" sz="2300" smtClean="0">
                <a:latin typeface="Consolas" panose="020B0609020204030204" pitchFamily="49" charset="0"/>
                <a:cs typeface="Consolas" panose="020B0609020204030204" pitchFamily="49" charset="0"/>
              </a:rPr>
              <a:t>}                         // trong một nút có elem</a:t>
            </a:r>
          </a:p>
          <a:p>
            <a:pPr marL="0" indent="0">
              <a:buNone/>
            </a:pPr>
            <a:r>
              <a:rPr lang="en-US" altLang="en-US" sz="2300">
                <a:latin typeface="Consolas" panose="020B0609020204030204" pitchFamily="49" charset="0"/>
                <a:cs typeface="Consolas" panose="020B0609020204030204" pitchFamily="49" charset="0"/>
              </a:rPr>
              <a:t> </a:t>
            </a:r>
            <a:r>
              <a:rPr lang="en-US" altLang="en-US" sz="2300" smtClean="0">
                <a:latin typeface="Consolas" panose="020B0609020204030204" pitchFamily="49" charset="0"/>
                <a:cs typeface="Consolas" panose="020B0609020204030204" pitchFamily="49" charset="0"/>
              </a:rPr>
              <a:t>                         // là phần tử.</a:t>
            </a:r>
            <a:endParaRPr lang="en-US" altLang="en-US" sz="2300">
              <a:latin typeface="Consolas" panose="020B0609020204030204" pitchFamily="49" charset="0"/>
              <a:cs typeface="Consolas" panose="020B0609020204030204" pitchFamily="49" charset="0"/>
            </a:endParaRPr>
          </a:p>
        </p:txBody>
      </p:sp>
      <p:sp>
        <p:nvSpPr>
          <p:cNvPr id="4" name="Slide Number Placeholder 3"/>
          <p:cNvSpPr>
            <a:spLocks noGrp="1"/>
          </p:cNvSpPr>
          <p:nvPr>
            <p:ph type="sldNum" sz="quarter" idx="12"/>
          </p:nvPr>
        </p:nvSpPr>
        <p:spPr/>
        <p:txBody>
          <a:bodyPr/>
          <a:lstStyle/>
          <a:p>
            <a:fld id="{E99E512B-1003-47C1-A1C1-7B7D3ED31612}" type="slidenum">
              <a:rPr lang="en-US" smtClean="0"/>
              <a:t>10</a:t>
            </a:fld>
            <a:endParaRPr lang="en-US"/>
          </a:p>
        </p:txBody>
      </p:sp>
    </p:spTree>
    <p:extLst>
      <p:ext uri="{BB962C8B-B14F-4D97-AF65-F5344CB8AC3E}">
        <p14:creationId xmlns:p14="http://schemas.microsoft.com/office/powerpoint/2010/main" val="27362029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Chèn vào đầu danh sách</a:t>
            </a:r>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700808"/>
            <a:ext cx="7848872" cy="4572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2"/>
          <p:cNvSpPr>
            <a:spLocks noGrp="1"/>
          </p:cNvSpPr>
          <p:nvPr>
            <p:ph type="sldNum" sz="quarter" idx="12"/>
          </p:nvPr>
        </p:nvSpPr>
        <p:spPr/>
        <p:txBody>
          <a:bodyPr/>
          <a:lstStyle/>
          <a:p>
            <a:fld id="{E99E512B-1003-47C1-A1C1-7B7D3ED31612}" type="slidenum">
              <a:rPr lang="en-US" smtClean="0"/>
              <a:t>11</a:t>
            </a:fld>
            <a:endParaRPr lang="en-US"/>
          </a:p>
        </p:txBody>
      </p:sp>
    </p:spTree>
    <p:extLst>
      <p:ext uri="{BB962C8B-B14F-4D97-AF65-F5344CB8AC3E}">
        <p14:creationId xmlns:p14="http://schemas.microsoft.com/office/powerpoint/2010/main" val="20622040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Chèn vào đầu danh </a:t>
            </a:r>
            <a:r>
              <a:rPr lang="en-US" smtClean="0"/>
              <a:t>sách (tiếp)</a:t>
            </a:r>
            <a:endParaRPr lang="en-US"/>
          </a:p>
        </p:txBody>
      </p:sp>
      <p:sp>
        <p:nvSpPr>
          <p:cNvPr id="3" name="Content Placeholder 2"/>
          <p:cNvSpPr>
            <a:spLocks noGrp="1"/>
          </p:cNvSpPr>
          <p:nvPr>
            <p:ph idx="1"/>
          </p:nvPr>
        </p:nvSpPr>
        <p:spPr/>
        <p:txBody>
          <a:bodyPr>
            <a:noAutofit/>
          </a:bodyPr>
          <a:lstStyle/>
          <a:p>
            <a:pPr marL="0" indent="0">
              <a:buNone/>
            </a:pPr>
            <a:r>
              <a:rPr lang="en-US" altLang="en-US" sz="2000" smtClean="0">
                <a:latin typeface="Consolas" panose="020B0609020204030204" pitchFamily="49" charset="0"/>
                <a:cs typeface="Consolas" panose="020B0609020204030204" pitchFamily="49" charset="0"/>
              </a:rPr>
              <a:t>// e (element) là phần tử cần chèn.</a:t>
            </a:r>
          </a:p>
          <a:p>
            <a:pPr marL="0" indent="0">
              <a:buNone/>
            </a:pPr>
            <a:r>
              <a:rPr lang="en-US" altLang="en-US" sz="2000" smtClean="0">
                <a:latin typeface="Consolas" panose="020B0609020204030204" pitchFamily="49" charset="0"/>
                <a:cs typeface="Consolas" panose="020B0609020204030204" pitchFamily="49" charset="0"/>
              </a:rPr>
              <a:t>void listPushFront(List </a:t>
            </a:r>
            <a:r>
              <a:rPr lang="en-US" altLang="en-US" sz="2000">
                <a:latin typeface="Consolas" panose="020B0609020204030204" pitchFamily="49" charset="0"/>
                <a:cs typeface="Consolas" panose="020B0609020204030204" pitchFamily="49" charset="0"/>
              </a:rPr>
              <a:t>&amp; </a:t>
            </a:r>
            <a:r>
              <a:rPr lang="en-US" altLang="en-US" sz="2000" smtClean="0">
                <a:latin typeface="Consolas" panose="020B0609020204030204" pitchFamily="49" charset="0"/>
                <a:cs typeface="Consolas" panose="020B0609020204030204" pitchFamily="49" charset="0"/>
              </a:rPr>
              <a:t>list, T e) </a:t>
            </a:r>
            <a:r>
              <a:rPr lang="en-US" altLang="en-US" sz="2000">
                <a:latin typeface="Consolas" panose="020B0609020204030204" pitchFamily="49" charset="0"/>
                <a:cs typeface="Consolas" panose="020B0609020204030204" pitchFamily="49" charset="0"/>
              </a:rPr>
              <a:t>{</a:t>
            </a:r>
          </a:p>
          <a:p>
            <a:pPr marL="0" indent="0">
              <a:buNone/>
            </a:pPr>
            <a:r>
              <a:rPr lang="en-US" altLang="en-US" sz="2000" smtClean="0">
                <a:latin typeface="Consolas" panose="020B0609020204030204" pitchFamily="49" charset="0"/>
                <a:cs typeface="Consolas" panose="020B0609020204030204" pitchFamily="49" charset="0"/>
              </a:rPr>
              <a:t>    // </a:t>
            </a:r>
            <a:r>
              <a:rPr lang="en-US" altLang="en-US" sz="2000">
                <a:latin typeface="Consolas" panose="020B0609020204030204" pitchFamily="49" charset="0"/>
                <a:cs typeface="Consolas" panose="020B0609020204030204" pitchFamily="49" charset="0"/>
              </a:rPr>
              <a:t>Tạo nút mới</a:t>
            </a:r>
          </a:p>
          <a:p>
            <a:pPr marL="0" indent="0">
              <a:buNone/>
            </a:pPr>
            <a:r>
              <a:rPr lang="en-US" altLang="en-US" sz="2000" smtClean="0">
                <a:latin typeface="Consolas" panose="020B0609020204030204" pitchFamily="49" charset="0"/>
                <a:cs typeface="Consolas" panose="020B0609020204030204" pitchFamily="49" charset="0"/>
              </a:rPr>
              <a:t>    Node * v = new </a:t>
            </a:r>
            <a:r>
              <a:rPr lang="en-US" altLang="en-US" sz="2000">
                <a:latin typeface="Consolas" panose="020B0609020204030204" pitchFamily="49" charset="0"/>
                <a:cs typeface="Consolas" panose="020B0609020204030204" pitchFamily="49" charset="0"/>
              </a:rPr>
              <a:t>Node</a:t>
            </a:r>
            <a:r>
              <a:rPr lang="en-US" altLang="en-US" sz="2000" smtClean="0">
                <a:latin typeface="Consolas" panose="020B0609020204030204" pitchFamily="49" charset="0"/>
                <a:cs typeface="Consolas" panose="020B0609020204030204" pitchFamily="49" charset="0"/>
              </a:rPr>
              <a:t>;</a:t>
            </a:r>
            <a:endParaRPr lang="en-US" altLang="en-US" sz="2000">
              <a:latin typeface="Consolas" panose="020B0609020204030204" pitchFamily="49" charset="0"/>
              <a:cs typeface="Consolas" panose="020B0609020204030204" pitchFamily="49" charset="0"/>
            </a:endParaRPr>
          </a:p>
          <a:p>
            <a:pPr marL="0" indent="0">
              <a:spcBef>
                <a:spcPts val="1200"/>
              </a:spcBef>
              <a:buNone/>
            </a:pPr>
            <a:r>
              <a:rPr lang="en-US" altLang="en-US" sz="2000" smtClean="0">
                <a:latin typeface="Consolas" panose="020B0609020204030204" pitchFamily="49" charset="0"/>
                <a:cs typeface="Consolas" panose="020B0609020204030204" pitchFamily="49" charset="0"/>
              </a:rPr>
              <a:t>    // </a:t>
            </a:r>
            <a:r>
              <a:rPr lang="en-US" altLang="en-US" sz="2000">
                <a:latin typeface="Consolas" panose="020B0609020204030204" pitchFamily="49" charset="0"/>
                <a:cs typeface="Consolas" panose="020B0609020204030204" pitchFamily="49" charset="0"/>
              </a:rPr>
              <a:t>Nút mới chứa phần tử cần chèn</a:t>
            </a:r>
            <a:endParaRPr lang="en-US" altLang="en-US" sz="2000" smtClean="0">
              <a:latin typeface="Consolas" panose="020B0609020204030204" pitchFamily="49" charset="0"/>
              <a:cs typeface="Consolas" panose="020B0609020204030204" pitchFamily="49" charset="0"/>
            </a:endParaRPr>
          </a:p>
          <a:p>
            <a:pPr marL="0" indent="0">
              <a:buNone/>
            </a:pPr>
            <a:r>
              <a:rPr lang="en-US" altLang="en-US" sz="2000" smtClean="0">
                <a:latin typeface="Consolas" panose="020B0609020204030204" pitchFamily="49" charset="0"/>
                <a:cs typeface="Consolas" panose="020B0609020204030204" pitchFamily="49" charset="0"/>
              </a:rPr>
              <a:t>    v-&gt;elem = e;</a:t>
            </a:r>
          </a:p>
          <a:p>
            <a:pPr marL="0" indent="0">
              <a:spcBef>
                <a:spcPts val="1200"/>
              </a:spcBef>
              <a:buNone/>
            </a:pPr>
            <a:r>
              <a:rPr lang="en-US" altLang="en-US" sz="2000" smtClean="0">
                <a:latin typeface="Consolas" panose="020B0609020204030204" pitchFamily="49" charset="0"/>
                <a:cs typeface="Consolas" panose="020B0609020204030204" pitchFamily="49" charset="0"/>
              </a:rPr>
              <a:t>    // </a:t>
            </a:r>
            <a:r>
              <a:rPr lang="en-US" altLang="en-US" sz="2000">
                <a:latin typeface="Consolas" panose="020B0609020204030204" pitchFamily="49" charset="0"/>
                <a:cs typeface="Consolas" panose="020B0609020204030204" pitchFamily="49" charset="0"/>
              </a:rPr>
              <a:t>Nút mới trỏ tới </a:t>
            </a:r>
            <a:r>
              <a:rPr lang="en-US" altLang="en-US" sz="2000" smtClean="0">
                <a:latin typeface="Consolas" panose="020B0609020204030204" pitchFamily="49" charset="0"/>
                <a:cs typeface="Consolas" panose="020B0609020204030204" pitchFamily="49" charset="0"/>
              </a:rPr>
              <a:t>nút đầu </a:t>
            </a:r>
            <a:r>
              <a:rPr lang="en-US" altLang="en-US" sz="2000">
                <a:latin typeface="Consolas" panose="020B0609020204030204" pitchFamily="49" charset="0"/>
                <a:cs typeface="Consolas" panose="020B0609020204030204" pitchFamily="49" charset="0"/>
              </a:rPr>
              <a:t>danh sách</a:t>
            </a:r>
            <a:endParaRPr lang="en-US" altLang="en-US" sz="2000" smtClean="0">
              <a:latin typeface="Consolas" panose="020B0609020204030204" pitchFamily="49" charset="0"/>
              <a:cs typeface="Consolas" panose="020B0609020204030204" pitchFamily="49" charset="0"/>
            </a:endParaRPr>
          </a:p>
          <a:p>
            <a:pPr marL="0" indent="0">
              <a:buNone/>
            </a:pPr>
            <a:r>
              <a:rPr lang="en-US" altLang="en-US" sz="2000">
                <a:latin typeface="Consolas" panose="020B0609020204030204" pitchFamily="49" charset="0"/>
                <a:cs typeface="Consolas" panose="020B0609020204030204" pitchFamily="49" charset="0"/>
              </a:rPr>
              <a:t>  </a:t>
            </a:r>
            <a:r>
              <a:rPr lang="en-US" altLang="en-US" sz="2000" smtClean="0">
                <a:latin typeface="Consolas" panose="020B0609020204030204" pitchFamily="49" charset="0"/>
                <a:cs typeface="Consolas" panose="020B0609020204030204" pitchFamily="49" charset="0"/>
              </a:rPr>
              <a:t>  v-</a:t>
            </a:r>
            <a:r>
              <a:rPr lang="en-US" altLang="en-US" sz="2000">
                <a:latin typeface="Consolas" panose="020B0609020204030204" pitchFamily="49" charset="0"/>
                <a:cs typeface="Consolas" panose="020B0609020204030204" pitchFamily="49" charset="0"/>
              </a:rPr>
              <a:t>&gt;next = </a:t>
            </a:r>
            <a:r>
              <a:rPr lang="en-US" altLang="en-US" sz="2000" smtClean="0">
                <a:latin typeface="Consolas" panose="020B0609020204030204" pitchFamily="49" charset="0"/>
                <a:cs typeface="Consolas" panose="020B0609020204030204" pitchFamily="49" charset="0"/>
              </a:rPr>
              <a:t>list.head;</a:t>
            </a:r>
            <a:endParaRPr lang="en-US" altLang="en-US" sz="2000">
              <a:latin typeface="Consolas" panose="020B0609020204030204" pitchFamily="49" charset="0"/>
              <a:cs typeface="Consolas" panose="020B0609020204030204" pitchFamily="49" charset="0"/>
            </a:endParaRPr>
          </a:p>
          <a:p>
            <a:pPr marL="0" indent="0">
              <a:spcBef>
                <a:spcPts val="1200"/>
              </a:spcBef>
              <a:buNone/>
            </a:pPr>
            <a:r>
              <a:rPr lang="en-US" altLang="en-US" sz="2000" smtClean="0">
                <a:latin typeface="Consolas" panose="020B0609020204030204" pitchFamily="49" charset="0"/>
                <a:cs typeface="Consolas" panose="020B0609020204030204" pitchFamily="49" charset="0"/>
              </a:rPr>
              <a:t>    // Vì nút mới sẽ trở thành nút đầu danh sách,</a:t>
            </a:r>
          </a:p>
          <a:p>
            <a:pPr marL="0" indent="0">
              <a:spcBef>
                <a:spcPts val="300"/>
              </a:spcBef>
              <a:buNone/>
            </a:pPr>
            <a:r>
              <a:rPr lang="en-US" altLang="en-US" sz="2000" smtClean="0">
                <a:latin typeface="Consolas" panose="020B0609020204030204" pitchFamily="49" charset="0"/>
                <a:cs typeface="Consolas" panose="020B0609020204030204" pitchFamily="49" charset="0"/>
              </a:rPr>
              <a:t>    // phải cập nhật head cho trỏ tới nút mới.</a:t>
            </a:r>
          </a:p>
          <a:p>
            <a:pPr marL="0" indent="0">
              <a:buNone/>
            </a:pPr>
            <a:r>
              <a:rPr lang="en-US" altLang="en-US" sz="2000" smtClean="0">
                <a:latin typeface="Consolas" panose="020B0609020204030204" pitchFamily="49" charset="0"/>
                <a:cs typeface="Consolas" panose="020B0609020204030204" pitchFamily="49" charset="0"/>
              </a:rPr>
              <a:t>    list.head = v;</a:t>
            </a:r>
            <a:endParaRPr lang="en-US" altLang="en-US" sz="2000">
              <a:latin typeface="Consolas" panose="020B0609020204030204" pitchFamily="49" charset="0"/>
              <a:cs typeface="Consolas" panose="020B0609020204030204" pitchFamily="49" charset="0"/>
            </a:endParaRPr>
          </a:p>
          <a:p>
            <a:pPr marL="0" indent="0">
              <a:buNone/>
            </a:pPr>
            <a:r>
              <a:rPr lang="en-US" altLang="en-US" sz="2000" smtClean="0">
                <a:latin typeface="Consolas" panose="020B0609020204030204" pitchFamily="49" charset="0"/>
                <a:cs typeface="Consolas" panose="020B0609020204030204" pitchFamily="49" charset="0"/>
              </a:rPr>
              <a:t>}</a:t>
            </a:r>
            <a:endParaRPr lang="en-US" altLang="en-US" sz="2000">
              <a:latin typeface="Consolas" panose="020B0609020204030204" pitchFamily="49" charset="0"/>
              <a:cs typeface="Consolas" panose="020B0609020204030204" pitchFamily="49" charset="0"/>
            </a:endParaRPr>
          </a:p>
        </p:txBody>
      </p:sp>
      <p:sp>
        <p:nvSpPr>
          <p:cNvPr id="4" name="Slide Number Placeholder 3"/>
          <p:cNvSpPr>
            <a:spLocks noGrp="1"/>
          </p:cNvSpPr>
          <p:nvPr>
            <p:ph type="sldNum" sz="quarter" idx="12"/>
          </p:nvPr>
        </p:nvSpPr>
        <p:spPr/>
        <p:txBody>
          <a:bodyPr/>
          <a:lstStyle/>
          <a:p>
            <a:fld id="{E99E512B-1003-47C1-A1C1-7B7D3ED31612}" type="slidenum">
              <a:rPr lang="en-US" smtClean="0"/>
              <a:t>12</a:t>
            </a:fld>
            <a:endParaRPr lang="en-US"/>
          </a:p>
        </p:txBody>
      </p:sp>
    </p:spTree>
    <p:extLst>
      <p:ext uri="{BB962C8B-B14F-4D97-AF65-F5344CB8AC3E}">
        <p14:creationId xmlns:p14="http://schemas.microsoft.com/office/powerpoint/2010/main" val="41177956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Xóa phần tử đầu danh sách</a:t>
            </a:r>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403" y="1646923"/>
            <a:ext cx="7282997" cy="48784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2"/>
          <p:cNvSpPr>
            <a:spLocks noGrp="1"/>
          </p:cNvSpPr>
          <p:nvPr>
            <p:ph type="sldNum" sz="quarter" idx="12"/>
          </p:nvPr>
        </p:nvSpPr>
        <p:spPr/>
        <p:txBody>
          <a:bodyPr/>
          <a:lstStyle/>
          <a:p>
            <a:fld id="{E99E512B-1003-47C1-A1C1-7B7D3ED31612}" type="slidenum">
              <a:rPr lang="en-US" smtClean="0"/>
              <a:t>13</a:t>
            </a:fld>
            <a:endParaRPr lang="en-US"/>
          </a:p>
        </p:txBody>
      </p:sp>
    </p:spTree>
    <p:extLst>
      <p:ext uri="{BB962C8B-B14F-4D97-AF65-F5344CB8AC3E}">
        <p14:creationId xmlns:p14="http://schemas.microsoft.com/office/powerpoint/2010/main" val="18660933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Xóa phần tử đầu danh sách (tiếp)</a:t>
            </a:r>
            <a:endParaRPr lang="en-US"/>
          </a:p>
        </p:txBody>
      </p:sp>
      <p:sp>
        <p:nvSpPr>
          <p:cNvPr id="3" name="Content Placeholder 2"/>
          <p:cNvSpPr>
            <a:spLocks noGrp="1"/>
          </p:cNvSpPr>
          <p:nvPr>
            <p:ph idx="1"/>
          </p:nvPr>
        </p:nvSpPr>
        <p:spPr/>
        <p:txBody>
          <a:bodyPr>
            <a:normAutofit/>
          </a:bodyPr>
          <a:lstStyle/>
          <a:p>
            <a:pPr marL="0" indent="0">
              <a:buNone/>
            </a:pPr>
            <a:r>
              <a:rPr lang="en-US" altLang="en-US" sz="2000" smtClean="0">
                <a:latin typeface="Consolas" panose="020B0609020204030204" pitchFamily="49" charset="0"/>
                <a:cs typeface="Consolas" panose="020B0609020204030204" pitchFamily="49" charset="0"/>
              </a:rPr>
              <a:t>void listPopFront(List </a:t>
            </a:r>
            <a:r>
              <a:rPr lang="en-US" altLang="en-US" sz="2000">
                <a:latin typeface="Consolas" panose="020B0609020204030204" pitchFamily="49" charset="0"/>
                <a:cs typeface="Consolas" panose="020B0609020204030204" pitchFamily="49" charset="0"/>
              </a:rPr>
              <a:t>&amp; list) {</a:t>
            </a:r>
          </a:p>
          <a:p>
            <a:pPr marL="0" indent="0">
              <a:spcBef>
                <a:spcPts val="300"/>
              </a:spcBef>
              <a:buNone/>
            </a:pPr>
            <a:r>
              <a:rPr lang="en-US" altLang="en-US" sz="2000" smtClean="0">
                <a:latin typeface="Consolas" panose="020B0609020204030204" pitchFamily="49" charset="0"/>
                <a:cs typeface="Consolas" panose="020B0609020204030204" pitchFamily="49" charset="0"/>
              </a:rPr>
              <a:t>    // Giữ lại địa chỉ của nút đầu danh sách</a:t>
            </a:r>
          </a:p>
          <a:p>
            <a:pPr marL="0" indent="0">
              <a:spcBef>
                <a:spcPts val="300"/>
              </a:spcBef>
              <a:buNone/>
            </a:pPr>
            <a:r>
              <a:rPr lang="en-US" altLang="en-US" sz="2000">
                <a:latin typeface="Consolas" panose="020B0609020204030204" pitchFamily="49" charset="0"/>
                <a:cs typeface="Consolas" panose="020B0609020204030204" pitchFamily="49" charset="0"/>
              </a:rPr>
              <a:t> </a:t>
            </a:r>
            <a:r>
              <a:rPr lang="en-US" altLang="en-US" sz="2000" smtClean="0">
                <a:latin typeface="Consolas" panose="020B0609020204030204" pitchFamily="49" charset="0"/>
                <a:cs typeface="Consolas" panose="020B0609020204030204" pitchFamily="49" charset="0"/>
              </a:rPr>
              <a:t>   // (sẽ cần địa chỉ này khi xóa).</a:t>
            </a:r>
            <a:endParaRPr lang="en-US" altLang="en-US" sz="2000">
              <a:latin typeface="Consolas" panose="020B0609020204030204" pitchFamily="49" charset="0"/>
              <a:cs typeface="Consolas" panose="020B0609020204030204" pitchFamily="49" charset="0"/>
            </a:endParaRPr>
          </a:p>
          <a:p>
            <a:pPr marL="0" indent="0">
              <a:buNone/>
            </a:pPr>
            <a:r>
              <a:rPr lang="en-US" altLang="en-US" sz="2000">
                <a:latin typeface="Consolas" panose="020B0609020204030204" pitchFamily="49" charset="0"/>
                <a:cs typeface="Consolas" panose="020B0609020204030204" pitchFamily="49" charset="0"/>
              </a:rPr>
              <a:t>    Node * </a:t>
            </a:r>
            <a:r>
              <a:rPr lang="en-US" altLang="en-US" sz="2000" smtClean="0">
                <a:latin typeface="Consolas" panose="020B0609020204030204" pitchFamily="49" charset="0"/>
                <a:cs typeface="Consolas" panose="020B0609020204030204" pitchFamily="49" charset="0"/>
              </a:rPr>
              <a:t>old </a:t>
            </a:r>
            <a:r>
              <a:rPr lang="en-US" altLang="en-US" sz="2000">
                <a:latin typeface="Consolas" panose="020B0609020204030204" pitchFamily="49" charset="0"/>
                <a:cs typeface="Consolas" panose="020B0609020204030204" pitchFamily="49" charset="0"/>
              </a:rPr>
              <a:t>= </a:t>
            </a:r>
            <a:r>
              <a:rPr lang="en-US" altLang="en-US" sz="2000" smtClean="0">
                <a:latin typeface="Consolas" panose="020B0609020204030204" pitchFamily="49" charset="0"/>
                <a:cs typeface="Consolas" panose="020B0609020204030204" pitchFamily="49" charset="0"/>
              </a:rPr>
              <a:t>list.head;</a:t>
            </a:r>
          </a:p>
          <a:p>
            <a:pPr marL="0" indent="0">
              <a:spcBef>
                <a:spcPts val="2400"/>
              </a:spcBef>
              <a:buNone/>
            </a:pPr>
            <a:r>
              <a:rPr lang="en-US" altLang="en-US" sz="2000">
                <a:latin typeface="Consolas" panose="020B0609020204030204" pitchFamily="49" charset="0"/>
                <a:cs typeface="Consolas" panose="020B0609020204030204" pitchFamily="49" charset="0"/>
              </a:rPr>
              <a:t> </a:t>
            </a:r>
            <a:r>
              <a:rPr lang="en-US" altLang="en-US" sz="2000" smtClean="0">
                <a:latin typeface="Consolas" panose="020B0609020204030204" pitchFamily="49" charset="0"/>
                <a:cs typeface="Consolas" panose="020B0609020204030204" pitchFamily="49" charset="0"/>
              </a:rPr>
              <a:t>   // Vì nút thứ hai sẽ trở thành nút đầu, phải cập nhật</a:t>
            </a:r>
          </a:p>
          <a:p>
            <a:pPr marL="0" indent="0">
              <a:spcBef>
                <a:spcPts val="300"/>
              </a:spcBef>
              <a:buNone/>
            </a:pPr>
            <a:r>
              <a:rPr lang="en-US" altLang="en-US" sz="2000">
                <a:latin typeface="Consolas" panose="020B0609020204030204" pitchFamily="49" charset="0"/>
                <a:cs typeface="Consolas" panose="020B0609020204030204" pitchFamily="49" charset="0"/>
              </a:rPr>
              <a:t> </a:t>
            </a:r>
            <a:r>
              <a:rPr lang="en-US" altLang="en-US" sz="2000" smtClean="0">
                <a:latin typeface="Consolas" panose="020B0609020204030204" pitchFamily="49" charset="0"/>
                <a:cs typeface="Consolas" panose="020B0609020204030204" pitchFamily="49" charset="0"/>
              </a:rPr>
              <a:t>   // head cho trỏ tới nút thứ hai.</a:t>
            </a:r>
          </a:p>
          <a:p>
            <a:pPr marL="0" indent="0">
              <a:buNone/>
            </a:pPr>
            <a:r>
              <a:rPr lang="en-US" altLang="en-US" sz="2000" smtClean="0">
                <a:latin typeface="Consolas" panose="020B0609020204030204" pitchFamily="49" charset="0"/>
                <a:cs typeface="Consolas" panose="020B0609020204030204" pitchFamily="49" charset="0"/>
              </a:rPr>
              <a:t>    list.head = list.head-&gt;next;</a:t>
            </a:r>
            <a:endParaRPr lang="en-US" altLang="en-US" sz="2000">
              <a:latin typeface="Consolas" panose="020B0609020204030204" pitchFamily="49" charset="0"/>
              <a:cs typeface="Consolas" panose="020B0609020204030204" pitchFamily="49" charset="0"/>
            </a:endParaRPr>
          </a:p>
          <a:p>
            <a:pPr marL="0" indent="0">
              <a:spcBef>
                <a:spcPts val="2400"/>
              </a:spcBef>
              <a:buNone/>
            </a:pPr>
            <a:r>
              <a:rPr lang="en-US" altLang="en-US" sz="2000">
                <a:latin typeface="Consolas" panose="020B0609020204030204" pitchFamily="49" charset="0"/>
                <a:cs typeface="Consolas" panose="020B0609020204030204" pitchFamily="49" charset="0"/>
              </a:rPr>
              <a:t>    // </a:t>
            </a:r>
            <a:r>
              <a:rPr lang="en-US" altLang="en-US" sz="2000" smtClean="0">
                <a:latin typeface="Consolas" panose="020B0609020204030204" pitchFamily="49" charset="0"/>
                <a:cs typeface="Consolas" panose="020B0609020204030204" pitchFamily="49" charset="0"/>
              </a:rPr>
              <a:t>Xóa nút đầu cũ dùng địa chỉ đã giữ lại bên trên</a:t>
            </a:r>
            <a:endParaRPr lang="en-US" altLang="en-US" sz="2000">
              <a:latin typeface="Consolas" panose="020B0609020204030204" pitchFamily="49" charset="0"/>
              <a:cs typeface="Consolas" panose="020B0609020204030204" pitchFamily="49" charset="0"/>
            </a:endParaRPr>
          </a:p>
          <a:p>
            <a:pPr marL="0" indent="0">
              <a:buNone/>
            </a:pPr>
            <a:r>
              <a:rPr lang="en-US" altLang="en-US" sz="2000">
                <a:latin typeface="Consolas" panose="020B0609020204030204" pitchFamily="49" charset="0"/>
                <a:cs typeface="Consolas" panose="020B0609020204030204" pitchFamily="49" charset="0"/>
              </a:rPr>
              <a:t>    </a:t>
            </a:r>
            <a:r>
              <a:rPr lang="en-US" altLang="en-US" sz="2000" smtClean="0">
                <a:latin typeface="Consolas" panose="020B0609020204030204" pitchFamily="49" charset="0"/>
                <a:cs typeface="Consolas" panose="020B0609020204030204" pitchFamily="49" charset="0"/>
              </a:rPr>
              <a:t>delete old;</a:t>
            </a:r>
            <a:endParaRPr lang="en-US" altLang="en-US" sz="2000">
              <a:latin typeface="Consolas" panose="020B0609020204030204" pitchFamily="49" charset="0"/>
              <a:cs typeface="Consolas" panose="020B0609020204030204" pitchFamily="49" charset="0"/>
            </a:endParaRPr>
          </a:p>
          <a:p>
            <a:pPr marL="0" indent="0">
              <a:buNone/>
            </a:pPr>
            <a:r>
              <a:rPr lang="en-US" altLang="en-US" sz="2000" smtClean="0">
                <a:latin typeface="Consolas" panose="020B0609020204030204" pitchFamily="49" charset="0"/>
                <a:cs typeface="Consolas" panose="020B0609020204030204" pitchFamily="49" charset="0"/>
              </a:rPr>
              <a:t>}</a:t>
            </a:r>
            <a:endParaRPr lang="en-US" altLang="en-US" sz="2000">
              <a:latin typeface="Consolas" panose="020B0609020204030204" pitchFamily="49" charset="0"/>
              <a:cs typeface="Consolas" panose="020B0609020204030204" pitchFamily="49" charset="0"/>
            </a:endParaRPr>
          </a:p>
        </p:txBody>
      </p:sp>
      <p:sp>
        <p:nvSpPr>
          <p:cNvPr id="4" name="Slide Number Placeholder 3"/>
          <p:cNvSpPr>
            <a:spLocks noGrp="1"/>
          </p:cNvSpPr>
          <p:nvPr>
            <p:ph type="sldNum" sz="quarter" idx="12"/>
          </p:nvPr>
        </p:nvSpPr>
        <p:spPr/>
        <p:txBody>
          <a:bodyPr/>
          <a:lstStyle/>
          <a:p>
            <a:fld id="{E99E512B-1003-47C1-A1C1-7B7D3ED31612}" type="slidenum">
              <a:rPr lang="en-US" smtClean="0"/>
              <a:t>14</a:t>
            </a:fld>
            <a:endParaRPr lang="en-US"/>
          </a:p>
        </p:txBody>
      </p:sp>
    </p:spTree>
    <p:extLst>
      <p:ext uri="{BB962C8B-B14F-4D97-AF65-F5344CB8AC3E}">
        <p14:creationId xmlns:p14="http://schemas.microsoft.com/office/powerpoint/2010/main" val="30408427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Phân tích thời gian chạy</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sz="2800" smtClean="0"/>
                  <a:t>Hàm khởi tạo: O(1)</a:t>
                </a:r>
              </a:p>
              <a:p>
                <a:r>
                  <a:rPr lang="en-US" sz="2800" smtClean="0"/>
                  <a:t>Hàm hủy: O(n) </a:t>
                </a:r>
                <a14:m>
                  <m:oMath xmlns:m="http://schemas.openxmlformats.org/officeDocument/2006/math">
                    <m:r>
                      <a:rPr lang="en-US" sz="2800" i="1" smtClean="0">
                        <a:latin typeface="Cambria Math" panose="02040503050406030204" pitchFamily="18" charset="0"/>
                        <a:sym typeface="Symbol" panose="05050102010706020507" pitchFamily="18" charset="2"/>
                      </a:rPr>
                      <m:t></m:t>
                    </m:r>
                  </m:oMath>
                </a14:m>
                <a:r>
                  <a:rPr lang="en-US" sz="2800" smtClean="0"/>
                  <a:t> vì phải xóa n phần tử/nút.</a:t>
                </a:r>
              </a:p>
              <a:p>
                <a:r>
                  <a:rPr lang="en-US" sz="2800" smtClean="0"/>
                  <a:t>Kiểm tra rỗng: O(1)</a:t>
                </a:r>
              </a:p>
              <a:p>
                <a:r>
                  <a:rPr lang="en-US" sz="2800" smtClean="0"/>
                  <a:t>Lấy phần tử đầu danh sách: O(1)</a:t>
                </a:r>
              </a:p>
              <a:p>
                <a:r>
                  <a:rPr lang="en-US" sz="2800" smtClean="0"/>
                  <a:t>Chèn/xóa ở đầu danh sách: O(1)</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333" t="-125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99E512B-1003-47C1-A1C1-7B7D3ED31612}" type="slidenum">
              <a:rPr lang="en-US" smtClean="0"/>
              <a:t>15</a:t>
            </a:fld>
            <a:endParaRPr lang="en-US"/>
          </a:p>
        </p:txBody>
      </p:sp>
    </p:spTree>
    <p:extLst>
      <p:ext uri="{BB962C8B-B14F-4D97-AF65-F5344CB8AC3E}">
        <p14:creationId xmlns:p14="http://schemas.microsoft.com/office/powerpoint/2010/main" val="32744026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3. Danh sách liên kết đôi</a:t>
            </a:r>
            <a:endParaRPr lang="en-US"/>
          </a:p>
        </p:txBody>
      </p:sp>
      <p:sp>
        <p:nvSpPr>
          <p:cNvPr id="3" name="Slide Number Placeholder 2"/>
          <p:cNvSpPr>
            <a:spLocks noGrp="1"/>
          </p:cNvSpPr>
          <p:nvPr>
            <p:ph type="sldNum" sz="quarter" idx="12"/>
          </p:nvPr>
        </p:nvSpPr>
        <p:spPr/>
        <p:txBody>
          <a:bodyPr/>
          <a:lstStyle/>
          <a:p>
            <a:fld id="{E99E512B-1003-47C1-A1C1-7B7D3ED31612}" type="slidenum">
              <a:rPr lang="en-US" smtClean="0"/>
              <a:t>16</a:t>
            </a:fld>
            <a:endParaRPr lang="en-US"/>
          </a:p>
        </p:txBody>
      </p:sp>
    </p:spTree>
    <p:extLst>
      <p:ext uri="{BB962C8B-B14F-4D97-AF65-F5344CB8AC3E}">
        <p14:creationId xmlns:p14="http://schemas.microsoft.com/office/powerpoint/2010/main" val="257781977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Danh sách liên kết đôi</a:t>
            </a:r>
            <a:endParaRPr lang="en-US"/>
          </a:p>
        </p:txBody>
      </p:sp>
      <p:sp>
        <p:nvSpPr>
          <p:cNvPr id="4" name="Content Placeholder 3"/>
          <p:cNvSpPr>
            <a:spLocks noGrp="1"/>
          </p:cNvSpPr>
          <p:nvPr>
            <p:ph idx="1"/>
          </p:nvPr>
        </p:nvSpPr>
        <p:spPr>
          <a:xfrm>
            <a:off x="457200" y="2708920"/>
            <a:ext cx="8229600" cy="3888432"/>
          </a:xfrm>
        </p:spPr>
        <p:txBody>
          <a:bodyPr>
            <a:noAutofit/>
          </a:bodyPr>
          <a:lstStyle/>
          <a:p>
            <a:r>
              <a:rPr lang="en-US" sz="2200" smtClean="0"/>
              <a:t>Mỗi nút chứa một phần tử và hai liên kết:</a:t>
            </a:r>
          </a:p>
          <a:p>
            <a:pPr lvl="1"/>
            <a:r>
              <a:rPr lang="en-US" sz="2200" smtClean="0"/>
              <a:t>một liên kết tới nút kế tiếp (next);</a:t>
            </a:r>
          </a:p>
          <a:p>
            <a:pPr lvl="1"/>
            <a:r>
              <a:rPr lang="en-US" sz="2200" smtClean="0"/>
              <a:t>một liên kết về nút liền trước (previous).</a:t>
            </a:r>
            <a:endParaRPr lang="en-US" sz="2200"/>
          </a:p>
          <a:p>
            <a:r>
              <a:rPr lang="en-US" sz="2200"/>
              <a:t>Các thao tác chính:</a:t>
            </a:r>
          </a:p>
          <a:p>
            <a:pPr lvl="1"/>
            <a:r>
              <a:rPr lang="en-US" sz="2200" smtClean="0"/>
              <a:t>Chèn/xóa ở đầu, ở cuối hoặc ở vị trí hiện hành;</a:t>
            </a:r>
            <a:endParaRPr lang="en-US" sz="2200"/>
          </a:p>
          <a:p>
            <a:pPr lvl="1"/>
            <a:r>
              <a:rPr lang="en-US" sz="2200" smtClean="0"/>
              <a:t>Lấy phần tử ở đầu, ở cuối hoặc ở vị </a:t>
            </a:r>
            <a:r>
              <a:rPr lang="en-US" sz="2200"/>
              <a:t>trí hiện </a:t>
            </a:r>
            <a:r>
              <a:rPr lang="en-US" sz="2200" smtClean="0"/>
              <a:t>hành;</a:t>
            </a:r>
          </a:p>
          <a:p>
            <a:pPr lvl="1"/>
            <a:r>
              <a:rPr lang="en-US" sz="2200"/>
              <a:t>Duyệt danh sách tiến hoặc </a:t>
            </a:r>
            <a:r>
              <a:rPr lang="en-US" sz="2200" smtClean="0"/>
              <a:t>lùi.</a:t>
            </a:r>
          </a:p>
          <a:p>
            <a:r>
              <a:rPr lang="en-US" sz="2200" smtClean="0"/>
              <a:t>Chú ý: header và trailer là những nút đầu/cuối giả (không chứa phần tử), được dùng để thuận tiện cho việc lập trình.</a:t>
            </a:r>
          </a:p>
        </p:txBody>
      </p:sp>
      <p:pic>
        <p:nvPicPr>
          <p:cNvPr id="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2080" y="1554235"/>
            <a:ext cx="7016304" cy="10106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E99E512B-1003-47C1-A1C1-7B7D3ED31612}" type="slidenum">
              <a:rPr lang="en-US" smtClean="0"/>
              <a:t>17</a:t>
            </a:fld>
            <a:endParaRPr lang="en-US"/>
          </a:p>
        </p:txBody>
      </p:sp>
    </p:spTree>
    <p:extLst>
      <p:ext uri="{BB962C8B-B14F-4D97-AF65-F5344CB8AC3E}">
        <p14:creationId xmlns:p14="http://schemas.microsoft.com/office/powerpoint/2010/main" val="34631234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Cài đặt danh sách liên kết đôi</a:t>
            </a:r>
            <a:endParaRPr lang="en-US"/>
          </a:p>
        </p:txBody>
      </p:sp>
      <p:sp>
        <p:nvSpPr>
          <p:cNvPr id="3" name="Content Placeholder 2"/>
          <p:cNvSpPr>
            <a:spLocks noGrp="1"/>
          </p:cNvSpPr>
          <p:nvPr>
            <p:ph idx="1"/>
          </p:nvPr>
        </p:nvSpPr>
        <p:spPr>
          <a:xfrm>
            <a:off x="457200" y="1600200"/>
            <a:ext cx="8494948" cy="5069160"/>
          </a:xfrm>
        </p:spPr>
        <p:txBody>
          <a:bodyPr>
            <a:noAutofit/>
          </a:bodyPr>
          <a:lstStyle/>
          <a:p>
            <a:pPr marL="0" lvl="1" indent="0">
              <a:spcBef>
                <a:spcPts val="300"/>
              </a:spcBef>
              <a:buNone/>
            </a:pPr>
            <a:r>
              <a:rPr lang="en-US" sz="1800">
                <a:latin typeface="Consolas" panose="020B0609020204030204" pitchFamily="49" charset="0"/>
              </a:rPr>
              <a:t>// Khai báo kiểu phần tử</a:t>
            </a:r>
          </a:p>
          <a:p>
            <a:pPr marL="0" lvl="1" indent="0">
              <a:spcBef>
                <a:spcPts val="300"/>
              </a:spcBef>
              <a:buNone/>
            </a:pPr>
            <a:r>
              <a:rPr lang="en-US" sz="1800">
                <a:latin typeface="Consolas" panose="020B0609020204030204" pitchFamily="49" charset="0"/>
              </a:rPr>
              <a:t>typedef int T;</a:t>
            </a:r>
            <a:endParaRPr lang="en-US" altLang="en-US" sz="1800">
              <a:latin typeface="Consolas" panose="020B0609020204030204" pitchFamily="49" charset="0"/>
              <a:cs typeface="Consolas" panose="020B0609020204030204" pitchFamily="49" charset="0"/>
            </a:endParaRPr>
          </a:p>
          <a:p>
            <a:pPr marL="0" lvl="1" indent="0">
              <a:spcBef>
                <a:spcPts val="1200"/>
              </a:spcBef>
              <a:buNone/>
            </a:pPr>
            <a:r>
              <a:rPr lang="en-US" altLang="en-US" sz="1800">
                <a:latin typeface="Consolas" panose="020B0609020204030204" pitchFamily="49" charset="0"/>
                <a:cs typeface="Consolas" panose="020B0609020204030204" pitchFamily="49" charset="0"/>
              </a:rPr>
              <a:t>// Định nghĩa kiểu của các nút trong danh </a:t>
            </a:r>
            <a:r>
              <a:rPr lang="en-US" altLang="en-US" sz="1800" smtClean="0">
                <a:latin typeface="Consolas" panose="020B0609020204030204" pitchFamily="49" charset="0"/>
                <a:cs typeface="Consolas" panose="020B0609020204030204" pitchFamily="49" charset="0"/>
              </a:rPr>
              <a:t>sách</a:t>
            </a:r>
            <a:endParaRPr lang="en-US" altLang="en-US" sz="1800">
              <a:latin typeface="Consolas" panose="020B0609020204030204" pitchFamily="49" charset="0"/>
              <a:cs typeface="Consolas" panose="020B0609020204030204" pitchFamily="49" charset="0"/>
            </a:endParaRPr>
          </a:p>
          <a:p>
            <a:pPr marL="0" indent="0">
              <a:spcBef>
                <a:spcPts val="300"/>
              </a:spcBef>
              <a:buNone/>
            </a:pPr>
            <a:r>
              <a:rPr lang="en-US" altLang="en-US" sz="1800">
                <a:latin typeface="Consolas" panose="020B0609020204030204" pitchFamily="49" charset="0"/>
              </a:rPr>
              <a:t>struct </a:t>
            </a:r>
            <a:r>
              <a:rPr lang="en-US" altLang="en-US" sz="1800" smtClean="0">
                <a:latin typeface="Consolas" panose="020B0609020204030204" pitchFamily="49" charset="0"/>
              </a:rPr>
              <a:t>DNode </a:t>
            </a:r>
            <a:r>
              <a:rPr lang="en-US" altLang="en-US" sz="1800">
                <a:latin typeface="Consolas" panose="020B0609020204030204" pitchFamily="49" charset="0"/>
              </a:rPr>
              <a:t>{</a:t>
            </a:r>
          </a:p>
          <a:p>
            <a:pPr marL="0" indent="0">
              <a:buNone/>
            </a:pPr>
            <a:r>
              <a:rPr lang="en-US" altLang="en-US" sz="1800">
                <a:latin typeface="Consolas" panose="020B0609020204030204" pitchFamily="49" charset="0"/>
                <a:cs typeface="Consolas" panose="020B0609020204030204" pitchFamily="49" charset="0"/>
              </a:rPr>
              <a:t> </a:t>
            </a:r>
            <a:r>
              <a:rPr lang="en-US" altLang="en-US" sz="1800" smtClean="0">
                <a:latin typeface="Consolas" panose="020B0609020204030204" pitchFamily="49" charset="0"/>
                <a:cs typeface="Consolas" panose="020B0609020204030204" pitchFamily="49" charset="0"/>
              </a:rPr>
              <a:t>   T </a:t>
            </a:r>
            <a:r>
              <a:rPr lang="en-US" altLang="en-US" sz="1800">
                <a:latin typeface="Consolas" panose="020B0609020204030204" pitchFamily="49" charset="0"/>
                <a:cs typeface="Consolas" panose="020B0609020204030204" pitchFamily="49" charset="0"/>
              </a:rPr>
              <a:t>elem;       // Phần tử</a:t>
            </a:r>
          </a:p>
          <a:p>
            <a:pPr marL="0" indent="0">
              <a:buNone/>
            </a:pPr>
            <a:r>
              <a:rPr lang="en-US" altLang="en-US" sz="1800">
                <a:latin typeface="Consolas" panose="020B0609020204030204" pitchFamily="49" charset="0"/>
                <a:cs typeface="Consolas" panose="020B0609020204030204" pitchFamily="49" charset="0"/>
              </a:rPr>
              <a:t>    DNode * next; // Liên kết về phía sau</a:t>
            </a:r>
          </a:p>
          <a:p>
            <a:pPr marL="0" indent="0">
              <a:buNone/>
            </a:pPr>
            <a:r>
              <a:rPr lang="en-US" altLang="en-US" sz="1800">
                <a:latin typeface="Consolas" panose="020B0609020204030204" pitchFamily="49" charset="0"/>
                <a:cs typeface="Consolas" panose="020B0609020204030204" pitchFamily="49" charset="0"/>
              </a:rPr>
              <a:t>    DNode * prev; // Liên kết về phía </a:t>
            </a:r>
            <a:r>
              <a:rPr lang="en-US" altLang="en-US" sz="1800" smtClean="0">
                <a:latin typeface="Consolas" panose="020B0609020204030204" pitchFamily="49" charset="0"/>
                <a:cs typeface="Consolas" panose="020B0609020204030204" pitchFamily="49" charset="0"/>
              </a:rPr>
              <a:t>trước</a:t>
            </a:r>
          </a:p>
          <a:p>
            <a:pPr marL="0" indent="0">
              <a:buNone/>
            </a:pPr>
            <a:r>
              <a:rPr lang="en-US" altLang="en-US" sz="1800" smtClean="0">
                <a:latin typeface="Consolas" panose="020B0609020204030204" pitchFamily="49" charset="0"/>
              </a:rPr>
              <a:t>};</a:t>
            </a:r>
            <a:endParaRPr lang="en-US" altLang="en-US" sz="1800">
              <a:latin typeface="Consolas" panose="020B0609020204030204" pitchFamily="49" charset="0"/>
            </a:endParaRPr>
          </a:p>
          <a:p>
            <a:pPr marL="0" lvl="1" indent="0">
              <a:spcBef>
                <a:spcPts val="1200"/>
              </a:spcBef>
              <a:buNone/>
            </a:pPr>
            <a:r>
              <a:rPr lang="en-US" altLang="en-US" sz="1800">
                <a:latin typeface="Consolas" panose="020B0609020204030204" pitchFamily="49" charset="0"/>
                <a:cs typeface="Consolas" panose="020B0609020204030204" pitchFamily="49" charset="0"/>
              </a:rPr>
              <a:t>// Định nghĩa cấu trúc danh sách liên kết </a:t>
            </a:r>
            <a:r>
              <a:rPr lang="en-US" altLang="en-US" sz="1800" smtClean="0">
                <a:latin typeface="Consolas" panose="020B0609020204030204" pitchFamily="49" charset="0"/>
                <a:cs typeface="Consolas" panose="020B0609020204030204" pitchFamily="49" charset="0"/>
              </a:rPr>
              <a:t>đôi</a:t>
            </a:r>
            <a:endParaRPr lang="en-US" altLang="en-US" sz="1800">
              <a:latin typeface="Consolas" panose="020B0609020204030204" pitchFamily="49" charset="0"/>
            </a:endParaRPr>
          </a:p>
          <a:p>
            <a:pPr marL="0" lvl="1" indent="0">
              <a:spcBef>
                <a:spcPts val="300"/>
              </a:spcBef>
              <a:buNone/>
            </a:pPr>
            <a:r>
              <a:rPr lang="en-US" altLang="en-US" sz="1800">
                <a:latin typeface="Consolas" panose="020B0609020204030204" pitchFamily="49" charset="0"/>
              </a:rPr>
              <a:t>struct </a:t>
            </a:r>
            <a:r>
              <a:rPr lang="en-US" altLang="en-US" sz="1800" smtClean="0">
                <a:latin typeface="Consolas" panose="020B0609020204030204" pitchFamily="49" charset="0"/>
              </a:rPr>
              <a:t>DList </a:t>
            </a:r>
            <a:r>
              <a:rPr lang="en-US" altLang="en-US" sz="1800">
                <a:latin typeface="Consolas" panose="020B0609020204030204" pitchFamily="49" charset="0"/>
              </a:rPr>
              <a:t>{</a:t>
            </a:r>
          </a:p>
          <a:p>
            <a:pPr marL="0" lvl="1" indent="0">
              <a:spcBef>
                <a:spcPts val="300"/>
              </a:spcBef>
              <a:buNone/>
            </a:pPr>
            <a:r>
              <a:rPr lang="en-US" altLang="en-US" sz="1800">
                <a:latin typeface="Consolas" panose="020B0609020204030204" pitchFamily="49" charset="0"/>
                <a:cs typeface="Consolas" panose="020B0609020204030204" pitchFamily="49" charset="0"/>
              </a:rPr>
              <a:t> </a:t>
            </a:r>
            <a:r>
              <a:rPr lang="en-US" altLang="en-US" sz="1800" smtClean="0">
                <a:latin typeface="Consolas" panose="020B0609020204030204" pitchFamily="49" charset="0"/>
                <a:cs typeface="Consolas" panose="020B0609020204030204" pitchFamily="49" charset="0"/>
              </a:rPr>
              <a:t>   DNode </a:t>
            </a:r>
            <a:r>
              <a:rPr lang="en-US" altLang="en-US" sz="1800">
                <a:latin typeface="Consolas" panose="020B0609020204030204" pitchFamily="49" charset="0"/>
                <a:cs typeface="Consolas" panose="020B0609020204030204" pitchFamily="49" charset="0"/>
              </a:rPr>
              <a:t>* header;       // </a:t>
            </a:r>
            <a:r>
              <a:rPr lang="en-US" altLang="en-US" sz="1800" smtClean="0">
                <a:latin typeface="Consolas" panose="020B0609020204030204" pitchFamily="49" charset="0"/>
                <a:cs typeface="Consolas" panose="020B0609020204030204" pitchFamily="49" charset="0"/>
              </a:rPr>
              <a:t>Con trỏ tới đầu </a:t>
            </a:r>
            <a:r>
              <a:rPr lang="en-US" altLang="en-US" sz="1800">
                <a:latin typeface="Consolas" panose="020B0609020204030204" pitchFamily="49" charset="0"/>
                <a:cs typeface="Consolas" panose="020B0609020204030204" pitchFamily="49" charset="0"/>
              </a:rPr>
              <a:t>danh sách (nút giả)</a:t>
            </a:r>
          </a:p>
          <a:p>
            <a:pPr marL="0" lvl="1" indent="0">
              <a:spcBef>
                <a:spcPts val="300"/>
              </a:spcBef>
              <a:buNone/>
            </a:pPr>
            <a:r>
              <a:rPr lang="en-US" altLang="en-US" sz="1800" smtClean="0">
                <a:latin typeface="Consolas" panose="020B0609020204030204" pitchFamily="49" charset="0"/>
                <a:cs typeface="Consolas" panose="020B0609020204030204" pitchFamily="49" charset="0"/>
              </a:rPr>
              <a:t>    DNode </a:t>
            </a:r>
            <a:r>
              <a:rPr lang="en-US" altLang="en-US" sz="1800">
                <a:latin typeface="Consolas" panose="020B0609020204030204" pitchFamily="49" charset="0"/>
                <a:cs typeface="Consolas" panose="020B0609020204030204" pitchFamily="49" charset="0"/>
              </a:rPr>
              <a:t>* trailer;      // </a:t>
            </a:r>
            <a:r>
              <a:rPr lang="en-US" altLang="en-US" sz="1800" smtClean="0">
                <a:latin typeface="Consolas" panose="020B0609020204030204" pitchFamily="49" charset="0"/>
                <a:cs typeface="Consolas" panose="020B0609020204030204" pitchFamily="49" charset="0"/>
              </a:rPr>
              <a:t>Con trỏ tới cuối </a:t>
            </a:r>
            <a:r>
              <a:rPr lang="en-US" altLang="en-US" sz="1800">
                <a:latin typeface="Consolas" panose="020B0609020204030204" pitchFamily="49" charset="0"/>
                <a:cs typeface="Consolas" panose="020B0609020204030204" pitchFamily="49" charset="0"/>
              </a:rPr>
              <a:t>danh sách (nút giả)</a:t>
            </a:r>
          </a:p>
          <a:p>
            <a:pPr marL="0" lvl="1" indent="0">
              <a:spcBef>
                <a:spcPts val="300"/>
              </a:spcBef>
              <a:buNone/>
            </a:pPr>
            <a:r>
              <a:rPr lang="en-US" altLang="en-US" sz="1800" smtClean="0">
                <a:latin typeface="Consolas" panose="020B0609020204030204" pitchFamily="49" charset="0"/>
                <a:cs typeface="Consolas" panose="020B0609020204030204" pitchFamily="49" charset="0"/>
              </a:rPr>
              <a:t>    DNode </a:t>
            </a:r>
            <a:r>
              <a:rPr lang="en-US" altLang="en-US" sz="1800">
                <a:latin typeface="Consolas" panose="020B0609020204030204" pitchFamily="49" charset="0"/>
                <a:cs typeface="Consolas" panose="020B0609020204030204" pitchFamily="49" charset="0"/>
              </a:rPr>
              <a:t>* currentPos;   // </a:t>
            </a:r>
            <a:r>
              <a:rPr lang="en-US" altLang="en-US" sz="1800" smtClean="0">
                <a:latin typeface="Consolas" panose="020B0609020204030204" pitchFamily="49" charset="0"/>
                <a:cs typeface="Consolas" panose="020B0609020204030204" pitchFamily="49" charset="0"/>
              </a:rPr>
              <a:t>Con trỏ tới nút </a:t>
            </a:r>
            <a:r>
              <a:rPr lang="en-US" altLang="en-US" sz="1800">
                <a:latin typeface="Consolas" panose="020B0609020204030204" pitchFamily="49" charset="0"/>
                <a:cs typeface="Consolas" panose="020B0609020204030204" pitchFamily="49" charset="0"/>
              </a:rPr>
              <a:t>hiện hành</a:t>
            </a:r>
          </a:p>
          <a:p>
            <a:pPr marL="0" lvl="1" indent="0">
              <a:spcBef>
                <a:spcPts val="300"/>
              </a:spcBef>
              <a:buNone/>
            </a:pPr>
            <a:r>
              <a:rPr lang="en-US" altLang="en-US" sz="1800" smtClean="0">
                <a:latin typeface="Consolas" panose="020B0609020204030204" pitchFamily="49" charset="0"/>
                <a:cs typeface="Consolas" panose="020B0609020204030204" pitchFamily="49" charset="0"/>
              </a:rPr>
              <a:t>};</a:t>
            </a:r>
            <a:endParaRPr lang="en-US" altLang="en-US" sz="1800">
              <a:latin typeface="Consolas" panose="020B0609020204030204" pitchFamily="49" charset="0"/>
              <a:cs typeface="Consolas" panose="020B0609020204030204" pitchFamily="49" charset="0"/>
            </a:endParaRPr>
          </a:p>
        </p:txBody>
      </p:sp>
      <p:sp>
        <p:nvSpPr>
          <p:cNvPr id="4" name="TextBox 3"/>
          <p:cNvSpPr txBox="1"/>
          <p:nvPr/>
        </p:nvSpPr>
        <p:spPr>
          <a:xfrm>
            <a:off x="4860032" y="1519448"/>
            <a:ext cx="4092116" cy="707886"/>
          </a:xfrm>
          <a:prstGeom prst="rect">
            <a:avLst/>
          </a:prstGeom>
          <a:noFill/>
          <a:ln>
            <a:solidFill>
              <a:srgbClr val="3333CC"/>
            </a:solidFill>
          </a:ln>
        </p:spPr>
        <p:txBody>
          <a:bodyPr wrap="square" rtlCol="0">
            <a:spAutoFit/>
          </a:bodyPr>
          <a:lstStyle/>
          <a:p>
            <a:r>
              <a:rPr lang="en-US" sz="2000" i="1" smtClean="0">
                <a:solidFill>
                  <a:srgbClr val="3333CC"/>
                </a:solidFill>
                <a:latin typeface="Calibri" panose="020F0502020204030204" pitchFamily="34" charset="0"/>
                <a:cs typeface="Calibri" panose="020F0502020204030204" pitchFamily="34" charset="0"/>
              </a:rPr>
              <a:t>Chú ý: Lớp </a:t>
            </a:r>
            <a:r>
              <a:rPr lang="en-US" sz="2000" smtClean="0">
                <a:solidFill>
                  <a:srgbClr val="3333CC"/>
                </a:solidFill>
                <a:latin typeface="Consolas" panose="020B0609020204030204" pitchFamily="49" charset="0"/>
                <a:cs typeface="Calibri" panose="020F0502020204030204" pitchFamily="34" charset="0"/>
              </a:rPr>
              <a:t>list</a:t>
            </a:r>
            <a:r>
              <a:rPr lang="en-US" sz="2000" i="1" smtClean="0">
                <a:solidFill>
                  <a:srgbClr val="3333CC"/>
                </a:solidFill>
                <a:latin typeface="Calibri" panose="020F0502020204030204" pitchFamily="34" charset="0"/>
                <a:cs typeface="Calibri" panose="020F0502020204030204" pitchFamily="34" charset="0"/>
              </a:rPr>
              <a:t> trong thư viện chuẩn C++ thực thi danh sách liên kết đôi.</a:t>
            </a:r>
            <a:endParaRPr lang="en-US" sz="2000" i="1">
              <a:solidFill>
                <a:srgbClr val="3333CC"/>
              </a:solidFill>
              <a:latin typeface="Calibri" panose="020F0502020204030204" pitchFamily="34" charset="0"/>
              <a:cs typeface="Calibri" panose="020F0502020204030204" pitchFamily="34" charset="0"/>
            </a:endParaRPr>
          </a:p>
        </p:txBody>
      </p:sp>
      <p:sp>
        <p:nvSpPr>
          <p:cNvPr id="5" name="Slide Number Placeholder 4"/>
          <p:cNvSpPr>
            <a:spLocks noGrp="1"/>
          </p:cNvSpPr>
          <p:nvPr>
            <p:ph type="sldNum" sz="quarter" idx="12"/>
          </p:nvPr>
        </p:nvSpPr>
        <p:spPr/>
        <p:txBody>
          <a:bodyPr/>
          <a:lstStyle/>
          <a:p>
            <a:fld id="{E99E512B-1003-47C1-A1C1-7B7D3ED31612}" type="slidenum">
              <a:rPr lang="en-US" smtClean="0"/>
              <a:t>18</a:t>
            </a:fld>
            <a:endParaRPr lang="en-US"/>
          </a:p>
        </p:txBody>
      </p:sp>
    </p:spTree>
    <p:extLst>
      <p:ext uri="{BB962C8B-B14F-4D97-AF65-F5344CB8AC3E}">
        <p14:creationId xmlns:p14="http://schemas.microsoft.com/office/powerpoint/2010/main" val="300524665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Khai báo các hàm/thao tác</a:t>
            </a:r>
            <a:endParaRPr lang="en-US"/>
          </a:p>
        </p:txBody>
      </p:sp>
      <p:sp>
        <p:nvSpPr>
          <p:cNvPr id="3" name="Content Placeholder 2"/>
          <p:cNvSpPr>
            <a:spLocks noGrp="1"/>
          </p:cNvSpPr>
          <p:nvPr>
            <p:ph idx="1"/>
          </p:nvPr>
        </p:nvSpPr>
        <p:spPr>
          <a:xfrm>
            <a:off x="457200" y="1600200"/>
            <a:ext cx="8435280" cy="4876800"/>
          </a:xfrm>
        </p:spPr>
        <p:txBody>
          <a:bodyPr>
            <a:normAutofit/>
          </a:bodyPr>
          <a:lstStyle/>
          <a:p>
            <a:pPr marL="0" indent="0">
              <a:buNone/>
            </a:pPr>
            <a:r>
              <a:rPr lang="en-US" sz="1800" smtClean="0">
                <a:latin typeface="Consolas" panose="020B0609020204030204" pitchFamily="49" charset="0"/>
              </a:rPr>
              <a:t>void dlistInit(DList &amp; list);      // Hàm khởi tạo</a:t>
            </a:r>
          </a:p>
          <a:p>
            <a:pPr marL="0" indent="0">
              <a:spcBef>
                <a:spcPts val="1200"/>
              </a:spcBef>
              <a:buNone/>
            </a:pPr>
            <a:r>
              <a:rPr lang="en-US" sz="1800">
                <a:latin typeface="Consolas" panose="020B0609020204030204" pitchFamily="49" charset="0"/>
              </a:rPr>
              <a:t>void dlistDestroy(DList &amp; list);   // </a:t>
            </a:r>
            <a:r>
              <a:rPr lang="en-US" sz="1800" smtClean="0">
                <a:latin typeface="Consolas" panose="020B0609020204030204" pitchFamily="49" charset="0"/>
              </a:rPr>
              <a:t>Hàm hủy</a:t>
            </a:r>
          </a:p>
          <a:p>
            <a:pPr marL="0" indent="0">
              <a:spcBef>
                <a:spcPts val="1200"/>
              </a:spcBef>
              <a:buNone/>
            </a:pPr>
            <a:r>
              <a:rPr lang="en-US" sz="1800" smtClean="0">
                <a:latin typeface="Consolas" panose="020B0609020204030204" pitchFamily="49" charset="0"/>
              </a:rPr>
              <a:t>bool </a:t>
            </a:r>
            <a:r>
              <a:rPr lang="en-US" sz="1800">
                <a:latin typeface="Consolas" panose="020B0609020204030204" pitchFamily="49" charset="0"/>
              </a:rPr>
              <a:t>dlistIsEmpty(DList &amp; list);   // </a:t>
            </a:r>
            <a:r>
              <a:rPr lang="en-US" sz="1800" smtClean="0">
                <a:latin typeface="Consolas" panose="020B0609020204030204" pitchFamily="49" charset="0"/>
              </a:rPr>
              <a:t>Kiểm tra rỗng</a:t>
            </a:r>
          </a:p>
          <a:p>
            <a:pPr marL="0" indent="0">
              <a:spcBef>
                <a:spcPts val="1200"/>
              </a:spcBef>
              <a:buNone/>
            </a:pPr>
            <a:r>
              <a:rPr lang="en-US" sz="1800" smtClean="0">
                <a:latin typeface="Consolas" panose="020B0609020204030204" pitchFamily="49" charset="0"/>
              </a:rPr>
              <a:t>T </a:t>
            </a:r>
            <a:r>
              <a:rPr lang="en-US" sz="1800">
                <a:latin typeface="Consolas" panose="020B0609020204030204" pitchFamily="49" charset="0"/>
              </a:rPr>
              <a:t>dlistFront(DList &amp; list);        // </a:t>
            </a:r>
            <a:r>
              <a:rPr lang="en-US" sz="1800" smtClean="0">
                <a:latin typeface="Consolas" panose="020B0609020204030204" pitchFamily="49" charset="0"/>
              </a:rPr>
              <a:t>Lấy phần tử đầu danh sách</a:t>
            </a:r>
          </a:p>
          <a:p>
            <a:pPr marL="0" indent="0">
              <a:spcBef>
                <a:spcPts val="1200"/>
              </a:spcBef>
              <a:buNone/>
            </a:pPr>
            <a:r>
              <a:rPr lang="en-US" sz="1800" smtClean="0">
                <a:latin typeface="Consolas" panose="020B0609020204030204" pitchFamily="49" charset="0"/>
              </a:rPr>
              <a:t>T </a:t>
            </a:r>
            <a:r>
              <a:rPr lang="en-US" sz="1800">
                <a:latin typeface="Consolas" panose="020B0609020204030204" pitchFamily="49" charset="0"/>
              </a:rPr>
              <a:t>dlistBack(DList &amp; list);         // </a:t>
            </a:r>
            <a:r>
              <a:rPr lang="en-US" sz="1800" smtClean="0">
                <a:latin typeface="Consolas" panose="020B0609020204030204" pitchFamily="49" charset="0"/>
              </a:rPr>
              <a:t>Lấy phần tử cuối danh sách</a:t>
            </a:r>
          </a:p>
          <a:p>
            <a:pPr marL="0" indent="0">
              <a:spcBef>
                <a:spcPts val="1200"/>
              </a:spcBef>
              <a:buNone/>
            </a:pPr>
            <a:r>
              <a:rPr lang="en-US" sz="1800" smtClean="0">
                <a:latin typeface="Consolas" panose="020B0609020204030204" pitchFamily="49" charset="0"/>
              </a:rPr>
              <a:t>T </a:t>
            </a:r>
            <a:r>
              <a:rPr lang="en-US" sz="1800">
                <a:latin typeface="Consolas" panose="020B0609020204030204" pitchFamily="49" charset="0"/>
              </a:rPr>
              <a:t>dlistCurrent(DList &amp; list);      // </a:t>
            </a:r>
            <a:r>
              <a:rPr lang="en-US" sz="1800" smtClean="0">
                <a:latin typeface="Consolas" panose="020B0609020204030204" pitchFamily="49" charset="0"/>
              </a:rPr>
              <a:t>Lấy phần tử hiện hành</a:t>
            </a:r>
          </a:p>
          <a:p>
            <a:pPr marL="0" indent="0">
              <a:spcBef>
                <a:spcPts val="1200"/>
              </a:spcBef>
              <a:buNone/>
            </a:pPr>
            <a:r>
              <a:rPr lang="en-US" sz="1800" smtClean="0">
                <a:latin typeface="Consolas" panose="020B0609020204030204" pitchFamily="49" charset="0"/>
              </a:rPr>
              <a:t>void dlistMoveNext</a:t>
            </a:r>
            <a:r>
              <a:rPr lang="en-US" sz="1800">
                <a:latin typeface="Consolas" panose="020B0609020204030204" pitchFamily="49" charset="0"/>
              </a:rPr>
              <a:t>(DList &amp; list);  // </a:t>
            </a:r>
            <a:r>
              <a:rPr lang="en-US" sz="1800" smtClean="0">
                <a:latin typeface="Consolas" panose="020B0609020204030204" pitchFamily="49" charset="0"/>
              </a:rPr>
              <a:t>Chuyển sang nút kế tiếp</a:t>
            </a:r>
          </a:p>
          <a:p>
            <a:pPr marL="0" indent="0">
              <a:spcBef>
                <a:spcPts val="1200"/>
              </a:spcBef>
              <a:buNone/>
            </a:pPr>
            <a:r>
              <a:rPr lang="en-US" sz="1800" smtClean="0">
                <a:latin typeface="Consolas" panose="020B0609020204030204" pitchFamily="49" charset="0"/>
              </a:rPr>
              <a:t>void dlistMovePrev</a:t>
            </a:r>
            <a:r>
              <a:rPr lang="en-US" sz="1800">
                <a:latin typeface="Consolas" panose="020B0609020204030204" pitchFamily="49" charset="0"/>
              </a:rPr>
              <a:t>(DList &amp; list);  // </a:t>
            </a:r>
            <a:r>
              <a:rPr lang="en-US" sz="1800" smtClean="0">
                <a:latin typeface="Consolas" panose="020B0609020204030204" pitchFamily="49" charset="0"/>
              </a:rPr>
              <a:t>Chuyển về nút liền trước</a:t>
            </a:r>
          </a:p>
          <a:p>
            <a:pPr marL="0" indent="0">
              <a:spcBef>
                <a:spcPts val="1200"/>
              </a:spcBef>
              <a:buNone/>
            </a:pPr>
            <a:r>
              <a:rPr lang="en-US" sz="1800" smtClean="0">
                <a:latin typeface="Consolas" panose="020B0609020204030204" pitchFamily="49" charset="0"/>
              </a:rPr>
              <a:t>void dlistMoveFront</a:t>
            </a:r>
            <a:r>
              <a:rPr lang="en-US" sz="1800">
                <a:latin typeface="Consolas" panose="020B0609020204030204" pitchFamily="49" charset="0"/>
              </a:rPr>
              <a:t>(DList &amp; list); </a:t>
            </a:r>
            <a:r>
              <a:rPr lang="en-US" sz="1800" smtClean="0">
                <a:latin typeface="Consolas" panose="020B0609020204030204" pitchFamily="49" charset="0"/>
              </a:rPr>
              <a:t>// Chuyển về đầu danh sách</a:t>
            </a:r>
          </a:p>
          <a:p>
            <a:pPr marL="0" indent="0">
              <a:spcBef>
                <a:spcPts val="1200"/>
              </a:spcBef>
              <a:buNone/>
            </a:pPr>
            <a:r>
              <a:rPr lang="en-US" sz="1800" smtClean="0">
                <a:latin typeface="Consolas" panose="020B0609020204030204" pitchFamily="49" charset="0"/>
              </a:rPr>
              <a:t>void dlistMoveBack</a:t>
            </a:r>
            <a:r>
              <a:rPr lang="en-US" sz="1800">
                <a:latin typeface="Consolas" panose="020B0609020204030204" pitchFamily="49" charset="0"/>
              </a:rPr>
              <a:t>(DList &amp; list);  // </a:t>
            </a:r>
            <a:r>
              <a:rPr lang="en-US" sz="1800" smtClean="0">
                <a:latin typeface="Consolas" panose="020B0609020204030204" pitchFamily="49" charset="0"/>
              </a:rPr>
              <a:t>Chuyển về cuối danh sách</a:t>
            </a:r>
            <a:endParaRPr lang="en-US" sz="1800">
              <a:latin typeface="Consolas" panose="020B0609020204030204" pitchFamily="49" charset="0"/>
            </a:endParaRPr>
          </a:p>
        </p:txBody>
      </p:sp>
      <p:sp>
        <p:nvSpPr>
          <p:cNvPr id="4" name="Slide Number Placeholder 3"/>
          <p:cNvSpPr>
            <a:spLocks noGrp="1"/>
          </p:cNvSpPr>
          <p:nvPr>
            <p:ph type="sldNum" sz="quarter" idx="12"/>
          </p:nvPr>
        </p:nvSpPr>
        <p:spPr/>
        <p:txBody>
          <a:bodyPr/>
          <a:lstStyle/>
          <a:p>
            <a:fld id="{E99E512B-1003-47C1-A1C1-7B7D3ED31612}" type="slidenum">
              <a:rPr lang="en-US" smtClean="0"/>
              <a:t>19</a:t>
            </a:fld>
            <a:endParaRPr lang="en-US"/>
          </a:p>
        </p:txBody>
      </p:sp>
    </p:spTree>
    <p:extLst>
      <p:ext uri="{BB962C8B-B14F-4D97-AF65-F5344CB8AC3E}">
        <p14:creationId xmlns:p14="http://schemas.microsoft.com/office/powerpoint/2010/main" val="3548232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Khai báo các hàm/thao tác (tiếp)</a:t>
            </a:r>
            <a:endParaRPr lang="en-US"/>
          </a:p>
        </p:txBody>
      </p:sp>
      <p:sp>
        <p:nvSpPr>
          <p:cNvPr id="3" name="Content Placeholder 2"/>
          <p:cNvSpPr>
            <a:spLocks noGrp="1"/>
          </p:cNvSpPr>
          <p:nvPr>
            <p:ph idx="1"/>
          </p:nvPr>
        </p:nvSpPr>
        <p:spPr>
          <a:xfrm>
            <a:off x="457200" y="1600200"/>
            <a:ext cx="8507288" cy="4876800"/>
          </a:xfrm>
        </p:spPr>
        <p:txBody>
          <a:bodyPr>
            <a:noAutofit/>
          </a:bodyPr>
          <a:lstStyle/>
          <a:p>
            <a:pPr marL="0" indent="0">
              <a:buNone/>
            </a:pPr>
            <a:r>
              <a:rPr lang="en-US" sz="1800" smtClean="0">
                <a:latin typeface="Consolas" panose="020B0609020204030204" pitchFamily="49" charset="0"/>
              </a:rPr>
              <a:t>void </a:t>
            </a:r>
            <a:r>
              <a:rPr lang="en-US" sz="1800">
                <a:latin typeface="Consolas" panose="020B0609020204030204" pitchFamily="49" charset="0"/>
              </a:rPr>
              <a:t>dlistPushFront(DList &amp; </a:t>
            </a:r>
            <a:r>
              <a:rPr lang="en-US" sz="1800" smtClean="0">
                <a:latin typeface="Consolas" panose="020B0609020204030204" pitchFamily="49" charset="0"/>
              </a:rPr>
              <a:t>list, T e); // Chèn vào đầu danh sách</a:t>
            </a:r>
          </a:p>
          <a:p>
            <a:pPr marL="0" indent="0">
              <a:spcBef>
                <a:spcPts val="1200"/>
              </a:spcBef>
              <a:buNone/>
            </a:pPr>
            <a:r>
              <a:rPr lang="en-US" sz="1800" smtClean="0">
                <a:latin typeface="Consolas" panose="020B0609020204030204" pitchFamily="49" charset="0"/>
              </a:rPr>
              <a:t>void dlistPushBack(</a:t>
            </a:r>
            <a:r>
              <a:rPr lang="en-US" sz="1800">
                <a:latin typeface="Consolas" panose="020B0609020204030204" pitchFamily="49" charset="0"/>
              </a:rPr>
              <a:t>DList &amp; </a:t>
            </a:r>
            <a:r>
              <a:rPr lang="en-US" sz="1800" smtClean="0">
                <a:latin typeface="Consolas" panose="020B0609020204030204" pitchFamily="49" charset="0"/>
              </a:rPr>
              <a:t>list, T e);  // Chèn vào cuối danh sách</a:t>
            </a:r>
          </a:p>
          <a:p>
            <a:pPr marL="0" indent="0">
              <a:spcBef>
                <a:spcPts val="1200"/>
              </a:spcBef>
              <a:buNone/>
            </a:pPr>
            <a:r>
              <a:rPr lang="en-US" sz="1800" smtClean="0">
                <a:latin typeface="Consolas" panose="020B0609020204030204" pitchFamily="49" charset="0"/>
              </a:rPr>
              <a:t>void dlistPopFront</a:t>
            </a:r>
            <a:r>
              <a:rPr lang="en-US" sz="1800">
                <a:latin typeface="Consolas" panose="020B0609020204030204" pitchFamily="49" charset="0"/>
              </a:rPr>
              <a:t>(DList &amp; list); </a:t>
            </a:r>
            <a:r>
              <a:rPr lang="en-US" sz="1800" smtClean="0">
                <a:latin typeface="Consolas" panose="020B0609020204030204" pitchFamily="49" charset="0"/>
              </a:rPr>
              <a:t>// Xóa phần tử đầu danh sách</a:t>
            </a:r>
          </a:p>
          <a:p>
            <a:pPr marL="0" indent="0">
              <a:spcBef>
                <a:spcPts val="1200"/>
              </a:spcBef>
              <a:buNone/>
            </a:pPr>
            <a:r>
              <a:rPr lang="en-US" sz="1800" smtClean="0">
                <a:latin typeface="Consolas" panose="020B0609020204030204" pitchFamily="49" charset="0"/>
              </a:rPr>
              <a:t>void dlistPopBack</a:t>
            </a:r>
            <a:r>
              <a:rPr lang="en-US" sz="1800">
                <a:latin typeface="Consolas" panose="020B0609020204030204" pitchFamily="49" charset="0"/>
              </a:rPr>
              <a:t>(DList &amp; list);  </a:t>
            </a:r>
            <a:r>
              <a:rPr lang="en-US" sz="1800" smtClean="0">
                <a:latin typeface="Consolas" panose="020B0609020204030204" pitchFamily="49" charset="0"/>
              </a:rPr>
              <a:t>// Xóa phần tử cuối danh sách</a:t>
            </a:r>
          </a:p>
          <a:p>
            <a:pPr marL="0" indent="0">
              <a:buNone/>
            </a:pPr>
            <a:endParaRPr lang="en-US" sz="1800" smtClean="0">
              <a:latin typeface="Consolas" panose="020B0609020204030204" pitchFamily="49" charset="0"/>
            </a:endParaRPr>
          </a:p>
          <a:p>
            <a:pPr marL="0" indent="0">
              <a:buNone/>
            </a:pPr>
            <a:r>
              <a:rPr lang="en-US" sz="1800" smtClean="0">
                <a:latin typeface="Consolas" panose="020B0609020204030204" pitchFamily="49" charset="0"/>
              </a:rPr>
              <a:t>// Chèn vào </a:t>
            </a:r>
            <a:r>
              <a:rPr lang="en-US" sz="1800">
                <a:latin typeface="Consolas" panose="020B0609020204030204" pitchFamily="49" charset="0"/>
              </a:rPr>
              <a:t>(</a:t>
            </a:r>
            <a:r>
              <a:rPr lang="en-US" sz="1800" smtClean="0">
                <a:latin typeface="Consolas" panose="020B0609020204030204" pitchFamily="49" charset="0"/>
              </a:rPr>
              <a:t>ngay trước) vị trí hiện hành.</a:t>
            </a:r>
            <a:endParaRPr lang="en-US" sz="1800">
              <a:latin typeface="Consolas" panose="020B0609020204030204" pitchFamily="49" charset="0"/>
            </a:endParaRPr>
          </a:p>
          <a:p>
            <a:pPr marL="0" indent="0">
              <a:buNone/>
            </a:pPr>
            <a:r>
              <a:rPr lang="en-US" sz="1800" smtClean="0">
                <a:latin typeface="Consolas" panose="020B0609020204030204" pitchFamily="49" charset="0"/>
              </a:rPr>
              <a:t>void dlistInsert(</a:t>
            </a:r>
            <a:r>
              <a:rPr lang="en-US" sz="1800">
                <a:latin typeface="Consolas" panose="020B0609020204030204" pitchFamily="49" charset="0"/>
              </a:rPr>
              <a:t>DList &amp; </a:t>
            </a:r>
            <a:r>
              <a:rPr lang="en-US" sz="1800" smtClean="0">
                <a:latin typeface="Consolas" panose="020B0609020204030204" pitchFamily="49" charset="0"/>
              </a:rPr>
              <a:t>list, T e);</a:t>
            </a:r>
          </a:p>
          <a:p>
            <a:pPr marL="0" indent="0">
              <a:buNone/>
            </a:pPr>
            <a:endParaRPr lang="en-US" sz="1800">
              <a:latin typeface="Consolas" panose="020B0609020204030204" pitchFamily="49" charset="0"/>
            </a:endParaRPr>
          </a:p>
          <a:p>
            <a:pPr marL="0" indent="0">
              <a:buNone/>
            </a:pPr>
            <a:r>
              <a:rPr lang="en-US" sz="1800" smtClean="0">
                <a:latin typeface="Consolas" panose="020B0609020204030204" pitchFamily="49" charset="0"/>
              </a:rPr>
              <a:t>// Xóa phần tử ở vị trí hiện hành.</a:t>
            </a:r>
          </a:p>
          <a:p>
            <a:pPr marL="0" indent="0">
              <a:buNone/>
            </a:pPr>
            <a:r>
              <a:rPr lang="en-US" sz="1800" smtClean="0">
                <a:latin typeface="Consolas" panose="020B0609020204030204" pitchFamily="49" charset="0"/>
              </a:rPr>
              <a:t>void dlistRemove</a:t>
            </a:r>
            <a:r>
              <a:rPr lang="en-US" sz="1800">
                <a:latin typeface="Consolas" panose="020B0609020204030204" pitchFamily="49" charset="0"/>
              </a:rPr>
              <a:t>(DList &amp; list);</a:t>
            </a:r>
            <a:endParaRPr lang="en-US" sz="1800" smtClean="0">
              <a:latin typeface="Consolas" panose="020B0609020204030204" pitchFamily="49" charset="0"/>
            </a:endParaRPr>
          </a:p>
        </p:txBody>
      </p:sp>
      <p:sp>
        <p:nvSpPr>
          <p:cNvPr id="4" name="Slide Number Placeholder 3"/>
          <p:cNvSpPr>
            <a:spLocks noGrp="1"/>
          </p:cNvSpPr>
          <p:nvPr>
            <p:ph type="sldNum" sz="quarter" idx="12"/>
          </p:nvPr>
        </p:nvSpPr>
        <p:spPr/>
        <p:txBody>
          <a:bodyPr/>
          <a:lstStyle/>
          <a:p>
            <a:fld id="{E99E512B-1003-47C1-A1C1-7B7D3ED31612}" type="slidenum">
              <a:rPr lang="en-US" smtClean="0"/>
              <a:t>20</a:t>
            </a:fld>
            <a:endParaRPr lang="en-US"/>
          </a:p>
        </p:txBody>
      </p:sp>
      <p:sp>
        <p:nvSpPr>
          <p:cNvPr id="5" name="TextBox 4"/>
          <p:cNvSpPr txBox="1"/>
          <p:nvPr/>
        </p:nvSpPr>
        <p:spPr>
          <a:xfrm>
            <a:off x="5618592" y="4365104"/>
            <a:ext cx="3312368" cy="1015663"/>
          </a:xfrm>
          <a:prstGeom prst="rect">
            <a:avLst/>
          </a:prstGeom>
          <a:noFill/>
          <a:ln>
            <a:solidFill>
              <a:srgbClr val="3333CC"/>
            </a:solidFill>
          </a:ln>
        </p:spPr>
        <p:txBody>
          <a:bodyPr wrap="square" rtlCol="0">
            <a:spAutoFit/>
          </a:bodyPr>
          <a:lstStyle/>
          <a:p>
            <a:r>
              <a:rPr lang="en-US" sz="2000" i="1" smtClean="0">
                <a:solidFill>
                  <a:srgbClr val="3333CC"/>
                </a:solidFill>
                <a:latin typeface="Calibri" panose="020F0502020204030204" pitchFamily="34" charset="0"/>
                <a:cs typeface="Calibri" panose="020F0502020204030204" pitchFamily="34" charset="0"/>
              </a:rPr>
              <a:t>Vì thời gian trên lớp có hạn, sau đây chúng ta chỉ tập trung cài đặt hai hàm này.</a:t>
            </a:r>
            <a:endParaRPr lang="en-US" sz="2000" i="1">
              <a:solidFill>
                <a:srgbClr val="3333CC"/>
              </a:solidFill>
              <a:latin typeface="Calibri" panose="020F0502020204030204" pitchFamily="34" charset="0"/>
              <a:cs typeface="Calibri" panose="020F0502020204030204" pitchFamily="34" charset="0"/>
            </a:endParaRPr>
          </a:p>
        </p:txBody>
      </p:sp>
      <p:cxnSp>
        <p:nvCxnSpPr>
          <p:cNvPr id="7" name="Straight Arrow Connector 6"/>
          <p:cNvCxnSpPr/>
          <p:nvPr/>
        </p:nvCxnSpPr>
        <p:spPr>
          <a:xfrm flipH="1" flipV="1">
            <a:off x="4499992" y="4221088"/>
            <a:ext cx="1118600" cy="651848"/>
          </a:xfrm>
          <a:prstGeom prst="straightConnector1">
            <a:avLst/>
          </a:prstGeom>
          <a:ln>
            <a:solidFill>
              <a:srgbClr val="3333CC"/>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5" idx="1"/>
          </p:cNvCxnSpPr>
          <p:nvPr/>
        </p:nvCxnSpPr>
        <p:spPr>
          <a:xfrm flipH="1">
            <a:off x="4499992" y="4872936"/>
            <a:ext cx="1118600" cy="212248"/>
          </a:xfrm>
          <a:prstGeom prst="straightConnector1">
            <a:avLst/>
          </a:prstGeom>
          <a:ln>
            <a:solidFill>
              <a:srgbClr val="3333CC"/>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45434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Chèn vào trước vị trí hiện hành</a:t>
            </a:r>
            <a:endParaRPr lang="en-US"/>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0785" y="2852936"/>
            <a:ext cx="7951655" cy="27363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2699792" y="1707337"/>
            <a:ext cx="3168352" cy="830997"/>
          </a:xfrm>
          <a:prstGeom prst="rect">
            <a:avLst/>
          </a:prstGeom>
          <a:noFill/>
        </p:spPr>
        <p:txBody>
          <a:bodyPr wrap="square" rtlCol="0">
            <a:spAutoFit/>
          </a:bodyPr>
          <a:lstStyle/>
          <a:p>
            <a:pPr algn="ctr"/>
            <a:r>
              <a:rPr lang="en-US" sz="2400" smtClean="0">
                <a:latin typeface="Calibri" panose="020F0502020204030204" pitchFamily="34" charset="0"/>
                <a:cs typeface="Calibri" panose="020F0502020204030204" pitchFamily="34" charset="0"/>
              </a:rPr>
              <a:t>Chèn vào trước nút này (nút v)</a:t>
            </a:r>
            <a:endParaRPr lang="en-US" sz="2400">
              <a:latin typeface="Calibri" panose="020F0502020204030204" pitchFamily="34" charset="0"/>
              <a:cs typeface="Calibri" panose="020F0502020204030204" pitchFamily="34" charset="0"/>
            </a:endParaRPr>
          </a:p>
        </p:txBody>
      </p:sp>
      <p:cxnSp>
        <p:nvCxnSpPr>
          <p:cNvPr id="6" name="Straight Arrow Connector 5"/>
          <p:cNvCxnSpPr/>
          <p:nvPr/>
        </p:nvCxnSpPr>
        <p:spPr>
          <a:xfrm>
            <a:off x="4283968" y="2538334"/>
            <a:ext cx="272644" cy="60263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5652120" y="3961053"/>
            <a:ext cx="2664296" cy="830997"/>
          </a:xfrm>
          <a:prstGeom prst="rect">
            <a:avLst/>
          </a:prstGeom>
          <a:noFill/>
        </p:spPr>
        <p:txBody>
          <a:bodyPr wrap="square" rtlCol="0">
            <a:spAutoFit/>
          </a:bodyPr>
          <a:lstStyle/>
          <a:p>
            <a:pPr algn="ctr"/>
            <a:r>
              <a:rPr lang="en-US" sz="2400" smtClean="0">
                <a:latin typeface="Calibri" panose="020F0502020204030204" pitchFamily="34" charset="0"/>
                <a:cs typeface="Calibri" panose="020F0502020204030204" pitchFamily="34" charset="0"/>
              </a:rPr>
              <a:t>Đây là nút cần chèn (nút u)</a:t>
            </a:r>
            <a:endParaRPr lang="en-US" sz="2400">
              <a:latin typeface="Calibri" panose="020F0502020204030204" pitchFamily="34" charset="0"/>
              <a:cs typeface="Calibri" panose="020F0502020204030204" pitchFamily="34" charset="0"/>
            </a:endParaRPr>
          </a:p>
        </p:txBody>
      </p:sp>
      <p:cxnSp>
        <p:nvCxnSpPr>
          <p:cNvPr id="9" name="Straight Arrow Connector 8"/>
          <p:cNvCxnSpPr/>
          <p:nvPr/>
        </p:nvCxnSpPr>
        <p:spPr>
          <a:xfrm flipH="1">
            <a:off x="4355976" y="4221088"/>
            <a:ext cx="1296144"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E99E512B-1003-47C1-A1C1-7B7D3ED31612}" type="slidenum">
              <a:rPr lang="en-US" smtClean="0"/>
              <a:t>21</a:t>
            </a:fld>
            <a:endParaRPr lang="en-US"/>
          </a:p>
        </p:txBody>
      </p:sp>
    </p:spTree>
    <p:extLst>
      <p:ext uri="{BB962C8B-B14F-4D97-AF65-F5344CB8AC3E}">
        <p14:creationId xmlns:p14="http://schemas.microsoft.com/office/powerpoint/2010/main" val="54648866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Chèn vào trước vị trí hiện hành (tiếp)</a:t>
            </a:r>
            <a:endParaRPr lang="en-US"/>
          </a:p>
        </p:txBody>
      </p:sp>
      <p:sp>
        <p:nvSpPr>
          <p:cNvPr id="3" name="Content Placeholder 2"/>
          <p:cNvSpPr>
            <a:spLocks noGrp="1"/>
          </p:cNvSpPr>
          <p:nvPr>
            <p:ph idx="1"/>
          </p:nvPr>
        </p:nvSpPr>
        <p:spPr>
          <a:xfrm>
            <a:off x="457200" y="1600200"/>
            <a:ext cx="8435280" cy="5069160"/>
          </a:xfrm>
        </p:spPr>
        <p:txBody>
          <a:bodyPr>
            <a:normAutofit lnSpcReduction="10000"/>
          </a:bodyPr>
          <a:lstStyle/>
          <a:p>
            <a:pPr marL="0" indent="0">
              <a:buNone/>
            </a:pPr>
            <a:r>
              <a:rPr lang="en-US" altLang="en-US" sz="2200" smtClean="0">
                <a:latin typeface="Consolas" panose="020B0609020204030204" pitchFamily="49" charset="0"/>
                <a:cs typeface="Consolas" panose="020B0609020204030204" pitchFamily="49" charset="0"/>
              </a:rPr>
              <a:t>// Trước khi chèn: </a:t>
            </a:r>
            <a:r>
              <a:rPr lang="vi-VN" altLang="en-US" sz="2200" smtClean="0">
                <a:latin typeface="Consolas" panose="020B0609020204030204" pitchFamily="49" charset="0"/>
                <a:cs typeface="Consolas" panose="020B0609020204030204" pitchFamily="49" charset="0"/>
              </a:rPr>
              <a:t>nút </a:t>
            </a:r>
            <a:r>
              <a:rPr lang="vi-VN" altLang="en-US" sz="2200">
                <a:latin typeface="Consolas" panose="020B0609020204030204" pitchFamily="49" charset="0"/>
                <a:cs typeface="Consolas" panose="020B0609020204030204" pitchFamily="49" charset="0"/>
              </a:rPr>
              <a:t>trước (v-&gt;prev) </a:t>
            </a:r>
            <a:r>
              <a:rPr lang="vi-VN" altLang="en-US" sz="2200" smtClean="0">
                <a:latin typeface="Consolas" panose="020B0609020204030204" pitchFamily="49" charset="0"/>
                <a:cs typeface="Consolas" panose="020B0609020204030204" pitchFamily="49" charset="0"/>
                <a:sym typeface="Symbol" panose="05050102010706020507" pitchFamily="18" charset="2"/>
              </a:rPr>
              <a:t></a:t>
            </a:r>
            <a:r>
              <a:rPr lang="vi-VN" altLang="en-US" sz="2200" smtClean="0">
                <a:latin typeface="Consolas" panose="020B0609020204030204" pitchFamily="49" charset="0"/>
                <a:cs typeface="Consolas" panose="020B0609020204030204" pitchFamily="49" charset="0"/>
              </a:rPr>
              <a:t> </a:t>
            </a:r>
            <a:r>
              <a:rPr lang="vi-VN" altLang="en-US" sz="2200">
                <a:latin typeface="Consolas" panose="020B0609020204030204" pitchFamily="49" charset="0"/>
                <a:cs typeface="Consolas" panose="020B0609020204030204" pitchFamily="49" charset="0"/>
              </a:rPr>
              <a:t>nút sau (v)</a:t>
            </a:r>
            <a:endParaRPr lang="en-US" altLang="en-US" sz="2200" smtClean="0">
              <a:latin typeface="Consolas" panose="020B0609020204030204" pitchFamily="49" charset="0"/>
              <a:cs typeface="Consolas" panose="020B0609020204030204" pitchFamily="49" charset="0"/>
            </a:endParaRPr>
          </a:p>
          <a:p>
            <a:pPr marL="0" indent="0">
              <a:spcBef>
                <a:spcPts val="300"/>
              </a:spcBef>
              <a:buNone/>
            </a:pPr>
            <a:r>
              <a:rPr lang="en-US" altLang="en-US" sz="2200" smtClean="0">
                <a:latin typeface="Consolas" panose="020B0609020204030204" pitchFamily="49" charset="0"/>
                <a:cs typeface="Consolas" panose="020B0609020204030204" pitchFamily="49" charset="0"/>
              </a:rPr>
              <a:t>// (nút sau là nút hiện hành);</a:t>
            </a:r>
          </a:p>
          <a:p>
            <a:pPr marL="0" indent="0">
              <a:spcBef>
                <a:spcPts val="300"/>
              </a:spcBef>
              <a:buNone/>
            </a:pPr>
            <a:r>
              <a:rPr lang="en-US" altLang="en-US" sz="2200">
                <a:latin typeface="Consolas" panose="020B0609020204030204" pitchFamily="49" charset="0"/>
                <a:cs typeface="Consolas" panose="020B0609020204030204" pitchFamily="49" charset="0"/>
              </a:rPr>
              <a:t>// e là phần tử mới cần </a:t>
            </a:r>
            <a:r>
              <a:rPr lang="en-US" altLang="en-US" sz="2200" smtClean="0">
                <a:latin typeface="Consolas" panose="020B0609020204030204" pitchFamily="49" charset="0"/>
                <a:cs typeface="Consolas" panose="020B0609020204030204" pitchFamily="49" charset="0"/>
              </a:rPr>
              <a:t>chèn.</a:t>
            </a:r>
          </a:p>
          <a:p>
            <a:pPr marL="0" indent="0">
              <a:buNone/>
            </a:pPr>
            <a:r>
              <a:rPr lang="en-US" altLang="en-US" sz="2200" smtClean="0">
                <a:latin typeface="Consolas" panose="020B0609020204030204" pitchFamily="49" charset="0"/>
                <a:cs typeface="Consolas" panose="020B0609020204030204" pitchFamily="49" charset="0"/>
              </a:rPr>
              <a:t>void </a:t>
            </a:r>
            <a:r>
              <a:rPr lang="en-US" altLang="en-US" sz="2200" smtClean="0">
                <a:latin typeface="Consolas" panose="020B0609020204030204" pitchFamily="49" charset="0"/>
                <a:cs typeface="Consolas" panose="020B0609020204030204" pitchFamily="49" charset="0"/>
              </a:rPr>
              <a:t>dlistInsert(DList </a:t>
            </a:r>
            <a:r>
              <a:rPr lang="en-US" altLang="en-US" sz="2200" smtClean="0">
                <a:latin typeface="Consolas" panose="020B0609020204030204" pitchFamily="49" charset="0"/>
                <a:cs typeface="Consolas" panose="020B0609020204030204" pitchFamily="49" charset="0"/>
              </a:rPr>
              <a:t>&amp; list, T </a:t>
            </a:r>
            <a:r>
              <a:rPr lang="en-US" altLang="en-US" sz="2200">
                <a:latin typeface="Consolas" panose="020B0609020204030204" pitchFamily="49" charset="0"/>
                <a:cs typeface="Consolas" panose="020B0609020204030204" pitchFamily="49" charset="0"/>
              </a:rPr>
              <a:t>e) </a:t>
            </a:r>
            <a:r>
              <a:rPr lang="en-US" altLang="en-US" sz="2200" smtClean="0">
                <a:latin typeface="Consolas" panose="020B0609020204030204" pitchFamily="49" charset="0"/>
                <a:cs typeface="Consolas" panose="020B0609020204030204" pitchFamily="49" charset="0"/>
              </a:rPr>
              <a:t>{</a:t>
            </a:r>
          </a:p>
          <a:p>
            <a:pPr marL="0" indent="0">
              <a:buNone/>
            </a:pPr>
            <a:r>
              <a:rPr lang="en-US" altLang="en-US" sz="2200">
                <a:latin typeface="Consolas" panose="020B0609020204030204" pitchFamily="49" charset="0"/>
                <a:cs typeface="Consolas" panose="020B0609020204030204" pitchFamily="49" charset="0"/>
              </a:rPr>
              <a:t> </a:t>
            </a:r>
            <a:r>
              <a:rPr lang="en-US" altLang="en-US" sz="2200" smtClean="0">
                <a:latin typeface="Consolas" panose="020B0609020204030204" pitchFamily="49" charset="0"/>
                <a:cs typeface="Consolas" panose="020B0609020204030204" pitchFamily="49" charset="0"/>
              </a:rPr>
              <a:t>   DNode * v = list.currentPos; // Lấy nút hiện hành</a:t>
            </a:r>
            <a:endParaRPr lang="en-US" altLang="en-US" sz="2200">
              <a:latin typeface="Consolas" panose="020B0609020204030204" pitchFamily="49" charset="0"/>
              <a:cs typeface="Consolas" panose="020B0609020204030204" pitchFamily="49" charset="0"/>
            </a:endParaRPr>
          </a:p>
          <a:p>
            <a:pPr marL="0" indent="0">
              <a:buNone/>
            </a:pPr>
            <a:r>
              <a:rPr lang="en-US" altLang="en-US" sz="2200" smtClean="0">
                <a:latin typeface="Consolas" panose="020B0609020204030204" pitchFamily="49" charset="0"/>
                <a:cs typeface="Consolas" panose="020B0609020204030204" pitchFamily="49" charset="0"/>
              </a:rPr>
              <a:t>    DNode * u = new DNode;       // Tạo nút mới</a:t>
            </a:r>
          </a:p>
          <a:p>
            <a:pPr marL="0" indent="0">
              <a:spcBef>
                <a:spcPts val="1800"/>
              </a:spcBef>
              <a:buNone/>
            </a:pPr>
            <a:r>
              <a:rPr lang="en-US" altLang="en-US" sz="2200" smtClean="0">
                <a:latin typeface="Consolas" panose="020B0609020204030204" pitchFamily="49" charset="0"/>
                <a:cs typeface="Consolas" panose="020B0609020204030204" pitchFamily="49" charset="0"/>
              </a:rPr>
              <a:t>    u-&gt;elem = e;       // Nút mới chứa phần tử mới,</a:t>
            </a:r>
            <a:endParaRPr lang="en-US" altLang="en-US" sz="2200">
              <a:latin typeface="Consolas" panose="020B0609020204030204" pitchFamily="49" charset="0"/>
              <a:cs typeface="Consolas" panose="020B0609020204030204" pitchFamily="49" charset="0"/>
            </a:endParaRPr>
          </a:p>
          <a:p>
            <a:pPr marL="0" indent="0">
              <a:buNone/>
            </a:pPr>
            <a:r>
              <a:rPr lang="en-US" altLang="en-US" sz="2200" smtClean="0">
                <a:latin typeface="Consolas" panose="020B0609020204030204" pitchFamily="49" charset="0"/>
                <a:cs typeface="Consolas" panose="020B0609020204030204" pitchFamily="49" charset="0"/>
              </a:rPr>
              <a:t>    u-&gt;next = v;       // trỏ tới nút sau và</a:t>
            </a:r>
          </a:p>
          <a:p>
            <a:pPr marL="0" indent="0">
              <a:buNone/>
            </a:pPr>
            <a:r>
              <a:rPr lang="en-US" altLang="en-US" sz="2200" smtClean="0">
                <a:latin typeface="Consolas" panose="020B0609020204030204" pitchFamily="49" charset="0"/>
                <a:cs typeface="Consolas" panose="020B0609020204030204" pitchFamily="49" charset="0"/>
              </a:rPr>
              <a:t>    u-&gt;prev = v-&gt;prev; // trỏ về nút trước.</a:t>
            </a:r>
          </a:p>
          <a:p>
            <a:pPr marL="0" indent="0">
              <a:spcBef>
                <a:spcPts val="1800"/>
              </a:spcBef>
              <a:buNone/>
            </a:pPr>
            <a:r>
              <a:rPr lang="en-US" altLang="en-US" sz="2200" smtClean="0">
                <a:latin typeface="Consolas" panose="020B0609020204030204" pitchFamily="49" charset="0"/>
                <a:cs typeface="Consolas" panose="020B0609020204030204" pitchFamily="49" charset="0"/>
              </a:rPr>
              <a:t>    v-&gt;prev-&gt;next = u; // Nút </a:t>
            </a:r>
            <a:r>
              <a:rPr lang="en-US" altLang="en-US" sz="2200">
                <a:latin typeface="Consolas" panose="020B0609020204030204" pitchFamily="49" charset="0"/>
                <a:cs typeface="Consolas" panose="020B0609020204030204" pitchFamily="49" charset="0"/>
              </a:rPr>
              <a:t>trước </a:t>
            </a:r>
            <a:r>
              <a:rPr lang="en-US" altLang="en-US" sz="2200" smtClean="0">
                <a:latin typeface="Consolas" panose="020B0609020204030204" pitchFamily="49" charset="0"/>
                <a:cs typeface="Consolas" panose="020B0609020204030204" pitchFamily="49" charset="0"/>
              </a:rPr>
              <a:t>trỏ </a:t>
            </a:r>
            <a:r>
              <a:rPr lang="en-US" altLang="en-US" sz="2200">
                <a:latin typeface="Consolas" panose="020B0609020204030204" pitchFamily="49" charset="0"/>
                <a:cs typeface="Consolas" panose="020B0609020204030204" pitchFamily="49" charset="0"/>
              </a:rPr>
              <a:t>tới nút mới</a:t>
            </a:r>
            <a:endParaRPr lang="en-US" altLang="en-US" sz="2200" smtClean="0">
              <a:latin typeface="Consolas" panose="020B0609020204030204" pitchFamily="49" charset="0"/>
              <a:cs typeface="Consolas" panose="020B0609020204030204" pitchFamily="49" charset="0"/>
            </a:endParaRPr>
          </a:p>
          <a:p>
            <a:pPr marL="0" indent="0">
              <a:buNone/>
            </a:pPr>
            <a:r>
              <a:rPr lang="en-US" altLang="en-US" sz="2200">
                <a:latin typeface="Consolas" panose="020B0609020204030204" pitchFamily="49" charset="0"/>
                <a:cs typeface="Consolas" panose="020B0609020204030204" pitchFamily="49" charset="0"/>
              </a:rPr>
              <a:t> </a:t>
            </a:r>
            <a:r>
              <a:rPr lang="en-US" altLang="en-US" sz="2200" smtClean="0">
                <a:latin typeface="Consolas" panose="020B0609020204030204" pitchFamily="49" charset="0"/>
                <a:cs typeface="Consolas" panose="020B0609020204030204" pitchFamily="49" charset="0"/>
              </a:rPr>
              <a:t>   v-&gt;prev = u;       // Nút sau trỏ về nút mới</a:t>
            </a:r>
            <a:endParaRPr lang="en-US" altLang="en-US" sz="2200">
              <a:latin typeface="Consolas" panose="020B0609020204030204" pitchFamily="49" charset="0"/>
              <a:cs typeface="Consolas" panose="020B0609020204030204" pitchFamily="49" charset="0"/>
            </a:endParaRPr>
          </a:p>
          <a:p>
            <a:pPr marL="0" indent="0">
              <a:buNone/>
            </a:pPr>
            <a:r>
              <a:rPr lang="en-US" altLang="en-US" sz="2200" smtClean="0">
                <a:latin typeface="Consolas" panose="020B0609020204030204" pitchFamily="49" charset="0"/>
                <a:cs typeface="Consolas" panose="020B0609020204030204" pitchFamily="49" charset="0"/>
              </a:rPr>
              <a:t>}</a:t>
            </a:r>
          </a:p>
        </p:txBody>
      </p:sp>
      <p:sp>
        <p:nvSpPr>
          <p:cNvPr id="4" name="Slide Number Placeholder 3"/>
          <p:cNvSpPr>
            <a:spLocks noGrp="1"/>
          </p:cNvSpPr>
          <p:nvPr>
            <p:ph type="sldNum" sz="quarter" idx="12"/>
          </p:nvPr>
        </p:nvSpPr>
        <p:spPr/>
        <p:txBody>
          <a:bodyPr/>
          <a:lstStyle/>
          <a:p>
            <a:fld id="{E99E512B-1003-47C1-A1C1-7B7D3ED31612}" type="slidenum">
              <a:rPr lang="en-US" smtClean="0"/>
              <a:t>22</a:t>
            </a:fld>
            <a:endParaRPr lang="en-US"/>
          </a:p>
        </p:txBody>
      </p:sp>
    </p:spTree>
    <p:extLst>
      <p:ext uri="{BB962C8B-B14F-4D97-AF65-F5344CB8AC3E}">
        <p14:creationId xmlns:p14="http://schemas.microsoft.com/office/powerpoint/2010/main" val="97577420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Xóa phần tử ở vị trí hiện hành</a:t>
            </a:r>
            <a:endParaRPr lang="en-US"/>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7544" y="2996952"/>
            <a:ext cx="8216547" cy="29852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4211960" y="1707337"/>
            <a:ext cx="1656184" cy="830997"/>
          </a:xfrm>
          <a:prstGeom prst="rect">
            <a:avLst/>
          </a:prstGeom>
          <a:noFill/>
        </p:spPr>
        <p:txBody>
          <a:bodyPr wrap="square" rtlCol="0">
            <a:spAutoFit/>
          </a:bodyPr>
          <a:lstStyle/>
          <a:p>
            <a:pPr algn="ctr"/>
            <a:r>
              <a:rPr lang="en-US" sz="2400" smtClean="0">
                <a:latin typeface="Calibri" panose="020F0502020204030204" pitchFamily="34" charset="0"/>
                <a:cs typeface="Calibri" panose="020F0502020204030204" pitchFamily="34" charset="0"/>
              </a:rPr>
              <a:t>Nút cần xóa (nút v)</a:t>
            </a:r>
            <a:endParaRPr lang="en-US" sz="2400">
              <a:latin typeface="Calibri" panose="020F0502020204030204" pitchFamily="34" charset="0"/>
              <a:cs typeface="Calibri" panose="020F0502020204030204" pitchFamily="34" charset="0"/>
            </a:endParaRPr>
          </a:p>
        </p:txBody>
      </p:sp>
      <p:sp>
        <p:nvSpPr>
          <p:cNvPr id="6" name="TextBox 5"/>
          <p:cNvSpPr txBox="1"/>
          <p:nvPr/>
        </p:nvSpPr>
        <p:spPr>
          <a:xfrm>
            <a:off x="6084168" y="1700808"/>
            <a:ext cx="1656184" cy="830997"/>
          </a:xfrm>
          <a:prstGeom prst="rect">
            <a:avLst/>
          </a:prstGeom>
          <a:noFill/>
        </p:spPr>
        <p:txBody>
          <a:bodyPr wrap="square" rtlCol="0">
            <a:spAutoFit/>
          </a:bodyPr>
          <a:lstStyle/>
          <a:p>
            <a:pPr algn="ctr"/>
            <a:r>
              <a:rPr lang="en-US" sz="2400" smtClean="0">
                <a:latin typeface="Calibri" panose="020F0502020204030204" pitchFamily="34" charset="0"/>
                <a:cs typeface="Calibri" panose="020F0502020204030204" pitchFamily="34" charset="0"/>
              </a:rPr>
              <a:t>Nút sau (nút w)</a:t>
            </a:r>
            <a:endParaRPr lang="en-US" sz="2400">
              <a:latin typeface="Calibri" panose="020F0502020204030204" pitchFamily="34" charset="0"/>
              <a:cs typeface="Calibri" panose="020F0502020204030204" pitchFamily="34" charset="0"/>
            </a:endParaRPr>
          </a:p>
        </p:txBody>
      </p:sp>
      <p:sp>
        <p:nvSpPr>
          <p:cNvPr id="7" name="TextBox 6"/>
          <p:cNvSpPr txBox="1"/>
          <p:nvPr/>
        </p:nvSpPr>
        <p:spPr>
          <a:xfrm>
            <a:off x="2123728" y="1700808"/>
            <a:ext cx="1656184" cy="830997"/>
          </a:xfrm>
          <a:prstGeom prst="rect">
            <a:avLst/>
          </a:prstGeom>
          <a:noFill/>
        </p:spPr>
        <p:txBody>
          <a:bodyPr wrap="square" rtlCol="0">
            <a:spAutoFit/>
          </a:bodyPr>
          <a:lstStyle/>
          <a:p>
            <a:pPr algn="ctr"/>
            <a:r>
              <a:rPr lang="en-US" sz="2400" smtClean="0">
                <a:latin typeface="Calibri" panose="020F0502020204030204" pitchFamily="34" charset="0"/>
                <a:cs typeface="Calibri" panose="020F0502020204030204" pitchFamily="34" charset="0"/>
              </a:rPr>
              <a:t>Nút trước (nút u)</a:t>
            </a:r>
            <a:endParaRPr lang="en-US" sz="2400">
              <a:latin typeface="Calibri" panose="020F0502020204030204" pitchFamily="34" charset="0"/>
              <a:cs typeface="Calibri" panose="020F0502020204030204" pitchFamily="34" charset="0"/>
            </a:endParaRPr>
          </a:p>
        </p:txBody>
      </p:sp>
      <p:cxnSp>
        <p:nvCxnSpPr>
          <p:cNvPr id="8" name="Straight Arrow Connector 7"/>
          <p:cNvCxnSpPr>
            <a:stCxn id="5" idx="2"/>
          </p:cNvCxnSpPr>
          <p:nvPr/>
        </p:nvCxnSpPr>
        <p:spPr>
          <a:xfrm>
            <a:off x="5040052" y="2538334"/>
            <a:ext cx="324036" cy="81865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6876256" y="2531805"/>
            <a:ext cx="144016" cy="8251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7" idx="2"/>
          </p:cNvCxnSpPr>
          <p:nvPr/>
        </p:nvCxnSpPr>
        <p:spPr>
          <a:xfrm>
            <a:off x="2951820" y="2531805"/>
            <a:ext cx="828092" cy="8251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E99E512B-1003-47C1-A1C1-7B7D3ED31612}" type="slidenum">
              <a:rPr lang="en-US" smtClean="0"/>
              <a:t>23</a:t>
            </a:fld>
            <a:endParaRPr lang="en-US"/>
          </a:p>
        </p:txBody>
      </p:sp>
    </p:spTree>
    <p:extLst>
      <p:ext uri="{BB962C8B-B14F-4D97-AF65-F5344CB8AC3E}">
        <p14:creationId xmlns:p14="http://schemas.microsoft.com/office/powerpoint/2010/main" val="60421168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Xóa phần tử ở vị trí hiện hành (tiếp)</a:t>
            </a:r>
            <a:endParaRPr lang="en-US"/>
          </a:p>
        </p:txBody>
      </p:sp>
      <p:sp>
        <p:nvSpPr>
          <p:cNvPr id="3" name="Content Placeholder 2"/>
          <p:cNvSpPr>
            <a:spLocks noGrp="1"/>
          </p:cNvSpPr>
          <p:nvPr>
            <p:ph idx="1"/>
          </p:nvPr>
        </p:nvSpPr>
        <p:spPr>
          <a:xfrm>
            <a:off x="457200" y="1600200"/>
            <a:ext cx="8579296" cy="4876800"/>
          </a:xfrm>
        </p:spPr>
        <p:txBody>
          <a:bodyPr>
            <a:noAutofit/>
          </a:bodyPr>
          <a:lstStyle/>
          <a:p>
            <a:pPr marL="0" indent="0">
              <a:buNone/>
            </a:pPr>
            <a:r>
              <a:rPr lang="en-US" altLang="en-US" sz="2100">
                <a:latin typeface="Consolas" panose="020B0609020204030204" pitchFamily="49" charset="0"/>
                <a:cs typeface="Consolas" panose="020B0609020204030204" pitchFamily="49" charset="0"/>
              </a:rPr>
              <a:t>// </a:t>
            </a:r>
            <a:r>
              <a:rPr lang="en-US" altLang="en-US" sz="2100" smtClean="0">
                <a:latin typeface="Consolas" panose="020B0609020204030204" pitchFamily="49" charset="0"/>
                <a:cs typeface="Consolas" panose="020B0609020204030204" pitchFamily="49" charset="0"/>
              </a:rPr>
              <a:t>nút trước (u) </a:t>
            </a:r>
            <a:r>
              <a:rPr lang="vi-VN" altLang="en-US" sz="2100" smtClean="0">
                <a:latin typeface="Consolas" panose="020B0609020204030204" pitchFamily="49" charset="0"/>
                <a:cs typeface="Consolas" panose="020B0609020204030204" pitchFamily="49" charset="0"/>
                <a:sym typeface="Symbol" panose="05050102010706020507" pitchFamily="18" charset="2"/>
              </a:rPr>
              <a:t></a:t>
            </a:r>
            <a:r>
              <a:rPr lang="en-US" altLang="en-US" sz="2100" smtClean="0">
                <a:latin typeface="Consolas" panose="020B0609020204030204" pitchFamily="49" charset="0"/>
                <a:cs typeface="Consolas" panose="020B0609020204030204" pitchFamily="49" charset="0"/>
                <a:sym typeface="Symbol" panose="05050102010706020507" pitchFamily="18" charset="2"/>
              </a:rPr>
              <a:t> nút cần xóa (v) </a:t>
            </a:r>
            <a:r>
              <a:rPr lang="vi-VN" altLang="en-US" sz="2100" smtClean="0">
                <a:latin typeface="Consolas" panose="020B0609020204030204" pitchFamily="49" charset="0"/>
                <a:cs typeface="Consolas" panose="020B0609020204030204" pitchFamily="49" charset="0"/>
                <a:sym typeface="Symbol" panose="05050102010706020507" pitchFamily="18" charset="2"/>
              </a:rPr>
              <a:t></a:t>
            </a:r>
            <a:r>
              <a:rPr lang="en-US" altLang="en-US" sz="2100" smtClean="0">
                <a:latin typeface="Consolas" panose="020B0609020204030204" pitchFamily="49" charset="0"/>
                <a:cs typeface="Consolas" panose="020B0609020204030204" pitchFamily="49" charset="0"/>
                <a:sym typeface="Symbol" panose="05050102010706020507" pitchFamily="18" charset="2"/>
              </a:rPr>
              <a:t> nút sau (w)</a:t>
            </a:r>
            <a:endParaRPr lang="en-US" altLang="en-US" sz="2100">
              <a:latin typeface="Consolas" panose="020B0609020204030204" pitchFamily="49" charset="0"/>
              <a:cs typeface="Consolas" panose="020B0609020204030204" pitchFamily="49" charset="0"/>
            </a:endParaRPr>
          </a:p>
          <a:p>
            <a:pPr marL="0" indent="0">
              <a:buNone/>
            </a:pPr>
            <a:r>
              <a:rPr lang="en-US" altLang="en-US" sz="2100">
                <a:latin typeface="Consolas" panose="020B0609020204030204" pitchFamily="49" charset="0"/>
                <a:cs typeface="Consolas" panose="020B0609020204030204" pitchFamily="49" charset="0"/>
              </a:rPr>
              <a:t>void </a:t>
            </a:r>
            <a:r>
              <a:rPr lang="en-US" altLang="en-US" sz="2100" smtClean="0">
                <a:latin typeface="Consolas" panose="020B0609020204030204" pitchFamily="49" charset="0"/>
                <a:cs typeface="Consolas" panose="020B0609020204030204" pitchFamily="49" charset="0"/>
              </a:rPr>
              <a:t>dlistRemove(DList &amp; list) {</a:t>
            </a:r>
          </a:p>
          <a:p>
            <a:pPr marL="0" indent="0">
              <a:buNone/>
            </a:pPr>
            <a:r>
              <a:rPr lang="en-US" altLang="en-US" sz="2100">
                <a:latin typeface="Consolas" panose="020B0609020204030204" pitchFamily="49" charset="0"/>
                <a:cs typeface="Consolas" panose="020B0609020204030204" pitchFamily="49" charset="0"/>
              </a:rPr>
              <a:t> </a:t>
            </a:r>
            <a:r>
              <a:rPr lang="en-US" altLang="en-US" sz="2100" smtClean="0">
                <a:latin typeface="Consolas" panose="020B0609020204030204" pitchFamily="49" charset="0"/>
                <a:cs typeface="Consolas" panose="020B0609020204030204" pitchFamily="49" charset="0"/>
              </a:rPr>
              <a:t>  DNode * v = list.currentPos; // Nút hiện hành cần xóa</a:t>
            </a:r>
            <a:endParaRPr lang="en-US" altLang="en-US" sz="2100">
              <a:latin typeface="Consolas" panose="020B0609020204030204" pitchFamily="49" charset="0"/>
              <a:cs typeface="Consolas" panose="020B0609020204030204" pitchFamily="49" charset="0"/>
            </a:endParaRPr>
          </a:p>
          <a:p>
            <a:pPr marL="0" indent="0">
              <a:buNone/>
            </a:pPr>
            <a:r>
              <a:rPr lang="en-US" altLang="en-US" sz="2100">
                <a:latin typeface="Consolas" panose="020B0609020204030204" pitchFamily="49" charset="0"/>
                <a:cs typeface="Consolas" panose="020B0609020204030204" pitchFamily="49" charset="0"/>
              </a:rPr>
              <a:t>   </a:t>
            </a:r>
            <a:r>
              <a:rPr lang="en-US" altLang="en-US" sz="2100" smtClean="0">
                <a:latin typeface="Consolas" panose="020B0609020204030204" pitchFamily="49" charset="0"/>
                <a:cs typeface="Consolas" panose="020B0609020204030204" pitchFamily="49" charset="0"/>
              </a:rPr>
              <a:t>DNode </a:t>
            </a:r>
            <a:r>
              <a:rPr lang="en-US" altLang="en-US" sz="2100">
                <a:latin typeface="Consolas" panose="020B0609020204030204" pitchFamily="49" charset="0"/>
                <a:cs typeface="Consolas" panose="020B0609020204030204" pitchFamily="49" charset="0"/>
              </a:rPr>
              <a:t>* u = </a:t>
            </a:r>
            <a:r>
              <a:rPr lang="en-US" altLang="en-US" sz="2100" smtClean="0">
                <a:latin typeface="Consolas" panose="020B0609020204030204" pitchFamily="49" charset="0"/>
                <a:cs typeface="Consolas" panose="020B0609020204030204" pitchFamily="49" charset="0"/>
              </a:rPr>
              <a:t>v-&gt;prev;         // Nút trước</a:t>
            </a:r>
            <a:endParaRPr lang="en-US" altLang="en-US" sz="2100">
              <a:latin typeface="Consolas" panose="020B0609020204030204" pitchFamily="49" charset="0"/>
              <a:cs typeface="Consolas" panose="020B0609020204030204" pitchFamily="49" charset="0"/>
            </a:endParaRPr>
          </a:p>
          <a:p>
            <a:pPr marL="0" indent="0">
              <a:buNone/>
            </a:pPr>
            <a:r>
              <a:rPr lang="en-US" altLang="en-US" sz="2100">
                <a:latin typeface="Consolas" panose="020B0609020204030204" pitchFamily="49" charset="0"/>
                <a:cs typeface="Consolas" panose="020B0609020204030204" pitchFamily="49" charset="0"/>
              </a:rPr>
              <a:t>   </a:t>
            </a:r>
            <a:r>
              <a:rPr lang="en-US" altLang="en-US" sz="2100" smtClean="0">
                <a:latin typeface="Consolas" panose="020B0609020204030204" pitchFamily="49" charset="0"/>
                <a:cs typeface="Consolas" panose="020B0609020204030204" pitchFamily="49" charset="0"/>
              </a:rPr>
              <a:t>DNode * w = v-&gt;next;         // </a:t>
            </a:r>
            <a:r>
              <a:rPr lang="en-US" altLang="en-US" sz="2100">
                <a:latin typeface="Consolas" panose="020B0609020204030204" pitchFamily="49" charset="0"/>
                <a:cs typeface="Consolas" panose="020B0609020204030204" pitchFamily="49" charset="0"/>
              </a:rPr>
              <a:t>Nút </a:t>
            </a:r>
            <a:r>
              <a:rPr lang="en-US" altLang="en-US" sz="2100" smtClean="0">
                <a:latin typeface="Consolas" panose="020B0609020204030204" pitchFamily="49" charset="0"/>
                <a:cs typeface="Consolas" panose="020B0609020204030204" pitchFamily="49" charset="0"/>
              </a:rPr>
              <a:t>sau</a:t>
            </a:r>
            <a:endParaRPr lang="en-US" altLang="en-US" sz="2100">
              <a:latin typeface="Consolas" panose="020B0609020204030204" pitchFamily="49" charset="0"/>
              <a:cs typeface="Consolas" panose="020B0609020204030204" pitchFamily="49" charset="0"/>
            </a:endParaRPr>
          </a:p>
          <a:p>
            <a:pPr marL="0" indent="0">
              <a:spcBef>
                <a:spcPts val="1800"/>
              </a:spcBef>
              <a:buNone/>
            </a:pPr>
            <a:r>
              <a:rPr lang="en-US" altLang="en-US" sz="2100">
                <a:latin typeface="Consolas" panose="020B0609020204030204" pitchFamily="49" charset="0"/>
                <a:cs typeface="Consolas" panose="020B0609020204030204" pitchFamily="49" charset="0"/>
              </a:rPr>
              <a:t>   </a:t>
            </a:r>
            <a:r>
              <a:rPr lang="en-US" altLang="en-US" sz="2100" smtClean="0">
                <a:latin typeface="Consolas" panose="020B0609020204030204" pitchFamily="49" charset="0"/>
                <a:cs typeface="Consolas" panose="020B0609020204030204" pitchFamily="49" charset="0"/>
              </a:rPr>
              <a:t>u-</a:t>
            </a:r>
            <a:r>
              <a:rPr lang="en-US" altLang="en-US" sz="2100">
                <a:latin typeface="Consolas" panose="020B0609020204030204" pitchFamily="49" charset="0"/>
                <a:cs typeface="Consolas" panose="020B0609020204030204" pitchFamily="49" charset="0"/>
              </a:rPr>
              <a:t>&gt;next = w</a:t>
            </a:r>
            <a:r>
              <a:rPr lang="en-US" altLang="en-US" sz="2100" smtClean="0">
                <a:latin typeface="Consolas" panose="020B0609020204030204" pitchFamily="49" charset="0"/>
                <a:cs typeface="Consolas" panose="020B0609020204030204" pitchFamily="49" charset="0"/>
              </a:rPr>
              <a:t>; // Nút trước trỏ tới nút sau </a:t>
            </a:r>
            <a:endParaRPr lang="en-US" altLang="en-US" sz="2100">
              <a:latin typeface="Consolas" panose="020B0609020204030204" pitchFamily="49" charset="0"/>
              <a:cs typeface="Consolas" panose="020B0609020204030204" pitchFamily="49" charset="0"/>
            </a:endParaRPr>
          </a:p>
          <a:p>
            <a:pPr marL="0" indent="0">
              <a:buNone/>
            </a:pPr>
            <a:r>
              <a:rPr lang="en-US" altLang="en-US" sz="2100">
                <a:latin typeface="Consolas" panose="020B0609020204030204" pitchFamily="49" charset="0"/>
                <a:cs typeface="Consolas" panose="020B0609020204030204" pitchFamily="49" charset="0"/>
              </a:rPr>
              <a:t>   </a:t>
            </a:r>
            <a:r>
              <a:rPr lang="en-US" altLang="en-US" sz="2100" smtClean="0">
                <a:latin typeface="Consolas" panose="020B0609020204030204" pitchFamily="49" charset="0"/>
                <a:cs typeface="Consolas" panose="020B0609020204030204" pitchFamily="49" charset="0"/>
              </a:rPr>
              <a:t>w-&gt;</a:t>
            </a:r>
            <a:r>
              <a:rPr lang="en-US" altLang="en-US" sz="2100">
                <a:latin typeface="Consolas" panose="020B0609020204030204" pitchFamily="49" charset="0"/>
                <a:cs typeface="Consolas" panose="020B0609020204030204" pitchFamily="49" charset="0"/>
              </a:rPr>
              <a:t>prev = </a:t>
            </a:r>
            <a:r>
              <a:rPr lang="en-US" altLang="en-US" sz="2100" smtClean="0">
                <a:latin typeface="Consolas" panose="020B0609020204030204" pitchFamily="49" charset="0"/>
                <a:cs typeface="Consolas" panose="020B0609020204030204" pitchFamily="49" charset="0"/>
              </a:rPr>
              <a:t>u; // Nút sau trỏ về nút trước</a:t>
            </a:r>
          </a:p>
          <a:p>
            <a:pPr marL="0" indent="0">
              <a:spcBef>
                <a:spcPts val="1800"/>
              </a:spcBef>
              <a:buNone/>
            </a:pPr>
            <a:r>
              <a:rPr lang="en-US" altLang="en-US" sz="2100">
                <a:latin typeface="Consolas" panose="020B0609020204030204" pitchFamily="49" charset="0"/>
                <a:cs typeface="Consolas" panose="020B0609020204030204" pitchFamily="49" charset="0"/>
              </a:rPr>
              <a:t> </a:t>
            </a:r>
            <a:r>
              <a:rPr lang="en-US" altLang="en-US" sz="2100" smtClean="0">
                <a:latin typeface="Consolas" panose="020B0609020204030204" pitchFamily="49" charset="0"/>
                <a:cs typeface="Consolas" panose="020B0609020204030204" pitchFamily="49" charset="0"/>
              </a:rPr>
              <a:t>  delete v;    // Xóa nút hiện hành cũ</a:t>
            </a:r>
          </a:p>
          <a:p>
            <a:pPr marL="0" indent="0">
              <a:spcBef>
                <a:spcPts val="1800"/>
              </a:spcBef>
              <a:buNone/>
            </a:pPr>
            <a:r>
              <a:rPr lang="en-US" altLang="en-US" sz="2100">
                <a:latin typeface="Consolas" panose="020B0609020204030204" pitchFamily="49" charset="0"/>
                <a:cs typeface="Consolas" panose="020B0609020204030204" pitchFamily="49" charset="0"/>
              </a:rPr>
              <a:t> </a:t>
            </a:r>
            <a:r>
              <a:rPr lang="en-US" altLang="en-US" sz="2100" smtClean="0">
                <a:latin typeface="Consolas" panose="020B0609020204030204" pitchFamily="49" charset="0"/>
                <a:cs typeface="Consolas" panose="020B0609020204030204" pitchFamily="49" charset="0"/>
              </a:rPr>
              <a:t>  list.currentPos = w; // Sau khi xóa, nút sau trở</a:t>
            </a:r>
          </a:p>
          <a:p>
            <a:pPr marL="0" indent="0">
              <a:spcBef>
                <a:spcPts val="0"/>
              </a:spcBef>
              <a:buNone/>
            </a:pPr>
            <a:r>
              <a:rPr lang="en-US" altLang="en-US" sz="2100">
                <a:latin typeface="Consolas" panose="020B0609020204030204" pitchFamily="49" charset="0"/>
                <a:cs typeface="Consolas" panose="020B0609020204030204" pitchFamily="49" charset="0"/>
              </a:rPr>
              <a:t> </a:t>
            </a:r>
            <a:r>
              <a:rPr lang="en-US" altLang="en-US" sz="2100" smtClean="0">
                <a:latin typeface="Consolas" panose="020B0609020204030204" pitchFamily="49" charset="0"/>
                <a:cs typeface="Consolas" panose="020B0609020204030204" pitchFamily="49" charset="0"/>
              </a:rPr>
              <a:t>                       // thành nút hiện hành mới.</a:t>
            </a:r>
            <a:endParaRPr lang="en-US" altLang="en-US" sz="2100">
              <a:latin typeface="Consolas" panose="020B0609020204030204" pitchFamily="49" charset="0"/>
              <a:cs typeface="Consolas" panose="020B0609020204030204" pitchFamily="49" charset="0"/>
            </a:endParaRPr>
          </a:p>
          <a:p>
            <a:pPr marL="0" indent="0">
              <a:buNone/>
            </a:pPr>
            <a:r>
              <a:rPr lang="en-US" altLang="en-US" sz="2100" smtClean="0">
                <a:latin typeface="Consolas" panose="020B0609020204030204" pitchFamily="49" charset="0"/>
                <a:cs typeface="Consolas" panose="020B0609020204030204" pitchFamily="49" charset="0"/>
              </a:rPr>
              <a:t>}</a:t>
            </a:r>
            <a:endParaRPr lang="en-US" altLang="en-US" sz="2100">
              <a:latin typeface="Consolas" panose="020B0609020204030204" pitchFamily="49" charset="0"/>
              <a:cs typeface="Consolas" panose="020B0609020204030204" pitchFamily="49" charset="0"/>
            </a:endParaRPr>
          </a:p>
        </p:txBody>
      </p:sp>
      <p:sp>
        <p:nvSpPr>
          <p:cNvPr id="4" name="Slide Number Placeholder 3"/>
          <p:cNvSpPr>
            <a:spLocks noGrp="1"/>
          </p:cNvSpPr>
          <p:nvPr>
            <p:ph type="sldNum" sz="quarter" idx="12"/>
          </p:nvPr>
        </p:nvSpPr>
        <p:spPr/>
        <p:txBody>
          <a:bodyPr/>
          <a:lstStyle/>
          <a:p>
            <a:fld id="{E99E512B-1003-47C1-A1C1-7B7D3ED31612}" type="slidenum">
              <a:rPr lang="en-US" smtClean="0"/>
              <a:t>24</a:t>
            </a:fld>
            <a:endParaRPr lang="en-US"/>
          </a:p>
        </p:txBody>
      </p:sp>
    </p:spTree>
    <p:extLst>
      <p:ext uri="{BB962C8B-B14F-4D97-AF65-F5344CB8AC3E}">
        <p14:creationId xmlns:p14="http://schemas.microsoft.com/office/powerpoint/2010/main" val="85182419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 Danh sách liên kết vòng tròn</a:t>
            </a:r>
            <a:endParaRPr lang="en-US"/>
          </a:p>
        </p:txBody>
      </p:sp>
      <p:sp>
        <p:nvSpPr>
          <p:cNvPr id="3" name="Slide Number Placeholder 2"/>
          <p:cNvSpPr>
            <a:spLocks noGrp="1"/>
          </p:cNvSpPr>
          <p:nvPr>
            <p:ph type="sldNum" sz="quarter" idx="12"/>
          </p:nvPr>
        </p:nvSpPr>
        <p:spPr/>
        <p:txBody>
          <a:bodyPr/>
          <a:lstStyle/>
          <a:p>
            <a:fld id="{E99E512B-1003-47C1-A1C1-7B7D3ED31612}" type="slidenum">
              <a:rPr lang="en-US" smtClean="0"/>
              <a:t>25</a:t>
            </a:fld>
            <a:endParaRPr lang="en-US"/>
          </a:p>
        </p:txBody>
      </p:sp>
    </p:spTree>
    <p:extLst>
      <p:ext uri="{BB962C8B-B14F-4D97-AF65-F5344CB8AC3E}">
        <p14:creationId xmlns:p14="http://schemas.microsoft.com/office/powerpoint/2010/main" val="40192737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Danh sách liên kết vòng tròn</a:t>
            </a:r>
            <a:endParaRPr lang="en-US"/>
          </a:p>
        </p:txBody>
      </p:sp>
      <p:sp>
        <p:nvSpPr>
          <p:cNvPr id="4" name="Content Placeholder 3"/>
          <p:cNvSpPr>
            <a:spLocks noGrp="1"/>
          </p:cNvSpPr>
          <p:nvPr>
            <p:ph idx="1"/>
          </p:nvPr>
        </p:nvSpPr>
        <p:spPr>
          <a:xfrm>
            <a:off x="457200" y="3140968"/>
            <a:ext cx="8435280" cy="3528392"/>
          </a:xfrm>
        </p:spPr>
        <p:txBody>
          <a:bodyPr>
            <a:normAutofit/>
          </a:bodyPr>
          <a:lstStyle/>
          <a:p>
            <a:r>
              <a:rPr lang="en-US" sz="2400" smtClean="0"/>
              <a:t>Cấu trúc tương tự như danh sách liên kết đơn.</a:t>
            </a:r>
          </a:p>
          <a:p>
            <a:r>
              <a:rPr lang="en-US" sz="2400" smtClean="0"/>
              <a:t>Có thêm con trỏ đặc biệt </a:t>
            </a:r>
            <a:r>
              <a:rPr lang="en-US" sz="2400" b="1" smtClean="0">
                <a:latin typeface="Consolas" panose="020B0609020204030204" pitchFamily="49" charset="0"/>
              </a:rPr>
              <a:t>cursor</a:t>
            </a:r>
            <a:r>
              <a:rPr lang="en-US" sz="2400" b="1" smtClean="0"/>
              <a:t> </a:t>
            </a:r>
            <a:r>
              <a:rPr lang="en-US" sz="2400" smtClean="0"/>
              <a:t>trỏ đến cuối danh sách (back); liên kết </a:t>
            </a:r>
            <a:r>
              <a:rPr lang="en-US" sz="2400">
                <a:latin typeface="Consolas" panose="020B0609020204030204" pitchFamily="49" charset="0"/>
              </a:rPr>
              <a:t>next</a:t>
            </a:r>
            <a:r>
              <a:rPr lang="en-US" sz="2400" smtClean="0"/>
              <a:t> của nút cuối trỏ vòng về đầu danh sách (front).</a:t>
            </a:r>
          </a:p>
          <a:p>
            <a:r>
              <a:rPr lang="en-US" sz="2400" smtClean="0"/>
              <a:t>Các thao tác chính:</a:t>
            </a:r>
          </a:p>
          <a:p>
            <a:pPr lvl="1"/>
            <a:r>
              <a:rPr lang="en-US" sz="2400" smtClean="0"/>
              <a:t>Chèn </a:t>
            </a:r>
            <a:r>
              <a:rPr lang="en-US" sz="2400"/>
              <a:t>và </a:t>
            </a:r>
            <a:r>
              <a:rPr lang="en-US" sz="2400" smtClean="0"/>
              <a:t>xóa </a:t>
            </a:r>
            <a:r>
              <a:rPr lang="en-US" sz="2400"/>
              <a:t>ở </a:t>
            </a:r>
            <a:r>
              <a:rPr lang="en-US" sz="2400" smtClean="0"/>
              <a:t>sau </a:t>
            </a:r>
            <a:r>
              <a:rPr lang="en-US" sz="2400" smtClean="0">
                <a:latin typeface="Consolas" panose="020B0609020204030204" pitchFamily="49" charset="0"/>
              </a:rPr>
              <a:t>cursor</a:t>
            </a:r>
            <a:r>
              <a:rPr lang="en-US" sz="2400" smtClean="0"/>
              <a:t> (đồng nghĩa với ở đầu danh sách);</a:t>
            </a:r>
          </a:p>
          <a:p>
            <a:pPr lvl="1"/>
            <a:r>
              <a:rPr lang="en-US" sz="2400" smtClean="0"/>
              <a:t>Lấy phần tử ở đầu và cuối danh sách;</a:t>
            </a:r>
          </a:p>
          <a:p>
            <a:pPr lvl="1"/>
            <a:r>
              <a:rPr lang="en-US" sz="2400" smtClean="0"/>
              <a:t>Dịch chuyển </a:t>
            </a:r>
            <a:r>
              <a:rPr lang="en-US" sz="2400">
                <a:latin typeface="Consolas" panose="020B0609020204030204" pitchFamily="49" charset="0"/>
              </a:rPr>
              <a:t>cursor</a:t>
            </a:r>
            <a:r>
              <a:rPr lang="en-US" sz="2400" smtClean="0"/>
              <a:t> sang vị trí tiếp theo.</a:t>
            </a:r>
            <a:endParaRPr lang="en-US" sz="2400"/>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3608" y="1484784"/>
            <a:ext cx="6938948" cy="1440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E99E512B-1003-47C1-A1C1-7B7D3ED31612}" type="slidenum">
              <a:rPr lang="en-US" smtClean="0"/>
              <a:t>26</a:t>
            </a:fld>
            <a:endParaRPr lang="en-US"/>
          </a:p>
        </p:txBody>
      </p:sp>
    </p:spTree>
    <p:extLst>
      <p:ext uri="{BB962C8B-B14F-4D97-AF65-F5344CB8AC3E}">
        <p14:creationId xmlns:p14="http://schemas.microsoft.com/office/powerpoint/2010/main" val="141338699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Cài đặt danh sách liên kết vòng tròn</a:t>
            </a:r>
            <a:endParaRPr lang="en-US"/>
          </a:p>
        </p:txBody>
      </p:sp>
      <p:sp>
        <p:nvSpPr>
          <p:cNvPr id="3" name="Content Placeholder 2"/>
          <p:cNvSpPr>
            <a:spLocks noGrp="1"/>
          </p:cNvSpPr>
          <p:nvPr>
            <p:ph idx="1"/>
          </p:nvPr>
        </p:nvSpPr>
        <p:spPr/>
        <p:txBody>
          <a:bodyPr/>
          <a:lstStyle/>
          <a:p>
            <a:pPr marL="0" lvl="1" indent="0">
              <a:spcBef>
                <a:spcPts val="300"/>
              </a:spcBef>
              <a:buNone/>
            </a:pPr>
            <a:r>
              <a:rPr lang="en-US" sz="2000">
                <a:latin typeface="Consolas" panose="020B0609020204030204" pitchFamily="49" charset="0"/>
              </a:rPr>
              <a:t>// Khai báo kiểu phần tử</a:t>
            </a:r>
          </a:p>
          <a:p>
            <a:pPr marL="0" lvl="1" indent="0">
              <a:spcBef>
                <a:spcPts val="300"/>
              </a:spcBef>
              <a:buNone/>
            </a:pPr>
            <a:r>
              <a:rPr lang="en-US" sz="2000">
                <a:latin typeface="Consolas" panose="020B0609020204030204" pitchFamily="49" charset="0"/>
              </a:rPr>
              <a:t>typedef int T;</a:t>
            </a:r>
            <a:endParaRPr lang="en-US" altLang="en-US" sz="2000">
              <a:latin typeface="Consolas" panose="020B0609020204030204" pitchFamily="49" charset="0"/>
              <a:cs typeface="Consolas" panose="020B0609020204030204" pitchFamily="49" charset="0"/>
            </a:endParaRPr>
          </a:p>
          <a:p>
            <a:pPr marL="0" lvl="1" indent="0">
              <a:spcBef>
                <a:spcPts val="1800"/>
              </a:spcBef>
              <a:buNone/>
            </a:pPr>
            <a:r>
              <a:rPr lang="en-US" altLang="en-US" sz="2000">
                <a:latin typeface="Consolas" panose="020B0609020204030204" pitchFamily="49" charset="0"/>
                <a:cs typeface="Consolas" panose="020B0609020204030204" pitchFamily="49" charset="0"/>
              </a:rPr>
              <a:t>// Định nghĩa kiểu của các nút trong danh sách</a:t>
            </a:r>
          </a:p>
          <a:p>
            <a:pPr marL="0" indent="0">
              <a:spcBef>
                <a:spcPts val="300"/>
              </a:spcBef>
              <a:buNone/>
            </a:pPr>
            <a:r>
              <a:rPr lang="en-US" altLang="en-US" sz="2000">
                <a:latin typeface="Consolas" panose="020B0609020204030204" pitchFamily="49" charset="0"/>
              </a:rPr>
              <a:t>struct </a:t>
            </a:r>
            <a:r>
              <a:rPr lang="en-US" altLang="en-US" sz="2000" smtClean="0">
                <a:latin typeface="Consolas" panose="020B0609020204030204" pitchFamily="49" charset="0"/>
              </a:rPr>
              <a:t>CNode </a:t>
            </a:r>
            <a:r>
              <a:rPr lang="en-US" altLang="en-US" sz="2000">
                <a:latin typeface="Consolas" panose="020B0609020204030204" pitchFamily="49" charset="0"/>
              </a:rPr>
              <a:t>{</a:t>
            </a:r>
          </a:p>
          <a:p>
            <a:pPr marL="0" indent="0">
              <a:spcBef>
                <a:spcPts val="300"/>
              </a:spcBef>
              <a:buNone/>
            </a:pPr>
            <a:r>
              <a:rPr lang="en-US" altLang="en-US" sz="2000">
                <a:latin typeface="Consolas" panose="020B0609020204030204" pitchFamily="49" charset="0"/>
              </a:rPr>
              <a:t>    T elem;   </a:t>
            </a:r>
            <a:r>
              <a:rPr lang="en-US" altLang="en-US" sz="2000" smtClean="0">
                <a:latin typeface="Consolas" panose="020B0609020204030204" pitchFamily="49" charset="0"/>
              </a:rPr>
              <a:t>    </a:t>
            </a:r>
            <a:r>
              <a:rPr lang="en-US" altLang="en-US" sz="2000">
                <a:latin typeface="Consolas" panose="020B0609020204030204" pitchFamily="49" charset="0"/>
              </a:rPr>
              <a:t>// Phần tử</a:t>
            </a:r>
          </a:p>
          <a:p>
            <a:pPr marL="0" indent="0">
              <a:spcBef>
                <a:spcPts val="300"/>
              </a:spcBef>
              <a:buNone/>
            </a:pPr>
            <a:r>
              <a:rPr lang="en-US" altLang="en-US" sz="2000">
                <a:latin typeface="Consolas" panose="020B0609020204030204" pitchFamily="49" charset="0"/>
              </a:rPr>
              <a:t>    </a:t>
            </a:r>
            <a:r>
              <a:rPr lang="en-US" altLang="en-US" sz="2000" smtClean="0">
                <a:latin typeface="Consolas" panose="020B0609020204030204" pitchFamily="49" charset="0"/>
              </a:rPr>
              <a:t>CNode </a:t>
            </a:r>
            <a:r>
              <a:rPr lang="en-US" altLang="en-US" sz="2000">
                <a:latin typeface="Consolas" panose="020B0609020204030204" pitchFamily="49" charset="0"/>
              </a:rPr>
              <a:t>* next; // Liên kết tới nút kế tiếp</a:t>
            </a:r>
          </a:p>
          <a:p>
            <a:pPr marL="0" indent="0">
              <a:spcBef>
                <a:spcPts val="300"/>
              </a:spcBef>
              <a:buNone/>
            </a:pPr>
            <a:r>
              <a:rPr lang="en-US" altLang="en-US" sz="2000">
                <a:latin typeface="Consolas" panose="020B0609020204030204" pitchFamily="49" charset="0"/>
              </a:rPr>
              <a:t>};</a:t>
            </a:r>
          </a:p>
          <a:p>
            <a:pPr marL="0" lvl="1" indent="0">
              <a:spcBef>
                <a:spcPts val="1800"/>
              </a:spcBef>
              <a:buNone/>
            </a:pPr>
            <a:r>
              <a:rPr lang="en-US" altLang="en-US" sz="2000">
                <a:latin typeface="Consolas" panose="020B0609020204030204" pitchFamily="49" charset="0"/>
                <a:cs typeface="Consolas" panose="020B0609020204030204" pitchFamily="49" charset="0"/>
              </a:rPr>
              <a:t>// Định nghĩa cấu trúc danh sách liên kết </a:t>
            </a:r>
            <a:r>
              <a:rPr lang="en-US" altLang="en-US" sz="2000" smtClean="0">
                <a:latin typeface="Consolas" panose="020B0609020204030204" pitchFamily="49" charset="0"/>
                <a:cs typeface="Consolas" panose="020B0609020204030204" pitchFamily="49" charset="0"/>
              </a:rPr>
              <a:t>vòng tròn</a:t>
            </a:r>
            <a:endParaRPr lang="en-US" altLang="en-US" sz="2000">
              <a:latin typeface="Consolas" panose="020B0609020204030204" pitchFamily="49" charset="0"/>
            </a:endParaRPr>
          </a:p>
          <a:p>
            <a:pPr marL="0" lvl="1" indent="0">
              <a:spcBef>
                <a:spcPts val="300"/>
              </a:spcBef>
              <a:buNone/>
            </a:pPr>
            <a:r>
              <a:rPr lang="en-US" altLang="en-US" sz="2000">
                <a:latin typeface="Consolas" panose="020B0609020204030204" pitchFamily="49" charset="0"/>
              </a:rPr>
              <a:t>struct </a:t>
            </a:r>
            <a:r>
              <a:rPr lang="en-US" altLang="en-US" sz="2000" smtClean="0">
                <a:latin typeface="Consolas" panose="020B0609020204030204" pitchFamily="49" charset="0"/>
              </a:rPr>
              <a:t>CList </a:t>
            </a:r>
            <a:r>
              <a:rPr lang="en-US" altLang="en-US" sz="2000">
                <a:latin typeface="Consolas" panose="020B0609020204030204" pitchFamily="49" charset="0"/>
              </a:rPr>
              <a:t>{</a:t>
            </a:r>
          </a:p>
          <a:p>
            <a:pPr marL="0" lvl="1" indent="0">
              <a:spcBef>
                <a:spcPts val="300"/>
              </a:spcBef>
              <a:buNone/>
            </a:pPr>
            <a:r>
              <a:rPr lang="en-US" altLang="en-US" sz="2000">
                <a:latin typeface="Consolas" panose="020B0609020204030204" pitchFamily="49" charset="0"/>
                <a:cs typeface="Consolas" panose="020B0609020204030204" pitchFamily="49" charset="0"/>
              </a:rPr>
              <a:t>    </a:t>
            </a:r>
            <a:r>
              <a:rPr lang="en-US" altLang="en-US" sz="2000" smtClean="0">
                <a:latin typeface="Consolas" panose="020B0609020204030204" pitchFamily="49" charset="0"/>
                <a:cs typeface="Consolas" panose="020B0609020204030204" pitchFamily="49" charset="0"/>
              </a:rPr>
              <a:t>CNode </a:t>
            </a:r>
            <a:r>
              <a:rPr lang="en-US" altLang="en-US" sz="2000">
                <a:latin typeface="Consolas" panose="020B0609020204030204" pitchFamily="49" charset="0"/>
                <a:cs typeface="Consolas" panose="020B0609020204030204" pitchFamily="49" charset="0"/>
              </a:rPr>
              <a:t>* </a:t>
            </a:r>
            <a:r>
              <a:rPr lang="en-US" altLang="en-US" sz="2000" smtClean="0">
                <a:latin typeface="Consolas" panose="020B0609020204030204" pitchFamily="49" charset="0"/>
                <a:cs typeface="Consolas" panose="020B0609020204030204" pitchFamily="49" charset="0"/>
              </a:rPr>
              <a:t>cursor; </a:t>
            </a:r>
            <a:r>
              <a:rPr lang="en-US" altLang="en-US" sz="2000">
                <a:latin typeface="Consolas" panose="020B0609020204030204" pitchFamily="49" charset="0"/>
                <a:cs typeface="Consolas" panose="020B0609020204030204" pitchFamily="49" charset="0"/>
              </a:rPr>
              <a:t>// </a:t>
            </a:r>
            <a:r>
              <a:rPr lang="en-US" altLang="en-US" sz="2000" smtClean="0">
                <a:latin typeface="Consolas" panose="020B0609020204030204" pitchFamily="49" charset="0"/>
                <a:cs typeface="Consolas" panose="020B0609020204030204" pitchFamily="49" charset="0"/>
              </a:rPr>
              <a:t>Trỏ </a:t>
            </a:r>
            <a:r>
              <a:rPr lang="en-US" altLang="en-US" sz="2000">
                <a:latin typeface="Consolas" panose="020B0609020204030204" pitchFamily="49" charset="0"/>
                <a:cs typeface="Consolas" panose="020B0609020204030204" pitchFamily="49" charset="0"/>
              </a:rPr>
              <a:t>tới nút </a:t>
            </a:r>
            <a:r>
              <a:rPr lang="en-US" altLang="en-US" sz="2000" smtClean="0">
                <a:latin typeface="Consolas" panose="020B0609020204030204" pitchFamily="49" charset="0"/>
                <a:cs typeface="Consolas" panose="020B0609020204030204" pitchFamily="49" charset="0"/>
              </a:rPr>
              <a:t>cuối </a:t>
            </a:r>
            <a:r>
              <a:rPr lang="en-US" altLang="en-US" sz="2000">
                <a:latin typeface="Consolas" panose="020B0609020204030204" pitchFamily="49" charset="0"/>
                <a:cs typeface="Consolas" panose="020B0609020204030204" pitchFamily="49" charset="0"/>
              </a:rPr>
              <a:t>danh sách</a:t>
            </a:r>
          </a:p>
          <a:p>
            <a:pPr marL="0" lvl="1" indent="0">
              <a:spcBef>
                <a:spcPts val="300"/>
              </a:spcBef>
              <a:buNone/>
            </a:pPr>
            <a:r>
              <a:rPr lang="en-US" altLang="en-US" sz="2000">
                <a:latin typeface="Consolas" panose="020B0609020204030204" pitchFamily="49" charset="0"/>
                <a:cs typeface="Consolas" panose="020B0609020204030204" pitchFamily="49" charset="0"/>
              </a:rPr>
              <a:t>};</a:t>
            </a:r>
          </a:p>
        </p:txBody>
      </p:sp>
      <p:sp>
        <p:nvSpPr>
          <p:cNvPr id="4" name="Slide Number Placeholder 3"/>
          <p:cNvSpPr>
            <a:spLocks noGrp="1"/>
          </p:cNvSpPr>
          <p:nvPr>
            <p:ph type="sldNum" sz="quarter" idx="12"/>
          </p:nvPr>
        </p:nvSpPr>
        <p:spPr/>
        <p:txBody>
          <a:bodyPr/>
          <a:lstStyle/>
          <a:p>
            <a:fld id="{E99E512B-1003-47C1-A1C1-7B7D3ED31612}" type="slidenum">
              <a:rPr lang="en-US" smtClean="0"/>
              <a:t>27</a:t>
            </a:fld>
            <a:endParaRPr lang="en-US"/>
          </a:p>
        </p:txBody>
      </p:sp>
    </p:spTree>
    <p:extLst>
      <p:ext uri="{BB962C8B-B14F-4D97-AF65-F5344CB8AC3E}">
        <p14:creationId xmlns:p14="http://schemas.microsoft.com/office/powerpoint/2010/main" val="280716443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Khai báo các hàm/thao tác</a:t>
            </a:r>
            <a:endParaRPr lang="en-US"/>
          </a:p>
        </p:txBody>
      </p:sp>
      <p:sp>
        <p:nvSpPr>
          <p:cNvPr id="3" name="Content Placeholder 2"/>
          <p:cNvSpPr>
            <a:spLocks noGrp="1"/>
          </p:cNvSpPr>
          <p:nvPr>
            <p:ph idx="1"/>
          </p:nvPr>
        </p:nvSpPr>
        <p:spPr/>
        <p:txBody>
          <a:bodyPr>
            <a:normAutofit/>
          </a:bodyPr>
          <a:lstStyle/>
          <a:p>
            <a:pPr marL="0" indent="0">
              <a:buNone/>
            </a:pPr>
            <a:r>
              <a:rPr lang="en-US" sz="2000" smtClean="0">
                <a:latin typeface="Consolas" panose="020B0609020204030204" pitchFamily="49" charset="0"/>
              </a:rPr>
              <a:t>void clistInit(CList &amp; list);    // Hàm khởi tạo</a:t>
            </a:r>
            <a:endParaRPr lang="en-US" sz="2000">
              <a:latin typeface="Consolas" panose="020B0609020204030204" pitchFamily="49" charset="0"/>
            </a:endParaRPr>
          </a:p>
          <a:p>
            <a:pPr marL="0" indent="0">
              <a:spcBef>
                <a:spcPts val="900"/>
              </a:spcBef>
              <a:buNone/>
            </a:pPr>
            <a:r>
              <a:rPr lang="en-US" sz="2000" smtClean="0">
                <a:latin typeface="Consolas" panose="020B0609020204030204" pitchFamily="49" charset="0"/>
              </a:rPr>
              <a:t>v</a:t>
            </a:r>
            <a:r>
              <a:rPr lang="en-US" sz="2000">
                <a:latin typeface="Consolas" panose="020B0609020204030204" pitchFamily="49" charset="0"/>
              </a:rPr>
              <a:t>oid clistDestroy(CList &amp; list); </a:t>
            </a:r>
            <a:r>
              <a:rPr lang="en-US" sz="2000" smtClean="0">
                <a:latin typeface="Consolas" panose="020B0609020204030204" pitchFamily="49" charset="0"/>
              </a:rPr>
              <a:t>// Hàm </a:t>
            </a:r>
            <a:r>
              <a:rPr lang="en-US" sz="2000">
                <a:latin typeface="Consolas" panose="020B0609020204030204" pitchFamily="49" charset="0"/>
              </a:rPr>
              <a:t>hủy</a:t>
            </a:r>
          </a:p>
          <a:p>
            <a:pPr marL="0" indent="0">
              <a:spcBef>
                <a:spcPts val="900"/>
              </a:spcBef>
              <a:buNone/>
            </a:pPr>
            <a:r>
              <a:rPr lang="en-US" sz="2000">
                <a:latin typeface="Consolas" panose="020B0609020204030204" pitchFamily="49" charset="0"/>
              </a:rPr>
              <a:t>bool clistIsEmpty(CList &amp; list); </a:t>
            </a:r>
            <a:r>
              <a:rPr lang="en-US" sz="2000" smtClean="0">
                <a:latin typeface="Consolas" panose="020B0609020204030204" pitchFamily="49" charset="0"/>
              </a:rPr>
              <a:t>// Kiểm </a:t>
            </a:r>
            <a:r>
              <a:rPr lang="en-US" sz="2000">
                <a:latin typeface="Consolas" panose="020B0609020204030204" pitchFamily="49" charset="0"/>
              </a:rPr>
              <a:t>tra rỗng</a:t>
            </a:r>
          </a:p>
          <a:p>
            <a:pPr marL="0" indent="0">
              <a:spcBef>
                <a:spcPts val="900"/>
              </a:spcBef>
              <a:buNone/>
            </a:pPr>
            <a:r>
              <a:rPr lang="en-US" sz="2000">
                <a:latin typeface="Consolas" panose="020B0609020204030204" pitchFamily="49" charset="0"/>
              </a:rPr>
              <a:t>T clistFront(CList &amp; list); </a:t>
            </a:r>
            <a:r>
              <a:rPr lang="en-US" sz="2000" smtClean="0">
                <a:latin typeface="Consolas" panose="020B0609020204030204" pitchFamily="49" charset="0"/>
              </a:rPr>
              <a:t>// Lấy </a:t>
            </a:r>
            <a:r>
              <a:rPr lang="en-US" sz="2000">
                <a:latin typeface="Consolas" panose="020B0609020204030204" pitchFamily="49" charset="0"/>
              </a:rPr>
              <a:t>phần tử đầu danh sách</a:t>
            </a:r>
          </a:p>
          <a:p>
            <a:pPr marL="0" indent="0">
              <a:spcBef>
                <a:spcPts val="900"/>
              </a:spcBef>
              <a:buNone/>
            </a:pPr>
            <a:r>
              <a:rPr lang="en-US" sz="2000">
                <a:latin typeface="Consolas" panose="020B0609020204030204" pitchFamily="49" charset="0"/>
              </a:rPr>
              <a:t>T </a:t>
            </a:r>
            <a:r>
              <a:rPr lang="en-US" sz="2000" smtClean="0">
                <a:latin typeface="Consolas" panose="020B0609020204030204" pitchFamily="49" charset="0"/>
              </a:rPr>
              <a:t>clistBack</a:t>
            </a:r>
            <a:r>
              <a:rPr lang="en-US" sz="2000">
                <a:latin typeface="Consolas" panose="020B0609020204030204" pitchFamily="49" charset="0"/>
              </a:rPr>
              <a:t>(CList &amp; list);  </a:t>
            </a:r>
            <a:r>
              <a:rPr lang="en-US" sz="2000" smtClean="0">
                <a:latin typeface="Consolas" panose="020B0609020204030204" pitchFamily="49" charset="0"/>
              </a:rPr>
              <a:t>// Lấy </a:t>
            </a:r>
            <a:r>
              <a:rPr lang="en-US" sz="2000">
                <a:latin typeface="Consolas" panose="020B0609020204030204" pitchFamily="49" charset="0"/>
              </a:rPr>
              <a:t>phần tử cuối danh </a:t>
            </a:r>
            <a:r>
              <a:rPr lang="en-US" sz="2000" smtClean="0">
                <a:latin typeface="Consolas" panose="020B0609020204030204" pitchFamily="49" charset="0"/>
              </a:rPr>
              <a:t>sách</a:t>
            </a:r>
          </a:p>
          <a:p>
            <a:pPr marL="0" indent="0">
              <a:spcBef>
                <a:spcPts val="900"/>
              </a:spcBef>
              <a:buNone/>
            </a:pPr>
            <a:r>
              <a:rPr lang="en-US" sz="2000" smtClean="0">
                <a:latin typeface="Consolas" panose="020B0609020204030204" pitchFamily="49" charset="0"/>
              </a:rPr>
              <a:t>void clistMoveNext</a:t>
            </a:r>
            <a:r>
              <a:rPr lang="en-US" sz="2000">
                <a:latin typeface="Consolas" panose="020B0609020204030204" pitchFamily="49" charset="0"/>
              </a:rPr>
              <a:t>(CList &amp; list); </a:t>
            </a:r>
            <a:r>
              <a:rPr lang="en-US" sz="2000" smtClean="0">
                <a:latin typeface="Consolas" panose="020B0609020204030204" pitchFamily="49" charset="0"/>
              </a:rPr>
              <a:t>// Dịch chuyển cursor</a:t>
            </a:r>
          </a:p>
          <a:p>
            <a:pPr marL="0" indent="0">
              <a:spcBef>
                <a:spcPts val="2400"/>
              </a:spcBef>
              <a:buNone/>
            </a:pPr>
            <a:r>
              <a:rPr lang="en-US" sz="2000">
                <a:latin typeface="Consolas" panose="020B0609020204030204" pitchFamily="49" charset="0"/>
              </a:rPr>
              <a:t>// Chèn vào sau cursor</a:t>
            </a:r>
          </a:p>
          <a:p>
            <a:pPr marL="0" indent="0">
              <a:buNone/>
            </a:pPr>
            <a:r>
              <a:rPr lang="en-US" sz="2000" smtClean="0">
                <a:latin typeface="Consolas" panose="020B0609020204030204" pitchFamily="49" charset="0"/>
              </a:rPr>
              <a:t>void clistInsert(</a:t>
            </a:r>
            <a:r>
              <a:rPr lang="en-US" sz="2000">
                <a:latin typeface="Consolas" panose="020B0609020204030204" pitchFamily="49" charset="0"/>
              </a:rPr>
              <a:t>CList &amp; </a:t>
            </a:r>
            <a:r>
              <a:rPr lang="en-US" sz="2000" smtClean="0">
                <a:latin typeface="Consolas" panose="020B0609020204030204" pitchFamily="49" charset="0"/>
              </a:rPr>
              <a:t>list, T e);</a:t>
            </a:r>
          </a:p>
          <a:p>
            <a:pPr marL="0" indent="0">
              <a:spcBef>
                <a:spcPts val="2400"/>
              </a:spcBef>
              <a:buNone/>
            </a:pPr>
            <a:r>
              <a:rPr lang="en-US" sz="2000">
                <a:latin typeface="Consolas" panose="020B0609020204030204" pitchFamily="49" charset="0"/>
              </a:rPr>
              <a:t>// Xóa nút sau cursor</a:t>
            </a:r>
            <a:endParaRPr lang="en-US" sz="2000" smtClean="0">
              <a:latin typeface="Consolas" panose="020B0609020204030204" pitchFamily="49" charset="0"/>
            </a:endParaRPr>
          </a:p>
          <a:p>
            <a:pPr marL="0" indent="0">
              <a:buNone/>
            </a:pPr>
            <a:r>
              <a:rPr lang="en-US" sz="2000" smtClean="0">
                <a:latin typeface="Consolas" panose="020B0609020204030204" pitchFamily="49" charset="0"/>
              </a:rPr>
              <a:t>void clistRemove</a:t>
            </a:r>
            <a:r>
              <a:rPr lang="en-US" sz="2000">
                <a:latin typeface="Consolas" panose="020B0609020204030204" pitchFamily="49" charset="0"/>
              </a:rPr>
              <a:t>(CList &amp; list</a:t>
            </a:r>
            <a:r>
              <a:rPr lang="en-US" sz="2000" smtClean="0">
                <a:latin typeface="Consolas" panose="020B0609020204030204" pitchFamily="49" charset="0"/>
              </a:rPr>
              <a:t>);</a:t>
            </a:r>
            <a:endParaRPr lang="en-US" sz="2000"/>
          </a:p>
        </p:txBody>
      </p:sp>
      <p:sp>
        <p:nvSpPr>
          <p:cNvPr id="4" name="Slide Number Placeholder 3"/>
          <p:cNvSpPr>
            <a:spLocks noGrp="1"/>
          </p:cNvSpPr>
          <p:nvPr>
            <p:ph type="sldNum" sz="quarter" idx="12"/>
          </p:nvPr>
        </p:nvSpPr>
        <p:spPr/>
        <p:txBody>
          <a:bodyPr/>
          <a:lstStyle/>
          <a:p>
            <a:fld id="{E99E512B-1003-47C1-A1C1-7B7D3ED31612}" type="slidenum">
              <a:rPr lang="en-US" smtClean="0"/>
              <a:t>28</a:t>
            </a:fld>
            <a:endParaRPr lang="en-US"/>
          </a:p>
        </p:txBody>
      </p:sp>
      <p:sp>
        <p:nvSpPr>
          <p:cNvPr id="5" name="TextBox 4"/>
          <p:cNvSpPr txBox="1"/>
          <p:nvPr/>
        </p:nvSpPr>
        <p:spPr>
          <a:xfrm>
            <a:off x="5580112" y="5157192"/>
            <a:ext cx="3312368" cy="1015663"/>
          </a:xfrm>
          <a:prstGeom prst="rect">
            <a:avLst/>
          </a:prstGeom>
          <a:noFill/>
          <a:ln>
            <a:solidFill>
              <a:srgbClr val="3333CC"/>
            </a:solidFill>
          </a:ln>
        </p:spPr>
        <p:txBody>
          <a:bodyPr wrap="square" rtlCol="0">
            <a:spAutoFit/>
          </a:bodyPr>
          <a:lstStyle/>
          <a:p>
            <a:r>
              <a:rPr lang="en-US" sz="2000" i="1" smtClean="0">
                <a:solidFill>
                  <a:srgbClr val="3333CC"/>
                </a:solidFill>
                <a:latin typeface="Calibri" panose="020F0502020204030204" pitchFamily="34" charset="0"/>
                <a:cs typeface="Calibri" panose="020F0502020204030204" pitchFamily="34" charset="0"/>
              </a:rPr>
              <a:t>Vì thời gian trên lớp có hạn, sau đây chúng ta chỉ tập trung cài đặt hai hàm này.</a:t>
            </a:r>
            <a:endParaRPr lang="en-US" sz="2000" i="1">
              <a:solidFill>
                <a:srgbClr val="3333CC"/>
              </a:solidFill>
              <a:latin typeface="Calibri" panose="020F0502020204030204" pitchFamily="34" charset="0"/>
              <a:cs typeface="Calibri" panose="020F0502020204030204" pitchFamily="34" charset="0"/>
            </a:endParaRPr>
          </a:p>
        </p:txBody>
      </p:sp>
      <p:cxnSp>
        <p:nvCxnSpPr>
          <p:cNvPr id="6" name="Straight Arrow Connector 5"/>
          <p:cNvCxnSpPr/>
          <p:nvPr/>
        </p:nvCxnSpPr>
        <p:spPr>
          <a:xfrm flipH="1" flipV="1">
            <a:off x="4932040" y="5080992"/>
            <a:ext cx="648072" cy="584032"/>
          </a:xfrm>
          <a:prstGeom prst="straightConnector1">
            <a:avLst/>
          </a:prstGeom>
          <a:ln>
            <a:solidFill>
              <a:srgbClr val="3333CC"/>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stCxn id="5" idx="1"/>
          </p:cNvCxnSpPr>
          <p:nvPr/>
        </p:nvCxnSpPr>
        <p:spPr>
          <a:xfrm flipH="1">
            <a:off x="4932040" y="5665024"/>
            <a:ext cx="648072" cy="212248"/>
          </a:xfrm>
          <a:prstGeom prst="straightConnector1">
            <a:avLst/>
          </a:prstGeom>
          <a:ln>
            <a:solidFill>
              <a:srgbClr val="3333CC"/>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183604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Chèn vào sau cursor</a:t>
            </a:r>
            <a:endParaRPr lang="en-US"/>
          </a:p>
        </p:txBody>
      </p:sp>
      <p:sp>
        <p:nvSpPr>
          <p:cNvPr id="3" name="Content Placeholder 2"/>
          <p:cNvSpPr>
            <a:spLocks noGrp="1"/>
          </p:cNvSpPr>
          <p:nvPr>
            <p:ph idx="1"/>
          </p:nvPr>
        </p:nvSpPr>
        <p:spPr>
          <a:xfrm>
            <a:off x="457200" y="1600200"/>
            <a:ext cx="8579296" cy="4997152"/>
          </a:xfrm>
        </p:spPr>
        <p:txBody>
          <a:bodyPr>
            <a:normAutofit/>
          </a:bodyPr>
          <a:lstStyle/>
          <a:p>
            <a:pPr marL="0" indent="0">
              <a:buNone/>
            </a:pPr>
            <a:r>
              <a:rPr lang="en-US" altLang="en-US" sz="2000">
                <a:latin typeface="Consolas" panose="020B0609020204030204" pitchFamily="49" charset="0"/>
                <a:cs typeface="Consolas" panose="020B0609020204030204" pitchFamily="49" charset="0"/>
              </a:rPr>
              <a:t>// </a:t>
            </a:r>
            <a:r>
              <a:rPr lang="en-US" altLang="en-US" sz="2000" smtClean="0">
                <a:latin typeface="Consolas" panose="020B0609020204030204" pitchFamily="49" charset="0"/>
                <a:cs typeface="Consolas" panose="020B0609020204030204" pitchFamily="49" charset="0"/>
              </a:rPr>
              <a:t>Chèn phần tử mới (e) vào sau cursor (đầu danh sách).</a:t>
            </a:r>
            <a:endParaRPr lang="en-US" altLang="en-US" sz="2000">
              <a:latin typeface="Consolas" panose="020B0609020204030204" pitchFamily="49" charset="0"/>
              <a:cs typeface="Consolas" panose="020B0609020204030204" pitchFamily="49" charset="0"/>
            </a:endParaRPr>
          </a:p>
          <a:p>
            <a:pPr marL="0" indent="0">
              <a:buNone/>
            </a:pPr>
            <a:r>
              <a:rPr lang="en-US" altLang="en-US" sz="2000">
                <a:latin typeface="Consolas" panose="020B0609020204030204" pitchFamily="49" charset="0"/>
                <a:cs typeface="Consolas" panose="020B0609020204030204" pitchFamily="49" charset="0"/>
              </a:rPr>
              <a:t>void </a:t>
            </a:r>
            <a:r>
              <a:rPr lang="en-US" altLang="en-US" sz="2000" smtClean="0">
                <a:latin typeface="Consolas" panose="020B0609020204030204" pitchFamily="49" charset="0"/>
                <a:cs typeface="Consolas" panose="020B0609020204030204" pitchFamily="49" charset="0"/>
              </a:rPr>
              <a:t>clistInsert(CList </a:t>
            </a:r>
            <a:r>
              <a:rPr lang="en-US" altLang="en-US" sz="2000" smtClean="0">
                <a:latin typeface="Consolas" panose="020B0609020204030204" pitchFamily="49" charset="0"/>
                <a:cs typeface="Consolas" panose="020B0609020204030204" pitchFamily="49" charset="0"/>
              </a:rPr>
              <a:t>&amp; list, T e) </a:t>
            </a:r>
            <a:r>
              <a:rPr lang="en-US" altLang="en-US" sz="2000">
                <a:latin typeface="Consolas" panose="020B0609020204030204" pitchFamily="49" charset="0"/>
                <a:cs typeface="Consolas" panose="020B0609020204030204" pitchFamily="49" charset="0"/>
              </a:rPr>
              <a:t>{</a:t>
            </a:r>
          </a:p>
          <a:p>
            <a:pPr marL="0" indent="0">
              <a:buNone/>
            </a:pPr>
            <a:r>
              <a:rPr lang="en-US" altLang="en-US" sz="2000" smtClean="0">
                <a:latin typeface="Consolas" panose="020B0609020204030204" pitchFamily="49" charset="0"/>
                <a:cs typeface="Consolas" panose="020B0609020204030204" pitchFamily="49" charset="0"/>
              </a:rPr>
              <a:t>  CNode </a:t>
            </a:r>
            <a:r>
              <a:rPr lang="en-US" altLang="en-US" sz="2000">
                <a:latin typeface="Consolas" panose="020B0609020204030204" pitchFamily="49" charset="0"/>
                <a:cs typeface="Consolas" panose="020B0609020204030204" pitchFamily="49" charset="0"/>
              </a:rPr>
              <a:t>* v = </a:t>
            </a:r>
            <a:r>
              <a:rPr lang="en-US" altLang="en-US" sz="2000" smtClean="0">
                <a:latin typeface="Consolas" panose="020B0609020204030204" pitchFamily="49" charset="0"/>
                <a:cs typeface="Consolas" panose="020B0609020204030204" pitchFamily="49" charset="0"/>
              </a:rPr>
              <a:t>new CNode; </a:t>
            </a:r>
            <a:r>
              <a:rPr lang="en-US" altLang="en-US" sz="2000">
                <a:latin typeface="Consolas" panose="020B0609020204030204" pitchFamily="49" charset="0"/>
                <a:cs typeface="Consolas" panose="020B0609020204030204" pitchFamily="49" charset="0"/>
              </a:rPr>
              <a:t>// </a:t>
            </a:r>
            <a:r>
              <a:rPr lang="en-US" altLang="en-US" sz="2000" smtClean="0">
                <a:latin typeface="Consolas" panose="020B0609020204030204" pitchFamily="49" charset="0"/>
                <a:cs typeface="Consolas" panose="020B0609020204030204" pitchFamily="49" charset="0"/>
              </a:rPr>
              <a:t>Tạo nút mới</a:t>
            </a:r>
            <a:endParaRPr lang="en-US" altLang="en-US" sz="2000">
              <a:latin typeface="Consolas" panose="020B0609020204030204" pitchFamily="49" charset="0"/>
              <a:cs typeface="Consolas" panose="020B0609020204030204" pitchFamily="49" charset="0"/>
            </a:endParaRPr>
          </a:p>
          <a:p>
            <a:pPr marL="0" indent="0">
              <a:buNone/>
            </a:pPr>
            <a:r>
              <a:rPr lang="en-US" altLang="en-US" sz="2000" smtClean="0">
                <a:latin typeface="Consolas" panose="020B0609020204030204" pitchFamily="49" charset="0"/>
                <a:cs typeface="Consolas" panose="020B0609020204030204" pitchFamily="49" charset="0"/>
              </a:rPr>
              <a:t>  v-&gt;elem </a:t>
            </a:r>
            <a:r>
              <a:rPr lang="en-US" altLang="en-US" sz="2000">
                <a:latin typeface="Consolas" panose="020B0609020204030204" pitchFamily="49" charset="0"/>
                <a:cs typeface="Consolas" panose="020B0609020204030204" pitchFamily="49" charset="0"/>
              </a:rPr>
              <a:t>= </a:t>
            </a:r>
            <a:r>
              <a:rPr lang="en-US" altLang="en-US" sz="2000" smtClean="0">
                <a:latin typeface="Consolas" panose="020B0609020204030204" pitchFamily="49" charset="0"/>
                <a:cs typeface="Consolas" panose="020B0609020204030204" pitchFamily="49" charset="0"/>
              </a:rPr>
              <a:t>e;           // Nút mới chứa phần tử mới</a:t>
            </a:r>
            <a:endParaRPr lang="en-US" altLang="en-US" sz="2000">
              <a:latin typeface="Consolas" panose="020B0609020204030204" pitchFamily="49" charset="0"/>
              <a:cs typeface="Consolas" panose="020B0609020204030204" pitchFamily="49" charset="0"/>
            </a:endParaRPr>
          </a:p>
          <a:p>
            <a:pPr marL="0" indent="0">
              <a:spcBef>
                <a:spcPts val="1800"/>
              </a:spcBef>
              <a:buNone/>
            </a:pPr>
            <a:r>
              <a:rPr lang="en-US" altLang="en-US" sz="2000" smtClean="0">
                <a:latin typeface="Consolas" panose="020B0609020204030204" pitchFamily="49" charset="0"/>
                <a:cs typeface="Consolas" panose="020B0609020204030204" pitchFamily="49" charset="0"/>
              </a:rPr>
              <a:t>  if (list.cursor == NULL) { // Nếu danh sách rỗng,</a:t>
            </a:r>
            <a:endParaRPr lang="en-US" altLang="en-US" sz="2000">
              <a:latin typeface="Consolas" panose="020B0609020204030204" pitchFamily="49" charset="0"/>
              <a:cs typeface="Consolas" panose="020B0609020204030204" pitchFamily="49" charset="0"/>
            </a:endParaRPr>
          </a:p>
          <a:p>
            <a:pPr marL="0" indent="0">
              <a:buNone/>
            </a:pPr>
            <a:r>
              <a:rPr lang="en-US" altLang="en-US" sz="2000" smtClean="0">
                <a:latin typeface="Consolas" panose="020B0609020204030204" pitchFamily="49" charset="0"/>
                <a:cs typeface="Consolas" panose="020B0609020204030204" pitchFamily="49" charset="0"/>
              </a:rPr>
              <a:t>    v-&gt;next = v;      // nút mới trỏ tới chính nó và</a:t>
            </a:r>
          </a:p>
          <a:p>
            <a:pPr marL="0" indent="0">
              <a:buNone/>
            </a:pPr>
            <a:r>
              <a:rPr lang="en-US" altLang="en-US" sz="2000" smtClean="0">
                <a:latin typeface="Consolas" panose="020B0609020204030204" pitchFamily="49" charset="0"/>
                <a:cs typeface="Consolas" panose="020B0609020204030204" pitchFamily="49" charset="0"/>
              </a:rPr>
              <a:t>    list.cursor = v;  // cursor trỏ tới nút mới (vì</a:t>
            </a:r>
          </a:p>
          <a:p>
            <a:pPr marL="0" indent="0">
              <a:buNone/>
            </a:pPr>
            <a:r>
              <a:rPr lang="en-US" altLang="en-US" sz="2000" smtClean="0">
                <a:latin typeface="Consolas" panose="020B0609020204030204" pitchFamily="49" charset="0"/>
                <a:cs typeface="Consolas" panose="020B0609020204030204" pitchFamily="49" charset="0"/>
              </a:rPr>
              <a:t>  }                   // nút mới cũng là nút cuối).</a:t>
            </a:r>
            <a:endParaRPr lang="en-US" altLang="en-US" sz="2000">
              <a:latin typeface="Consolas" panose="020B0609020204030204" pitchFamily="49" charset="0"/>
              <a:cs typeface="Consolas" panose="020B0609020204030204" pitchFamily="49" charset="0"/>
            </a:endParaRPr>
          </a:p>
          <a:p>
            <a:pPr marL="0" indent="0">
              <a:buNone/>
            </a:pPr>
            <a:r>
              <a:rPr lang="en-US" altLang="en-US" sz="2000" smtClean="0">
                <a:latin typeface="Consolas" panose="020B0609020204030204" pitchFamily="49" charset="0"/>
                <a:cs typeface="Consolas" panose="020B0609020204030204" pitchFamily="49" charset="0"/>
              </a:rPr>
              <a:t>  else {                     // Nếu danh sách có phần tử,</a:t>
            </a:r>
            <a:endParaRPr lang="en-US" altLang="en-US" sz="2000">
              <a:latin typeface="Consolas" panose="020B0609020204030204" pitchFamily="49" charset="0"/>
              <a:cs typeface="Consolas" panose="020B0609020204030204" pitchFamily="49" charset="0"/>
            </a:endParaRPr>
          </a:p>
          <a:p>
            <a:pPr marL="0" indent="0">
              <a:buNone/>
            </a:pPr>
            <a:r>
              <a:rPr lang="en-US" altLang="en-US" sz="2000" smtClean="0">
                <a:latin typeface="Consolas" panose="020B0609020204030204" pitchFamily="49" charset="0"/>
                <a:cs typeface="Consolas" panose="020B0609020204030204" pitchFamily="49" charset="0"/>
              </a:rPr>
              <a:t>    v-&gt;next = list.cursor-&gt;next; // nút mới trỏ tới nút đầu,</a:t>
            </a:r>
            <a:endParaRPr lang="en-US" altLang="en-US" sz="2000">
              <a:latin typeface="Consolas" panose="020B0609020204030204" pitchFamily="49" charset="0"/>
              <a:cs typeface="Consolas" panose="020B0609020204030204" pitchFamily="49" charset="0"/>
            </a:endParaRPr>
          </a:p>
          <a:p>
            <a:pPr marL="0" indent="0">
              <a:buNone/>
            </a:pPr>
            <a:r>
              <a:rPr lang="en-US" altLang="en-US" sz="2000" smtClean="0">
                <a:latin typeface="Consolas" panose="020B0609020204030204" pitchFamily="49" charset="0"/>
                <a:cs typeface="Consolas" panose="020B0609020204030204" pitchFamily="49" charset="0"/>
              </a:rPr>
              <a:t>    list.cursor-&gt;next = v;       // rồi trở thành nút đầu.</a:t>
            </a:r>
          </a:p>
          <a:p>
            <a:pPr marL="0" indent="0">
              <a:buNone/>
            </a:pPr>
            <a:r>
              <a:rPr lang="en-US" altLang="en-US" sz="2000">
                <a:latin typeface="Consolas" panose="020B0609020204030204" pitchFamily="49" charset="0"/>
                <a:cs typeface="Consolas" panose="020B0609020204030204" pitchFamily="49" charset="0"/>
              </a:rPr>
              <a:t> </a:t>
            </a:r>
            <a:r>
              <a:rPr lang="en-US" altLang="en-US" sz="2000" smtClean="0">
                <a:latin typeface="Consolas" panose="020B0609020204030204" pitchFamily="49" charset="0"/>
                <a:cs typeface="Consolas" panose="020B0609020204030204" pitchFamily="49" charset="0"/>
              </a:rPr>
              <a:t> } // Chú ý: list.cursor-&gt;next giữ địa chỉ nút đầu.</a:t>
            </a:r>
            <a:endParaRPr lang="en-US" altLang="en-US" sz="2000">
              <a:latin typeface="Consolas" panose="020B0609020204030204" pitchFamily="49" charset="0"/>
              <a:cs typeface="Consolas" panose="020B0609020204030204" pitchFamily="49" charset="0"/>
            </a:endParaRPr>
          </a:p>
          <a:p>
            <a:pPr marL="0" indent="0">
              <a:buNone/>
            </a:pPr>
            <a:r>
              <a:rPr lang="en-US" altLang="en-US" sz="2000" smtClean="0">
                <a:latin typeface="Consolas" panose="020B0609020204030204" pitchFamily="49" charset="0"/>
                <a:cs typeface="Consolas" panose="020B0609020204030204" pitchFamily="49" charset="0"/>
              </a:rPr>
              <a:t>}</a:t>
            </a:r>
            <a:endParaRPr lang="en-US" altLang="en-US" sz="2000">
              <a:latin typeface="Consolas" panose="020B0609020204030204" pitchFamily="49" charset="0"/>
              <a:cs typeface="Consolas" panose="020B0609020204030204" pitchFamily="49" charset="0"/>
            </a:endParaRPr>
          </a:p>
        </p:txBody>
      </p:sp>
      <p:sp>
        <p:nvSpPr>
          <p:cNvPr id="4" name="Slide Number Placeholder 3"/>
          <p:cNvSpPr>
            <a:spLocks noGrp="1"/>
          </p:cNvSpPr>
          <p:nvPr>
            <p:ph type="sldNum" sz="quarter" idx="12"/>
          </p:nvPr>
        </p:nvSpPr>
        <p:spPr/>
        <p:txBody>
          <a:bodyPr/>
          <a:lstStyle/>
          <a:p>
            <a:fld id="{E99E512B-1003-47C1-A1C1-7B7D3ED31612}" type="slidenum">
              <a:rPr lang="en-US" smtClean="0"/>
              <a:t>29</a:t>
            </a:fld>
            <a:endParaRPr lang="en-US"/>
          </a:p>
        </p:txBody>
      </p:sp>
    </p:spTree>
    <p:extLst>
      <p:ext uri="{BB962C8B-B14F-4D97-AF65-F5344CB8AC3E}">
        <p14:creationId xmlns:p14="http://schemas.microsoft.com/office/powerpoint/2010/main" val="9119578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Xóa nút sau cursor</a:t>
            </a:r>
            <a:endParaRPr lang="en-US"/>
          </a:p>
        </p:txBody>
      </p:sp>
      <p:sp>
        <p:nvSpPr>
          <p:cNvPr id="3" name="Content Placeholder 2"/>
          <p:cNvSpPr>
            <a:spLocks noGrp="1"/>
          </p:cNvSpPr>
          <p:nvPr>
            <p:ph idx="1"/>
          </p:nvPr>
        </p:nvSpPr>
        <p:spPr/>
        <p:txBody>
          <a:bodyPr>
            <a:noAutofit/>
          </a:bodyPr>
          <a:lstStyle/>
          <a:p>
            <a:pPr marL="0" indent="0">
              <a:buNone/>
            </a:pPr>
            <a:r>
              <a:rPr lang="en-US" altLang="en-US" sz="2000" smtClean="0">
                <a:latin typeface="Consolas" panose="020B0609020204030204" pitchFamily="49" charset="0"/>
                <a:cs typeface="Consolas" panose="020B0609020204030204" pitchFamily="49" charset="0"/>
              </a:rPr>
              <a:t>void clistRemove(CList &amp; list) </a:t>
            </a:r>
            <a:r>
              <a:rPr lang="en-US" altLang="en-US" sz="2000">
                <a:latin typeface="Consolas" panose="020B0609020204030204" pitchFamily="49" charset="0"/>
                <a:cs typeface="Consolas" panose="020B0609020204030204" pitchFamily="49" charset="0"/>
              </a:rPr>
              <a:t>{</a:t>
            </a:r>
          </a:p>
          <a:p>
            <a:pPr marL="0" indent="0">
              <a:buNone/>
            </a:pPr>
            <a:r>
              <a:rPr lang="en-US" altLang="en-US" sz="2000" smtClean="0">
                <a:latin typeface="Consolas" panose="020B0609020204030204" pitchFamily="49" charset="0"/>
                <a:cs typeface="Consolas" panose="020B0609020204030204" pitchFamily="49" charset="0"/>
              </a:rPr>
              <a:t>    // </a:t>
            </a:r>
            <a:r>
              <a:rPr lang="en-US" altLang="en-US" sz="2000">
                <a:latin typeface="Consolas" panose="020B0609020204030204" pitchFamily="49" charset="0"/>
                <a:cs typeface="Consolas" panose="020B0609020204030204" pitchFamily="49" charset="0"/>
              </a:rPr>
              <a:t>Giữ lại địa chỉ </a:t>
            </a:r>
            <a:r>
              <a:rPr lang="en-US" altLang="en-US" sz="2000" smtClean="0">
                <a:latin typeface="Consolas" panose="020B0609020204030204" pitchFamily="49" charset="0"/>
                <a:cs typeface="Consolas" panose="020B0609020204030204" pitchFamily="49" charset="0"/>
              </a:rPr>
              <a:t>của </a:t>
            </a:r>
            <a:r>
              <a:rPr lang="en-US" altLang="en-US" sz="2000">
                <a:latin typeface="Consolas" panose="020B0609020204030204" pitchFamily="49" charset="0"/>
                <a:cs typeface="Consolas" panose="020B0609020204030204" pitchFamily="49" charset="0"/>
              </a:rPr>
              <a:t>nút cần xóa (nút đầu</a:t>
            </a:r>
            <a:r>
              <a:rPr lang="en-US" altLang="en-US" sz="2000" smtClean="0">
                <a:latin typeface="Consolas" panose="020B0609020204030204" pitchFamily="49" charset="0"/>
                <a:cs typeface="Consolas" panose="020B0609020204030204" pitchFamily="49" charset="0"/>
              </a:rPr>
              <a:t>)</a:t>
            </a:r>
            <a:endParaRPr lang="en-US" altLang="en-US" sz="2000">
              <a:latin typeface="Consolas" panose="020B0609020204030204" pitchFamily="49" charset="0"/>
              <a:cs typeface="Consolas" panose="020B0609020204030204" pitchFamily="49" charset="0"/>
            </a:endParaRPr>
          </a:p>
          <a:p>
            <a:pPr marL="0" indent="0">
              <a:buNone/>
            </a:pPr>
            <a:r>
              <a:rPr lang="en-US" altLang="en-US" sz="2000" smtClean="0">
                <a:latin typeface="Consolas" panose="020B0609020204030204" pitchFamily="49" charset="0"/>
                <a:cs typeface="Consolas" panose="020B0609020204030204" pitchFamily="49" charset="0"/>
              </a:rPr>
              <a:t>    </a:t>
            </a:r>
            <a:r>
              <a:rPr lang="en-US" altLang="en-US" sz="2000">
                <a:latin typeface="Consolas" panose="020B0609020204030204" pitchFamily="49" charset="0"/>
                <a:cs typeface="Consolas" panose="020B0609020204030204" pitchFamily="49" charset="0"/>
              </a:rPr>
              <a:t>CNode * </a:t>
            </a:r>
            <a:r>
              <a:rPr lang="en-US" altLang="en-US" sz="2000" smtClean="0">
                <a:latin typeface="Consolas" panose="020B0609020204030204" pitchFamily="49" charset="0"/>
                <a:cs typeface="Consolas" panose="020B0609020204030204" pitchFamily="49" charset="0"/>
              </a:rPr>
              <a:t>old </a:t>
            </a:r>
            <a:r>
              <a:rPr lang="en-US" altLang="en-US" sz="2000">
                <a:latin typeface="Consolas" panose="020B0609020204030204" pitchFamily="49" charset="0"/>
                <a:cs typeface="Consolas" panose="020B0609020204030204" pitchFamily="49" charset="0"/>
              </a:rPr>
              <a:t>= </a:t>
            </a:r>
            <a:r>
              <a:rPr lang="en-US" altLang="en-US" sz="2000" smtClean="0">
                <a:latin typeface="Consolas" panose="020B0609020204030204" pitchFamily="49" charset="0"/>
                <a:cs typeface="Consolas" panose="020B0609020204030204" pitchFamily="49" charset="0"/>
              </a:rPr>
              <a:t>list.cursor-&gt;next; </a:t>
            </a:r>
          </a:p>
          <a:p>
            <a:pPr marL="0" indent="0">
              <a:spcBef>
                <a:spcPts val="1800"/>
              </a:spcBef>
              <a:buNone/>
            </a:pPr>
            <a:r>
              <a:rPr lang="en-US" altLang="en-US" sz="2000" smtClean="0">
                <a:latin typeface="Consolas" panose="020B0609020204030204" pitchFamily="49" charset="0"/>
                <a:cs typeface="Consolas" panose="020B0609020204030204" pitchFamily="49" charset="0"/>
              </a:rPr>
              <a:t>    if (old == cursor) // Nếu </a:t>
            </a:r>
            <a:r>
              <a:rPr lang="en-US" altLang="en-US" sz="2000">
                <a:latin typeface="Consolas" panose="020B0609020204030204" pitchFamily="49" charset="0"/>
                <a:cs typeface="Consolas" panose="020B0609020204030204" pitchFamily="49" charset="0"/>
              </a:rPr>
              <a:t>danh sách </a:t>
            </a:r>
            <a:r>
              <a:rPr lang="en-US" altLang="en-US" sz="2000" smtClean="0">
                <a:latin typeface="Consolas" panose="020B0609020204030204" pitchFamily="49" charset="0"/>
                <a:cs typeface="Consolas" panose="020B0609020204030204" pitchFamily="49" charset="0"/>
              </a:rPr>
              <a:t>chỉ có một nút</a:t>
            </a:r>
          </a:p>
          <a:p>
            <a:pPr marL="0" indent="0">
              <a:spcBef>
                <a:spcPts val="300"/>
              </a:spcBef>
              <a:buNone/>
            </a:pPr>
            <a:r>
              <a:rPr lang="en-US" altLang="en-US" sz="2000">
                <a:latin typeface="Consolas" panose="020B0609020204030204" pitchFamily="49" charset="0"/>
                <a:cs typeface="Consolas" panose="020B0609020204030204" pitchFamily="49" charset="0"/>
              </a:rPr>
              <a:t> </a:t>
            </a:r>
            <a:r>
              <a:rPr lang="en-US" altLang="en-US" sz="2000" smtClean="0">
                <a:latin typeface="Consolas" panose="020B0609020204030204" pitchFamily="49" charset="0"/>
                <a:cs typeface="Consolas" panose="020B0609020204030204" pitchFamily="49" charset="0"/>
              </a:rPr>
              <a:t>                      // (nút đầu và cuối trùng nhau),</a:t>
            </a:r>
            <a:endParaRPr lang="en-US" altLang="en-US" sz="2000">
              <a:latin typeface="Consolas" panose="020B0609020204030204" pitchFamily="49" charset="0"/>
              <a:cs typeface="Consolas" panose="020B0609020204030204" pitchFamily="49" charset="0"/>
            </a:endParaRPr>
          </a:p>
          <a:p>
            <a:pPr marL="0" indent="0">
              <a:buNone/>
            </a:pPr>
            <a:r>
              <a:rPr lang="en-US" altLang="en-US" sz="2000" smtClean="0">
                <a:latin typeface="Consolas" panose="020B0609020204030204" pitchFamily="49" charset="0"/>
                <a:cs typeface="Consolas" panose="020B0609020204030204" pitchFamily="49" charset="0"/>
              </a:rPr>
              <a:t>        cursor = NULL; // danh sách sẽ rỗng sau khi xóa.</a:t>
            </a:r>
            <a:endParaRPr lang="en-US" altLang="en-US" sz="2000">
              <a:latin typeface="Consolas" panose="020B0609020204030204" pitchFamily="49" charset="0"/>
              <a:cs typeface="Consolas" panose="020B0609020204030204" pitchFamily="49" charset="0"/>
            </a:endParaRPr>
          </a:p>
          <a:p>
            <a:pPr marL="0" indent="0">
              <a:buNone/>
            </a:pPr>
            <a:r>
              <a:rPr lang="en-US" altLang="en-US" sz="2000">
                <a:latin typeface="Consolas" panose="020B0609020204030204" pitchFamily="49" charset="0"/>
                <a:cs typeface="Consolas" panose="020B0609020204030204" pitchFamily="49" charset="0"/>
              </a:rPr>
              <a:t>    </a:t>
            </a:r>
            <a:r>
              <a:rPr lang="en-US" altLang="en-US" sz="2000" smtClean="0">
                <a:latin typeface="Consolas" panose="020B0609020204030204" pitchFamily="49" charset="0"/>
                <a:cs typeface="Consolas" panose="020B0609020204030204" pitchFamily="49" charset="0"/>
              </a:rPr>
              <a:t>else               // Nếu </a:t>
            </a:r>
            <a:r>
              <a:rPr lang="en-US" altLang="en-US" sz="2000">
                <a:latin typeface="Consolas" panose="020B0609020204030204" pitchFamily="49" charset="0"/>
                <a:cs typeface="Consolas" panose="020B0609020204030204" pitchFamily="49" charset="0"/>
              </a:rPr>
              <a:t>danh sách </a:t>
            </a:r>
            <a:r>
              <a:rPr lang="en-US" altLang="en-US" sz="2000" smtClean="0">
                <a:latin typeface="Consolas" panose="020B0609020204030204" pitchFamily="49" charset="0"/>
                <a:cs typeface="Consolas" panose="020B0609020204030204" pitchFamily="49" charset="0"/>
              </a:rPr>
              <a:t>có nhiều nút,</a:t>
            </a:r>
            <a:endParaRPr lang="en-US" altLang="en-US" sz="2000">
              <a:latin typeface="Consolas" panose="020B0609020204030204" pitchFamily="49" charset="0"/>
              <a:cs typeface="Consolas" panose="020B0609020204030204" pitchFamily="49" charset="0"/>
            </a:endParaRPr>
          </a:p>
          <a:p>
            <a:pPr marL="0" indent="0">
              <a:buNone/>
            </a:pPr>
            <a:r>
              <a:rPr lang="en-US" altLang="en-US" sz="2000">
                <a:latin typeface="Consolas" panose="020B0609020204030204" pitchFamily="49" charset="0"/>
                <a:cs typeface="Consolas" panose="020B0609020204030204" pitchFamily="49" charset="0"/>
              </a:rPr>
              <a:t>        </a:t>
            </a:r>
            <a:r>
              <a:rPr lang="en-US" altLang="en-US" sz="2000" smtClean="0">
                <a:latin typeface="Consolas" panose="020B0609020204030204" pitchFamily="49" charset="0"/>
                <a:cs typeface="Consolas" panose="020B0609020204030204" pitchFamily="49" charset="0"/>
              </a:rPr>
              <a:t>cursor-</a:t>
            </a:r>
            <a:r>
              <a:rPr lang="en-US" altLang="en-US" sz="2000">
                <a:latin typeface="Consolas" panose="020B0609020204030204" pitchFamily="49" charset="0"/>
                <a:cs typeface="Consolas" panose="020B0609020204030204" pitchFamily="49" charset="0"/>
              </a:rPr>
              <a:t>&gt;next = </a:t>
            </a:r>
            <a:r>
              <a:rPr lang="en-US" altLang="en-US" sz="2000" smtClean="0">
                <a:latin typeface="Consolas" panose="020B0609020204030204" pitchFamily="49" charset="0"/>
                <a:cs typeface="Consolas" panose="020B0609020204030204" pitchFamily="49" charset="0"/>
              </a:rPr>
              <a:t>old-</a:t>
            </a:r>
            <a:r>
              <a:rPr lang="en-US" altLang="en-US" sz="2000">
                <a:latin typeface="Consolas" panose="020B0609020204030204" pitchFamily="49" charset="0"/>
                <a:cs typeface="Consolas" panose="020B0609020204030204" pitchFamily="49" charset="0"/>
              </a:rPr>
              <a:t>&gt;next</a:t>
            </a:r>
            <a:r>
              <a:rPr lang="en-US" altLang="en-US" sz="2000" smtClean="0">
                <a:latin typeface="Consolas" panose="020B0609020204030204" pitchFamily="49" charset="0"/>
                <a:cs typeface="Consolas" panose="020B0609020204030204" pitchFamily="49" charset="0"/>
              </a:rPr>
              <a:t>; // nút thứ hai sẽ trở</a:t>
            </a:r>
          </a:p>
          <a:p>
            <a:pPr marL="0" indent="0">
              <a:buNone/>
            </a:pPr>
            <a:r>
              <a:rPr lang="en-US" altLang="en-US" sz="2000">
                <a:latin typeface="Consolas" panose="020B0609020204030204" pitchFamily="49" charset="0"/>
                <a:cs typeface="Consolas" panose="020B0609020204030204" pitchFamily="49" charset="0"/>
              </a:rPr>
              <a:t> </a:t>
            </a:r>
            <a:r>
              <a:rPr lang="en-US" altLang="en-US" sz="2000" smtClean="0">
                <a:latin typeface="Consolas" panose="020B0609020204030204" pitchFamily="49" charset="0"/>
                <a:cs typeface="Consolas" panose="020B0609020204030204" pitchFamily="49" charset="0"/>
              </a:rPr>
              <a:t>                                 // thành nút đầu mới.</a:t>
            </a:r>
            <a:endParaRPr lang="en-US" altLang="en-US" sz="2000">
              <a:latin typeface="Consolas" panose="020B0609020204030204" pitchFamily="49" charset="0"/>
              <a:cs typeface="Consolas" panose="020B0609020204030204" pitchFamily="49" charset="0"/>
            </a:endParaRPr>
          </a:p>
          <a:p>
            <a:pPr marL="0" indent="0">
              <a:spcBef>
                <a:spcPts val="1800"/>
              </a:spcBef>
              <a:buNone/>
            </a:pPr>
            <a:r>
              <a:rPr lang="en-US" altLang="en-US" sz="2000" smtClean="0">
                <a:latin typeface="Consolas" panose="020B0609020204030204" pitchFamily="49" charset="0"/>
                <a:cs typeface="Consolas" panose="020B0609020204030204" pitchFamily="49" charset="0"/>
              </a:rPr>
              <a:t>    delete old; // Xóa nút đầu cũ.</a:t>
            </a:r>
            <a:endParaRPr lang="en-US" altLang="en-US" sz="2000">
              <a:latin typeface="Consolas" panose="020B0609020204030204" pitchFamily="49" charset="0"/>
              <a:cs typeface="Consolas" panose="020B0609020204030204" pitchFamily="49" charset="0"/>
            </a:endParaRPr>
          </a:p>
          <a:p>
            <a:pPr marL="0" indent="0">
              <a:buNone/>
            </a:pPr>
            <a:r>
              <a:rPr lang="en-US" altLang="en-US" sz="2000" smtClean="0">
                <a:latin typeface="Consolas" panose="020B0609020204030204" pitchFamily="49" charset="0"/>
                <a:cs typeface="Consolas" panose="020B0609020204030204" pitchFamily="49" charset="0"/>
              </a:rPr>
              <a:t>}</a:t>
            </a:r>
            <a:endParaRPr lang="en-US" altLang="en-US" sz="2000">
              <a:latin typeface="Consolas" panose="020B0609020204030204" pitchFamily="49" charset="0"/>
              <a:cs typeface="Consolas" panose="020B0609020204030204" pitchFamily="49" charset="0"/>
            </a:endParaRPr>
          </a:p>
        </p:txBody>
      </p:sp>
      <p:sp>
        <p:nvSpPr>
          <p:cNvPr id="4" name="Slide Number Placeholder 3"/>
          <p:cNvSpPr>
            <a:spLocks noGrp="1"/>
          </p:cNvSpPr>
          <p:nvPr>
            <p:ph type="sldNum" sz="quarter" idx="12"/>
          </p:nvPr>
        </p:nvSpPr>
        <p:spPr/>
        <p:txBody>
          <a:bodyPr/>
          <a:lstStyle/>
          <a:p>
            <a:fld id="{E99E512B-1003-47C1-A1C1-7B7D3ED31612}" type="slidenum">
              <a:rPr lang="en-US" smtClean="0"/>
              <a:t>30</a:t>
            </a:fld>
            <a:endParaRPr lang="en-US"/>
          </a:p>
        </p:txBody>
      </p:sp>
    </p:spTree>
    <p:extLst>
      <p:ext uri="{BB962C8B-B14F-4D97-AF65-F5344CB8AC3E}">
        <p14:creationId xmlns:p14="http://schemas.microsoft.com/office/powerpoint/2010/main" val="141993212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5">
              <a:lumMod val="20000"/>
              <a:lumOff val="80000"/>
            </a:schemeClr>
          </a:solidFill>
        </p:spPr>
        <p:txBody>
          <a:bodyPr/>
          <a:lstStyle/>
          <a:p>
            <a:r>
              <a:rPr lang="en-US" smtClean="0"/>
              <a:t>Bài tập</a:t>
            </a:r>
            <a:endParaRPr lang="en-US"/>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sz="2600" smtClean="0"/>
              <a:t>Vì sao hàm hủy của danh sách liên kết đơn tốn thời gian chạy O(n), trong khi của vector chỉ là O(1)?</a:t>
            </a:r>
          </a:p>
          <a:p>
            <a:pPr marL="514350" indent="-514350">
              <a:spcBef>
                <a:spcPts val="1200"/>
              </a:spcBef>
              <a:buFont typeface="+mj-lt"/>
              <a:buAutoNum type="arabicPeriod"/>
            </a:pPr>
            <a:r>
              <a:rPr lang="en-US" sz="2600" smtClean="0"/>
              <a:t>Hãy đề xuất các thuật toán chèn/xóa ở cuối danh sách liên kết đơn? So sánh thời gian chạy với các thao tác chèn/xóa ở đầu danh sách? Trong trường hợp thuật toán đề xuất chạy chậm hơn, có cách nào làm cho nó chạy nhanh hơn không?</a:t>
            </a:r>
          </a:p>
          <a:p>
            <a:pPr marL="514350" indent="-514350">
              <a:spcBef>
                <a:spcPts val="1200"/>
              </a:spcBef>
              <a:buFont typeface="+mj-lt"/>
              <a:buAutoNum type="arabicPeriod"/>
            </a:pPr>
            <a:r>
              <a:rPr lang="en-US" sz="2600" smtClean="0"/>
              <a:t>Hãy đề xuất một thuật toán truy nhập phần tử của danh sách liên kết đơn thông qua chỉ số. So sánh thời gian chạy của thuật toán này với thuật toán tương ứng của vector.</a:t>
            </a:r>
          </a:p>
        </p:txBody>
      </p:sp>
      <p:sp>
        <p:nvSpPr>
          <p:cNvPr id="4" name="Slide Number Placeholder 3"/>
          <p:cNvSpPr>
            <a:spLocks noGrp="1"/>
          </p:cNvSpPr>
          <p:nvPr>
            <p:ph type="sldNum" sz="quarter" idx="12"/>
          </p:nvPr>
        </p:nvSpPr>
        <p:spPr/>
        <p:txBody>
          <a:bodyPr/>
          <a:lstStyle/>
          <a:p>
            <a:fld id="{E99E512B-1003-47C1-A1C1-7B7D3ED31612}" type="slidenum">
              <a:rPr lang="en-US" smtClean="0"/>
              <a:t>31</a:t>
            </a:fld>
            <a:endParaRPr lang="en-US"/>
          </a:p>
        </p:txBody>
      </p:sp>
    </p:spTree>
    <p:extLst>
      <p:ext uri="{BB962C8B-B14F-4D97-AF65-F5344CB8AC3E}">
        <p14:creationId xmlns:p14="http://schemas.microsoft.com/office/powerpoint/2010/main" val="328432451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5">
              <a:lumMod val="20000"/>
              <a:lumOff val="80000"/>
            </a:schemeClr>
          </a:solidFill>
        </p:spPr>
        <p:txBody>
          <a:bodyPr/>
          <a:lstStyle/>
          <a:p>
            <a:r>
              <a:rPr lang="en-US" smtClean="0"/>
              <a:t>Bài tập</a:t>
            </a:r>
            <a:endParaRPr lang="en-US"/>
          </a:p>
        </p:txBody>
      </p:sp>
      <p:sp>
        <p:nvSpPr>
          <p:cNvPr id="3" name="Content Placeholder 2"/>
          <p:cNvSpPr>
            <a:spLocks noGrp="1"/>
          </p:cNvSpPr>
          <p:nvPr>
            <p:ph idx="1"/>
          </p:nvPr>
        </p:nvSpPr>
        <p:spPr/>
        <p:txBody>
          <a:bodyPr>
            <a:normAutofit/>
          </a:bodyPr>
          <a:lstStyle/>
          <a:p>
            <a:pPr marL="514350" indent="-514350">
              <a:buFont typeface="+mj-lt"/>
              <a:buAutoNum type="arabicPeriod" startAt="4"/>
            </a:pPr>
            <a:r>
              <a:rPr lang="en-US" sz="2800" smtClean="0"/>
              <a:t>Vì sao chèn/xóa ở giữa danh sách liên kết (đơn, đôi hoặc vòng tròn) chạy nhanh hơn chèn/xóa ở giữa vector?</a:t>
            </a:r>
          </a:p>
          <a:p>
            <a:pPr marL="514350" indent="-514350">
              <a:spcBef>
                <a:spcPts val="1200"/>
              </a:spcBef>
              <a:buFont typeface="+mj-lt"/>
              <a:buAutoNum type="arabicPeriod" startAt="4"/>
            </a:pPr>
            <a:r>
              <a:rPr lang="en-US" sz="2800" smtClean="0"/>
              <a:t>Nêu một ứng dụng của danh sách liên kết vòng tròn (</a:t>
            </a:r>
            <a:r>
              <a:rPr lang="en-US" sz="2800" i="1" smtClean="0"/>
              <a:t>Gợi ý: chương trình nghe nhạc</a:t>
            </a:r>
            <a:r>
              <a:rPr lang="en-US" sz="2800" smtClean="0"/>
              <a:t>). Phải điều chỉnh ứng dụng đó như thế nào nếu dùng danh sách liên kết đơn thay cho danh sách liên kết vòng tròn?</a:t>
            </a:r>
          </a:p>
        </p:txBody>
      </p:sp>
      <p:sp>
        <p:nvSpPr>
          <p:cNvPr id="4" name="Slide Number Placeholder 3"/>
          <p:cNvSpPr>
            <a:spLocks noGrp="1"/>
          </p:cNvSpPr>
          <p:nvPr>
            <p:ph type="sldNum" sz="quarter" idx="12"/>
          </p:nvPr>
        </p:nvSpPr>
        <p:spPr/>
        <p:txBody>
          <a:bodyPr/>
          <a:lstStyle/>
          <a:p>
            <a:fld id="{E99E512B-1003-47C1-A1C1-7B7D3ED31612}" type="slidenum">
              <a:rPr lang="en-US" smtClean="0"/>
              <a:t>32</a:t>
            </a:fld>
            <a:endParaRPr lang="en-US"/>
          </a:p>
        </p:txBody>
      </p:sp>
    </p:spTree>
    <p:extLst>
      <p:ext uri="{BB962C8B-B14F-4D97-AF65-F5344CB8AC3E}">
        <p14:creationId xmlns:p14="http://schemas.microsoft.com/office/powerpoint/2010/main" val="64847022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7802</TotalTime>
  <Words>2305</Words>
  <Application>Microsoft Office PowerPoint</Application>
  <PresentationFormat>On-screen Show (4:3)</PresentationFormat>
  <Paragraphs>272</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Cambria Math</vt:lpstr>
      <vt:lpstr>Consolas</vt:lpstr>
      <vt:lpstr>Symbol</vt:lpstr>
      <vt:lpstr>Clarity</vt:lpstr>
      <vt:lpstr>Danh sách liên kết (Linked Lists)</vt:lpstr>
      <vt:lpstr>Nội dung</vt:lpstr>
      <vt:lpstr>1. Danh sách liên kết</vt:lpstr>
      <vt:lpstr>Danh sách liên kết</vt:lpstr>
      <vt:lpstr>Các kiểu danh sách liên kết</vt:lpstr>
      <vt:lpstr>2. Danh sách liên kết đơn</vt:lpstr>
      <vt:lpstr>Danh sách liên kết đơn</vt:lpstr>
      <vt:lpstr>Cài đặt danh sách liên kết đơn</vt:lpstr>
      <vt:lpstr>Hàm khởi tạo và hàm hủy</vt:lpstr>
      <vt:lpstr>Các hàm khác</vt:lpstr>
      <vt:lpstr>Chèn vào đầu danh sách</vt:lpstr>
      <vt:lpstr>Chèn vào đầu danh sách (tiếp)</vt:lpstr>
      <vt:lpstr>Xóa phần tử đầu danh sách</vt:lpstr>
      <vt:lpstr>Xóa phần tử đầu danh sách (tiếp)</vt:lpstr>
      <vt:lpstr>Phân tích thời gian chạy</vt:lpstr>
      <vt:lpstr>3. Danh sách liên kết đôi</vt:lpstr>
      <vt:lpstr>Danh sách liên kết đôi</vt:lpstr>
      <vt:lpstr>Cài đặt danh sách liên kết đôi</vt:lpstr>
      <vt:lpstr>Khai báo các hàm/thao tác</vt:lpstr>
      <vt:lpstr>Khai báo các hàm/thao tác (tiếp)</vt:lpstr>
      <vt:lpstr>Chèn vào trước vị trí hiện hành</vt:lpstr>
      <vt:lpstr>Chèn vào trước vị trí hiện hành (tiếp)</vt:lpstr>
      <vt:lpstr>Xóa phần tử ở vị trí hiện hành</vt:lpstr>
      <vt:lpstr>Xóa phần tử ở vị trí hiện hành (tiếp)</vt:lpstr>
      <vt:lpstr>4. Danh sách liên kết vòng tròn</vt:lpstr>
      <vt:lpstr>Danh sách liên kết vòng tròn</vt:lpstr>
      <vt:lpstr>Cài đặt danh sách liên kết vòng tròn</vt:lpstr>
      <vt:lpstr>Khai báo các hàm/thao tác</vt:lpstr>
      <vt:lpstr>Chèn vào sau cursor</vt:lpstr>
      <vt:lpstr>Xóa nút sau cursor</vt:lpstr>
      <vt:lpstr>Bài tập</vt:lpstr>
      <vt:lpstr>Bài tập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Danh sách liên kết (Linked Lists)</dc:title>
  <dc:creator>Nguyen Manh Hien</dc:creator>
  <cp:lastModifiedBy>Hien M. Nguyen</cp:lastModifiedBy>
  <cp:revision>578</cp:revision>
  <cp:lastPrinted>2014-05-05T04:59:16Z</cp:lastPrinted>
  <dcterms:created xsi:type="dcterms:W3CDTF">2013-10-15T13:29:17Z</dcterms:created>
  <dcterms:modified xsi:type="dcterms:W3CDTF">2022-04-22T08:10:32Z</dcterms:modified>
</cp:coreProperties>
</file>